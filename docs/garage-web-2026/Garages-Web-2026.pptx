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commerciale pour propriétaires de garages indépendants. Recherche arrêtée au 24 septembre 2026. Les statistiques canadiennes et américaines sont distinguées; les exemples sont fictifs. Argument commercial, sans promesse de revenus.
Sources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Entreprises du secteur privé dans le champ de l’enquête canadienne. Les microentreprises sont exclues du total 5 employés ou plus. Sans site = complément calculé de 100 % moins proportion avec site; ne signifie pas sans présence en ligne (réseaux, annuaires). Année statistique 2023, publication 2024. Ce ne sont pas des chiffres propres aux garages. Aucune mesure de revenu causal.
Sources : Statistique Canada • tableau 22-10-0120-01 • 2023
https://www150.statcan.gc.ca/t1/tbl1/en/tv.action?pid=2210012001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CIRA : sondage Strategic Counsel, panel en ligne de 2 000 internautes canadiens de 18 ans et plus, mars 2025. Le 64 % concerne une préférence pour les commerces avec site. Le 35 % vise les entreprises ou organisations sans site. Attitudes déclarées, pas un taux de clients perdus; ni étude spécifique aux garages ni preuve de causalité.
Sources : CIRA • Canadian Internet Trends 2025 • n = 2 000
https://www.cira.ca/en/resources/news/state-of-internet/digital-dollars-national-impact-the-rise-of-canadian-e-commerce-patriotism/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de 1 002 adultes américains via SurveyMonkey, publié le 11 février 2026. Question à choix multiples sur actions probables après avis positifs; comportement déclaré, pas une conversion mesurée. Ne pas transposer le pourcentage à tous les Québécois. Le parcours représenté est une illustration.
Sources : BrightLocal • Local Consumer Review Survey 2026 • n = 1 002
https://www.brightlocal.com/research/local-consumer-review-survey/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Publié le 10 septembre 2026. 10 262 propriétaires de véhicules de 4 à 12 ans, sondés mars–juin 2026. Dollars canadiens. Dépense moyenne, pas profit. La baisse de part de visites ne démontre aucun effet de l’absence de site. Le bénéfice proposé du site est une recommandation commerciale.
Sources : J.D. Power • Canada CSI-LT 2026 • n = 10 262
https://www.jdpower.com/business/press-releases/2026-canada-customer-service-index-long-term-csi-lt-study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Scénario illustratif, pas une expérience ni un résultat mesuré. Les deux garages peuvent avoir une fiche Google. Un garage sans site peut aussi recevoir des demandes via d’autres plateformes. Ici, la différence est la clarté et la centralisation sur un site contrôlé par le garage. Formulaire 24/7 ne signifie pas rendez-vous automatiquement confirmé.
Sources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sont les mécanismes proposés, pas des statistiques. Un site doit être rapide, accessible et tenu à jour. Les pages locales doivent apporter de l’information réelle. Aucun classement Google ou placement dans une réponse IA n’est garanti.
Sources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Étude américaine commerciale CDK publiée le 3 novembre 2025. Comparaison par type de prestataire, pas selon présence/absence de site. Ces données ne prouvent ni demande non satisfaite de 16 points ni hausse de revenu. PDF auteur CDK hébergé chez Impel. Méthodologie publique limitée.
Sources : CDK • Service Shopper 5.0 • n = 2 051 • p. 16
https://impel.ai/wp-content/uploads/2025/11/CDK_2025-service-shopper-study.pdf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Recommandation pratique. Une fiche Google et Facebook peuvent générer des clients sans site. Le site ajoute une destination dont le contenu et le domaine sont contrôlés par l’entreprise. Il ne remplace ni un bon accueil téléphonique ni la qualité mécanique.
Sources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MVP suggéré : accueil, services, à propos/preuves, contact/rendez-vous. Ajouter une politique de confidentialité adaptée et limiter les données collectées. Ne pas faire de promesses de certification, de prix ou de disponibilité sans validation du garage. Intégrer un calendrier seulement si les créneaux sont réellement gérés.
Sources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Simulation en CAD, hors taxes, financement, publicité et coût du temps interne. Les 60 $ sont une hypothèse distincte de la dépense moyenne J.D. Power. À 30 $ de contribution il faut 9 visites; à 100 $, 3 visites. Ne compter que visites réellement additionnelles, réalisées et attribuables; déplacement du téléphone vers web n’est pas une vente nouvelle. L’amortissement est un outil de décision et non une récupération immédiate du débours initial.
Sources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est une série de trois objections/réponses (ne pas la présenter en colonnes sans/avec). Si plein toute l’année, le but peut être de mieux orienter et informer les clients plutôt que d’augmenter le volume. Recommander seulement ce qui sert les objectifs du garage.
Sources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Échéancier indicatif à adapter à la disponibilité des contenus et aux intégrations. Comparer les résultats avant/après sur périodes comparables en tenant compte de la saison des pneus et des autres campagnes. Éviter de compter deux fois appel et formulaire d’une même personne.
Sources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Invitation commerciale sans prétendre qu’une prestation gratuite ou un prix a été autorisé. Conclusion orale : en 2026, un site utile soutient une réputation déjà construite à l’atelier et réduit les efforts nécessaires pour contacter le garage.
Sources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URLs :
https://www150.statcan.gc.ca/t1/tbl1/en/tv.action?pid=2210012001
https://www.cira.ca/en/resources/news/state-of-internet/digital-dollars-national-impact-the-rise-of-canadian-e-commerce-patriotism/
https://www.cira.ca/en/resources/news/state-of-internet/new-report-generative-ai-doubles-trust-social-media-plummets/
https://www.jdpower.com/business/press-releases/2026-canada-customer-service-index-long-term-csi-lt-study
Consultées le 24 septembre 2026. Aucune source ne constitue une comparaison causale de revenus entre garages avec et sans site.
Sources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URLs :
https://www.brightlocal.com/research/local-consumer-review-survey/
https://www.cdkglobal.com/insights/cdk-service-shopper-50-study-here
https://impel.ai/wp-content/uploads/2025/11/CDK_2025-service-shopper-study.pdf
Consultées le 24 septembre 2026. Rapports d’entreprises ayant des intérêts commerciaux. Les statistiques d’adoption, attitudes et usages sont de natures différentes et ne doivent pas être fusionnées.
Sources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150.statcan.gc.ca/t1/tbl1/en/tv.action?pid=2210012001"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cira.ca/en/resources/news/state-of-internet/digital-dollars-national-impact-the-rise-of-canadian-e-commerce-patriotis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brightlocal.com/research/local-consumer-review-survey/"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jdpower.com/business/press-releases/2026-canada-customer-service-index-long-term-csi-lt-study"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impel.ai/wp-content/uploads/2025/11/CDK_2025-service-shopper-study.pdf"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www150.statcan.gc.ca/t1/tbl1/en/tv.action?pid=2210012001" TargetMode="External"/><Relationship Id="rId2" Type="http://schemas.openxmlformats.org/officeDocument/2006/relationships/hyperlink" Target="https://www.cira.ca/en/resources/news/state-of-internet/digital-dollars-national-impact-the-rise-of-canadian-e-commerce-patriotism/" TargetMode="External"/><Relationship Id="rId3" Type="http://schemas.openxmlformats.org/officeDocument/2006/relationships/hyperlink" Target="https://www.jdpower.com/business/press-releases/2026-canada-customer-service-index-long-term-csi-lt-study" TargetMode="External"/><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www.brightlocal.com/research/local-consumer-review-survey/" TargetMode="External"/><Relationship Id="rId2" Type="http://schemas.openxmlformats.org/officeDocument/2006/relationships/hyperlink" Target="https://impel.ai/wp-content/uploads/2025/11/CDK_2025-service-shopper-study.pdf" TargetMode="Externa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C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71C20"/>
          </a:solidFill>
          <a:ln w="12700">
            <a:solidFill>
              <a:srgbClr val="171C20"/>
            </a:solidFill>
            <a:prstDash val="solid"/>
          </a:ln>
        </p:spPr>
      </p:sp>
      <p:sp>
        <p:nvSpPr>
          <p:cNvPr id="3" name="Text 1"/>
          <p:cNvSpPr/>
          <p:nvPr/>
        </p:nvSpPr>
        <p:spPr>
          <a:xfrm>
            <a:off x="594360" y="365760"/>
            <a:ext cx="10698480" cy="274320"/>
          </a:xfrm>
          <a:prstGeom prst="rect">
            <a:avLst/>
          </a:prstGeom>
          <a:noFill/>
          <a:ln/>
        </p:spPr>
        <p:txBody>
          <a:bodyPr wrap="square" lIns="0" tIns="0" rIns="0" bIns="0" rtlCol="0" anchor="ctr">
            <a:normAutofit/>
          </a:bodyPr>
          <a:lstStyle/>
          <a:p>
            <a:pPr indent="0" marL="0">
              <a:buNone/>
            </a:pPr>
            <a:r>
              <a:rPr lang="en-US" sz="1100" b="1" dirty="0">
                <a:solidFill>
                  <a:srgbClr val="F56B32"/>
                </a:solidFill>
                <a:latin typeface="Arial" pitchFamily="34" charset="0"/>
                <a:ea typeface="Arial" pitchFamily="34" charset="-122"/>
                <a:cs typeface="Arial" pitchFamily="34" charset="-120"/>
              </a:rPr>
              <a:t>GARAGES AUTOMOBILES • QUÉBEC • 2026</a:t>
            </a:r>
            <a:endParaRPr lang="en-US" sz="1100" dirty="0"/>
          </a:p>
        </p:txBody>
      </p:sp>
      <p:sp>
        <p:nvSpPr>
          <p:cNvPr id="4" name="Text 2"/>
          <p:cNvSpPr/>
          <p:nvPr/>
        </p:nvSpPr>
        <p:spPr>
          <a:xfrm>
            <a:off x="594360" y="896112"/>
            <a:ext cx="7498080" cy="114300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Arial" pitchFamily="34" charset="0"/>
                <a:ea typeface="Arial" pitchFamily="34" charset="-122"/>
                <a:cs typeface="Arial" pitchFamily="34" charset="-120"/>
              </a:rPr>
              <a:t>Votre prochain client</a:t>
            </a:r>
            <a:endParaRPr lang="en-US" sz="3800" dirty="0"/>
          </a:p>
          <a:p>
            <a:pPr indent="0" marL="0">
              <a:buNone/>
            </a:pPr>
            <a:r>
              <a:rPr lang="en-US" sz="3800" b="1" dirty="0">
                <a:solidFill>
                  <a:srgbClr val="FFFFFF"/>
                </a:solidFill>
                <a:latin typeface="Arial" pitchFamily="34" charset="0"/>
                <a:ea typeface="Arial" pitchFamily="34" charset="-122"/>
                <a:cs typeface="Arial" pitchFamily="34" charset="-120"/>
              </a:rPr>
              <a:t>vous cherche déjà.</a:t>
            </a:r>
            <a:endParaRPr lang="en-US" sz="3800" dirty="0"/>
          </a:p>
        </p:txBody>
      </p:sp>
      <p:sp>
        <p:nvSpPr>
          <p:cNvPr id="5" name="Text 3"/>
          <p:cNvSpPr/>
          <p:nvPr/>
        </p:nvSpPr>
        <p:spPr>
          <a:xfrm>
            <a:off x="594360" y="2377440"/>
            <a:ext cx="6400800" cy="3063240"/>
          </a:xfrm>
          <a:prstGeom prst="rect">
            <a:avLst/>
          </a:prstGeom>
          <a:noFill/>
          <a:ln/>
        </p:spPr>
        <p:txBody>
          <a:bodyPr wrap="square" lIns="0" tIns="0" rIns="0" bIns="0" rtlCol="0" anchor="ctr">
            <a:normAutofit/>
          </a:bodyPr>
          <a:lstStyle/>
          <a:p>
            <a:pPr indent="0" marL="0">
              <a:buNone/>
            </a:pPr>
            <a:r>
              <a:rPr lang="en-US" sz="2300" dirty="0">
                <a:solidFill>
                  <a:srgbClr val="E4E9ED"/>
                </a:solidFill>
                <a:latin typeface="Arial" pitchFamily="34" charset="0"/>
                <a:ea typeface="Arial" pitchFamily="34" charset="-122"/>
                <a:cs typeface="Arial" pitchFamily="34" charset="-120"/>
              </a:rPr>
              <a:t>Un site web pour être trouvé, inspirer confiance et transformer l’intérêt en rendez-vous.</a:t>
            </a:r>
            <a:endParaRPr lang="en-US" sz="2300" dirty="0"/>
          </a:p>
          <a:p>
            <a:pPr indent="0" marL="0">
              <a:buNone/>
            </a:pPr>
            <a:endParaRPr lang="en-US" sz="2300" dirty="0"/>
          </a:p>
          <a:p>
            <a:pPr indent="0" marL="0">
              <a:buNone/>
            </a:pPr>
            <a:r>
              <a:rPr lang="en-US" sz="2300" dirty="0">
                <a:solidFill>
                  <a:srgbClr val="E4E9ED"/>
                </a:solidFill>
                <a:latin typeface="Arial" pitchFamily="34" charset="0"/>
                <a:ea typeface="Arial" pitchFamily="34" charset="-122"/>
                <a:cs typeface="Arial" pitchFamily="34" charset="-120"/>
              </a:rPr>
              <a:t>Votre réputation se construit à l’atelier. Votre site la rend visible.</a:t>
            </a:r>
            <a:endParaRPr lang="en-US" sz="2300" dirty="0"/>
          </a:p>
        </p:txBody>
      </p:sp>
      <p:sp>
        <p:nvSpPr>
          <p:cNvPr id="6" name="Shape 4"/>
          <p:cNvSpPr/>
          <p:nvPr/>
        </p:nvSpPr>
        <p:spPr>
          <a:xfrm>
            <a:off x="7635240" y="2788920"/>
            <a:ext cx="3648456" cy="2592324"/>
          </a:xfrm>
          <a:prstGeom prst="roundRect">
            <a:avLst>
              <a:gd name="adj" fmla="val 3527"/>
            </a:avLst>
          </a:prstGeom>
          <a:solidFill>
            <a:srgbClr val="283138"/>
          </a:solidFill>
          <a:ln w="12700">
            <a:solidFill>
              <a:srgbClr val="283138"/>
            </a:solidFill>
            <a:prstDash val="solid"/>
          </a:ln>
        </p:spPr>
      </p:sp>
      <p:sp>
        <p:nvSpPr>
          <p:cNvPr id="7" name="Shape 5"/>
          <p:cNvSpPr/>
          <p:nvPr/>
        </p:nvSpPr>
        <p:spPr>
          <a:xfrm>
            <a:off x="7923276" y="3192170"/>
            <a:ext cx="3072384" cy="1824228"/>
          </a:xfrm>
          <a:prstGeom prst="rect">
            <a:avLst/>
          </a:prstGeom>
          <a:solidFill>
            <a:srgbClr val="48555E"/>
          </a:solidFill>
          <a:ln w="12700">
            <a:solidFill>
              <a:srgbClr val="48555E"/>
            </a:solidFill>
            <a:prstDash val="solid"/>
          </a:ln>
        </p:spPr>
      </p:sp>
      <p:sp>
        <p:nvSpPr>
          <p:cNvPr id="8" name="Shape 6"/>
          <p:cNvSpPr/>
          <p:nvPr/>
        </p:nvSpPr>
        <p:spPr>
          <a:xfrm>
            <a:off x="7923276" y="3220974"/>
            <a:ext cx="3072384" cy="24003"/>
          </a:xfrm>
          <a:prstGeom prst="rect">
            <a:avLst/>
          </a:prstGeom>
          <a:solidFill>
            <a:srgbClr val="68747B"/>
          </a:solidFill>
          <a:ln w="12700">
            <a:solidFill>
              <a:srgbClr val="68747B"/>
            </a:solidFill>
            <a:prstDash val="solid"/>
          </a:ln>
        </p:spPr>
      </p:sp>
      <p:sp>
        <p:nvSpPr>
          <p:cNvPr id="9" name="Shape 7"/>
          <p:cNvSpPr/>
          <p:nvPr/>
        </p:nvSpPr>
        <p:spPr>
          <a:xfrm>
            <a:off x="7923276" y="3499409"/>
            <a:ext cx="3072384" cy="24003"/>
          </a:xfrm>
          <a:prstGeom prst="rect">
            <a:avLst/>
          </a:prstGeom>
          <a:solidFill>
            <a:srgbClr val="68747B"/>
          </a:solidFill>
          <a:ln w="12700">
            <a:solidFill>
              <a:srgbClr val="68747B"/>
            </a:solidFill>
            <a:prstDash val="solid"/>
          </a:ln>
        </p:spPr>
      </p:sp>
      <p:sp>
        <p:nvSpPr>
          <p:cNvPr id="10" name="Shape 8"/>
          <p:cNvSpPr/>
          <p:nvPr/>
        </p:nvSpPr>
        <p:spPr>
          <a:xfrm>
            <a:off x="7923276" y="3777844"/>
            <a:ext cx="3072384" cy="24003"/>
          </a:xfrm>
          <a:prstGeom prst="rect">
            <a:avLst/>
          </a:prstGeom>
          <a:solidFill>
            <a:srgbClr val="68747B"/>
          </a:solidFill>
          <a:ln w="12700">
            <a:solidFill>
              <a:srgbClr val="68747B"/>
            </a:solidFill>
            <a:prstDash val="solid"/>
          </a:ln>
        </p:spPr>
      </p:sp>
      <p:sp>
        <p:nvSpPr>
          <p:cNvPr id="11" name="Shape 9"/>
          <p:cNvSpPr/>
          <p:nvPr/>
        </p:nvSpPr>
        <p:spPr>
          <a:xfrm>
            <a:off x="7923276" y="4056278"/>
            <a:ext cx="3072384" cy="24003"/>
          </a:xfrm>
          <a:prstGeom prst="rect">
            <a:avLst/>
          </a:prstGeom>
          <a:solidFill>
            <a:srgbClr val="68747B"/>
          </a:solidFill>
          <a:ln w="12700">
            <a:solidFill>
              <a:srgbClr val="68747B"/>
            </a:solidFill>
            <a:prstDash val="solid"/>
          </a:ln>
        </p:spPr>
      </p:sp>
      <p:sp>
        <p:nvSpPr>
          <p:cNvPr id="12" name="Shape 10"/>
          <p:cNvSpPr/>
          <p:nvPr/>
        </p:nvSpPr>
        <p:spPr>
          <a:xfrm>
            <a:off x="7923276" y="4334713"/>
            <a:ext cx="3072384" cy="24003"/>
          </a:xfrm>
          <a:prstGeom prst="rect">
            <a:avLst/>
          </a:prstGeom>
          <a:solidFill>
            <a:srgbClr val="68747B"/>
          </a:solidFill>
          <a:ln w="12700">
            <a:solidFill>
              <a:srgbClr val="68747B"/>
            </a:solidFill>
            <a:prstDash val="solid"/>
          </a:ln>
        </p:spPr>
      </p:sp>
      <p:sp>
        <p:nvSpPr>
          <p:cNvPr id="13" name="Shape 11"/>
          <p:cNvSpPr/>
          <p:nvPr/>
        </p:nvSpPr>
        <p:spPr>
          <a:xfrm>
            <a:off x="8259318" y="4209898"/>
            <a:ext cx="2400300" cy="595274"/>
          </a:xfrm>
          <a:prstGeom prst="roundRect">
            <a:avLst>
              <a:gd name="adj" fmla="val 12289"/>
            </a:avLst>
          </a:prstGeom>
          <a:solidFill>
            <a:srgbClr val="F56B32"/>
          </a:solidFill>
          <a:ln w="12700">
            <a:solidFill>
              <a:srgbClr val="F56B32"/>
            </a:solidFill>
            <a:prstDash val="solid"/>
          </a:ln>
        </p:spPr>
      </p:sp>
      <p:sp>
        <p:nvSpPr>
          <p:cNvPr id="14" name="Shape 12"/>
          <p:cNvSpPr/>
          <p:nvPr/>
        </p:nvSpPr>
        <p:spPr>
          <a:xfrm>
            <a:off x="8652967" y="3873856"/>
            <a:ext cx="1584198" cy="499262"/>
          </a:xfrm>
          <a:prstGeom prst="roundRect">
            <a:avLst>
              <a:gd name="adj" fmla="val 14652"/>
            </a:avLst>
          </a:prstGeom>
          <a:solidFill>
            <a:srgbClr val="F56B32"/>
          </a:solidFill>
          <a:ln w="12700">
            <a:solidFill>
              <a:srgbClr val="F56B32"/>
            </a:solidFill>
            <a:prstDash val="solid"/>
          </a:ln>
        </p:spPr>
      </p:sp>
      <p:sp>
        <p:nvSpPr>
          <p:cNvPr id="15" name="Shape 13"/>
          <p:cNvSpPr/>
          <p:nvPr/>
        </p:nvSpPr>
        <p:spPr>
          <a:xfrm>
            <a:off x="8806586" y="3960266"/>
            <a:ext cx="1238555" cy="288036"/>
          </a:xfrm>
          <a:prstGeom prst="rect">
            <a:avLst/>
          </a:prstGeom>
          <a:solidFill>
            <a:srgbClr val="BBCDD6"/>
          </a:solidFill>
          <a:ln w="12700">
            <a:solidFill>
              <a:srgbClr val="BBCDD6"/>
            </a:solidFill>
            <a:prstDash val="solid"/>
          </a:ln>
        </p:spPr>
      </p:sp>
      <p:sp>
        <p:nvSpPr>
          <p:cNvPr id="16" name="Shape 14"/>
          <p:cNvSpPr/>
          <p:nvPr/>
        </p:nvSpPr>
        <p:spPr>
          <a:xfrm>
            <a:off x="8528152" y="4641952"/>
            <a:ext cx="460858" cy="460858"/>
          </a:xfrm>
          <a:prstGeom prst="ellipse">
            <a:avLst/>
          </a:prstGeom>
          <a:solidFill>
            <a:srgbClr val="171C20"/>
          </a:solidFill>
          <a:ln w="12700">
            <a:solidFill>
              <a:srgbClr val="171C20"/>
            </a:solidFill>
            <a:prstDash val="solid"/>
          </a:ln>
        </p:spPr>
      </p:sp>
      <p:sp>
        <p:nvSpPr>
          <p:cNvPr id="17" name="Shape 15"/>
          <p:cNvSpPr/>
          <p:nvPr/>
        </p:nvSpPr>
        <p:spPr>
          <a:xfrm>
            <a:off x="9939528" y="4641952"/>
            <a:ext cx="460858" cy="460858"/>
          </a:xfrm>
          <a:prstGeom prst="ellipse">
            <a:avLst/>
          </a:prstGeom>
          <a:solidFill>
            <a:srgbClr val="171C20"/>
          </a:solidFill>
          <a:ln w="12700">
            <a:solidFill>
              <a:srgbClr val="171C20"/>
            </a:solidFill>
            <a:prstDash val="solid"/>
          </a:ln>
        </p:spPr>
      </p:sp>
      <p:sp>
        <p:nvSpPr>
          <p:cNvPr id="18" name="Shape 16"/>
          <p:cNvSpPr/>
          <p:nvPr/>
        </p:nvSpPr>
        <p:spPr>
          <a:xfrm>
            <a:off x="8662568" y="4776368"/>
            <a:ext cx="192024" cy="192024"/>
          </a:xfrm>
          <a:prstGeom prst="ellipse">
            <a:avLst/>
          </a:prstGeom>
          <a:solidFill>
            <a:srgbClr val="A5B4BD"/>
          </a:solidFill>
          <a:ln w="12700">
            <a:solidFill>
              <a:srgbClr val="A5B4BD"/>
            </a:solidFill>
            <a:prstDash val="solid"/>
          </a:ln>
        </p:spPr>
      </p:sp>
      <p:sp>
        <p:nvSpPr>
          <p:cNvPr id="19" name="Shape 17"/>
          <p:cNvSpPr/>
          <p:nvPr/>
        </p:nvSpPr>
        <p:spPr>
          <a:xfrm>
            <a:off x="10073945" y="4776368"/>
            <a:ext cx="192024" cy="192024"/>
          </a:xfrm>
          <a:prstGeom prst="ellipse">
            <a:avLst/>
          </a:prstGeom>
          <a:solidFill>
            <a:srgbClr val="A5B4BD"/>
          </a:solidFill>
          <a:ln w="12700">
            <a:solidFill>
              <a:srgbClr val="A5B4BD"/>
            </a:solidFill>
            <a:prstDash val="solid"/>
          </a:ln>
        </p:spPr>
      </p:sp>
      <p:sp>
        <p:nvSpPr>
          <p:cNvPr id="20" name="Shape 18"/>
          <p:cNvSpPr/>
          <p:nvPr/>
        </p:nvSpPr>
        <p:spPr>
          <a:xfrm>
            <a:off x="10012680" y="1033272"/>
            <a:ext cx="1143000" cy="1143000"/>
          </a:xfrm>
          <a:prstGeom prst="ellipse">
            <a:avLst/>
          </a:prstGeom>
          <a:solidFill>
            <a:srgbClr val="F56B32"/>
          </a:solidFill>
          <a:ln w="12700">
            <a:solidFill>
              <a:srgbClr val="F56B32"/>
            </a:solidFill>
            <a:prstDash val="solid"/>
          </a:ln>
        </p:spPr>
      </p:sp>
      <p:sp>
        <p:nvSpPr>
          <p:cNvPr id="21" name="Text 19"/>
          <p:cNvSpPr/>
          <p:nvPr/>
        </p:nvSpPr>
        <p:spPr>
          <a:xfrm>
            <a:off x="10085832" y="1426464"/>
            <a:ext cx="1005840" cy="274320"/>
          </a:xfrm>
          <a:prstGeom prst="rect">
            <a:avLst/>
          </a:prstGeom>
          <a:noFill/>
          <a:ln/>
        </p:spPr>
        <p:txBody>
          <a:bodyPr wrap="square" lIns="0" tIns="0" rIns="0" bIns="0" rtlCol="0" anchor="ctr">
            <a:normAutofit/>
          </a:bodyPr>
          <a:lstStyle/>
          <a:p>
            <a:pPr algn="ctr" indent="0" marL="0">
              <a:buNone/>
            </a:pPr>
            <a:r>
              <a:rPr lang="en-US" sz="1800" b="1" dirty="0">
                <a:solidFill>
                  <a:srgbClr val="171C20"/>
                </a:solidFill>
                <a:latin typeface="Arial" pitchFamily="34" charset="0"/>
                <a:ea typeface="Arial" pitchFamily="34" charset="-122"/>
                <a:cs typeface="Arial" pitchFamily="34" charset="-120"/>
              </a:rPr>
              <a:t>2026</a:t>
            </a:r>
            <a:endParaRPr lang="en-US" sz="1800" dirty="0"/>
          </a:p>
        </p:txBody>
      </p:sp>
      <p:sp>
        <p:nvSpPr>
          <p:cNvPr id="22" name="Text 20"/>
          <p:cNvSpPr/>
          <p:nvPr/>
        </p:nvSpPr>
        <p:spPr>
          <a:xfrm>
            <a:off x="594360" y="6519672"/>
            <a:ext cx="7315200" cy="182880"/>
          </a:xfrm>
          <a:prstGeom prst="rect">
            <a:avLst/>
          </a:prstGeom>
          <a:noFill/>
          <a:ln/>
        </p:spPr>
        <p:txBody>
          <a:bodyPr wrap="square" lIns="0" tIns="0" rIns="0" bIns="0" rtlCol="0" anchor="ctr">
            <a:normAutofit/>
          </a:bodyPr>
          <a:lstStyle/>
          <a:p>
            <a:pPr indent="0" marL="0">
              <a:buNone/>
            </a:pPr>
            <a:r>
              <a:rPr lang="en-US" sz="900" dirty="0">
                <a:solidFill>
                  <a:srgbClr val="94A4AE"/>
                </a:solidFill>
                <a:latin typeface="Arial" pitchFamily="34" charset="0"/>
                <a:ea typeface="Arial" pitchFamily="34" charset="-122"/>
                <a:cs typeface="Arial" pitchFamily="34" charset="-120"/>
              </a:rPr>
              <a:t>VISION TECH AI  /  GARAGES</a:t>
            </a:r>
            <a:endParaRPr lang="en-US" sz="900" dirty="0"/>
          </a:p>
        </p:txBody>
      </p:sp>
      <p:sp>
        <p:nvSpPr>
          <p:cNvPr id="23" name="Text 21"/>
          <p:cNvSpPr/>
          <p:nvPr/>
        </p:nvSpPr>
        <p:spPr>
          <a:xfrm>
            <a:off x="10789920" y="6473952"/>
            <a:ext cx="777240" cy="228600"/>
          </a:xfrm>
          <a:prstGeom prst="rect">
            <a:avLst/>
          </a:prstGeom>
          <a:noFill/>
          <a:ln/>
        </p:spPr>
        <p:txBody>
          <a:bodyPr wrap="square" lIns="0" tIns="0" rIns="0" bIns="0" rtlCol="0" anchor="ctr">
            <a:normAutofit/>
          </a:bodyPr>
          <a:lstStyle/>
          <a:p>
            <a:pPr algn="r" indent="0" marL="0">
              <a:buNone/>
            </a:pPr>
            <a:r>
              <a:rPr lang="en-US" sz="1100" dirty="0">
                <a:solidFill>
                  <a:srgbClr val="94A4AE"/>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594360" y="365760"/>
            <a:ext cx="10698480" cy="274320"/>
          </a:xfrm>
          <a:prstGeom prst="rect">
            <a:avLst/>
          </a:prstGeom>
          <a:noFill/>
          <a:ln/>
        </p:spPr>
        <p:txBody>
          <a:bodyPr wrap="square" lIns="0" tIns="0" rIns="0" bIns="0" rtlCol="0" anchor="ctr">
            <a:normAutofit/>
          </a:bodyPr>
          <a:lstStyle/>
          <a:p>
            <a:pPr indent="0" marL="0">
              <a:buNone/>
            </a:pPr>
            <a:r>
              <a:rPr lang="en-US" sz="1100" b="1" dirty="0">
                <a:solidFill>
                  <a:srgbClr val="56616A"/>
                </a:solidFill>
                <a:latin typeface="Arial" pitchFamily="34" charset="0"/>
                <a:ea typeface="Arial" pitchFamily="34" charset="-122"/>
                <a:cs typeface="Arial" pitchFamily="34" charset="-120"/>
              </a:rPr>
              <a:t>LE PORTRAIT CANADIEN • DONNÉES 2023</a:t>
            </a:r>
            <a:endParaRPr lang="en-US" sz="1100" dirty="0"/>
          </a:p>
        </p:txBody>
      </p:sp>
      <p:sp>
        <p:nvSpPr>
          <p:cNvPr id="4" name="Text 2"/>
          <p:cNvSpPr/>
          <p:nvPr/>
        </p:nvSpPr>
        <p:spPr>
          <a:xfrm>
            <a:off x="594360" y="896112"/>
            <a:ext cx="10972800" cy="1143000"/>
          </a:xfrm>
          <a:prstGeom prst="rect">
            <a:avLst/>
          </a:prstGeom>
          <a:noFill/>
          <a:ln/>
        </p:spPr>
        <p:txBody>
          <a:bodyPr wrap="square" lIns="0" tIns="0" rIns="0" bIns="0" rtlCol="0" anchor="ctr">
            <a:normAutofit/>
          </a:bodyPr>
          <a:lstStyle/>
          <a:p>
            <a:pPr indent="0" marL="0">
              <a:buNone/>
            </a:pPr>
            <a:r>
              <a:rPr lang="en-US" sz="3400" b="1" dirty="0">
                <a:solidFill>
                  <a:srgbClr val="171C20"/>
                </a:solidFill>
                <a:latin typeface="Arial" pitchFamily="34" charset="0"/>
                <a:ea typeface="Arial" pitchFamily="34" charset="-122"/>
                <a:cs typeface="Arial" pitchFamily="34" charset="-120"/>
              </a:rPr>
              <a:t>Avec un site… ou sans :</a:t>
            </a:r>
            <a:endParaRPr lang="en-US" sz="3400" dirty="0"/>
          </a:p>
          <a:p>
            <a:pPr indent="0" marL="0">
              <a:buNone/>
            </a:pPr>
            <a:r>
              <a:rPr lang="en-US" sz="3400" b="1" dirty="0">
                <a:solidFill>
                  <a:srgbClr val="171C20"/>
                </a:solidFill>
                <a:latin typeface="Arial" pitchFamily="34" charset="0"/>
                <a:ea typeface="Arial" pitchFamily="34" charset="-122"/>
                <a:cs typeface="Arial" pitchFamily="34" charset="-120"/>
              </a:rPr>
              <a:t>un écart encore bien réel.</a:t>
            </a:r>
            <a:endParaRPr lang="en-US" sz="3400" dirty="0"/>
          </a:p>
        </p:txBody>
      </p:sp>
      <p:sp>
        <p:nvSpPr>
          <p:cNvPr id="5" name="Shape 3"/>
          <p:cNvSpPr/>
          <p:nvPr/>
        </p:nvSpPr>
        <p:spPr>
          <a:xfrm>
            <a:off x="594360" y="2313432"/>
            <a:ext cx="5394960" cy="3502152"/>
          </a:xfrm>
          <a:prstGeom prst="roundRect">
            <a:avLst>
              <a:gd name="adj" fmla="val 2089"/>
            </a:avLst>
          </a:prstGeom>
          <a:solidFill>
            <a:srgbClr val="F0F3F5"/>
          </a:solidFill>
          <a:ln w="12700">
            <a:solidFill>
              <a:srgbClr val="F0F3F5"/>
            </a:solidFill>
            <a:prstDash val="solid"/>
          </a:ln>
        </p:spPr>
      </p:sp>
      <p:sp>
        <p:nvSpPr>
          <p:cNvPr id="6" name="Text 4"/>
          <p:cNvSpPr/>
          <p:nvPr/>
        </p:nvSpPr>
        <p:spPr>
          <a:xfrm>
            <a:off x="850392" y="2587752"/>
            <a:ext cx="4800600" cy="365760"/>
          </a:xfrm>
          <a:prstGeom prst="rect">
            <a:avLst/>
          </a:prstGeom>
          <a:noFill/>
          <a:ln/>
        </p:spPr>
        <p:txBody>
          <a:bodyPr wrap="square" lIns="0" tIns="0" rIns="0" bIns="0" rtlCol="0" anchor="ctr">
            <a:normAutofit/>
          </a:bodyPr>
          <a:lstStyle/>
          <a:p>
            <a:pPr indent="0" marL="0">
              <a:buNone/>
            </a:pPr>
            <a:r>
              <a:rPr lang="en-US" sz="1800" b="1" dirty="0">
                <a:solidFill>
                  <a:srgbClr val="56616A"/>
                </a:solidFill>
                <a:latin typeface="Arial" pitchFamily="34" charset="0"/>
                <a:ea typeface="Arial" pitchFamily="34" charset="-122"/>
                <a:cs typeface="Arial" pitchFamily="34" charset="-120"/>
              </a:rPr>
              <a:t>MICROENTREPRISES</a:t>
            </a:r>
            <a:endParaRPr lang="en-US" sz="1800" dirty="0"/>
          </a:p>
        </p:txBody>
      </p:sp>
      <p:sp>
        <p:nvSpPr>
          <p:cNvPr id="7" name="Text 5"/>
          <p:cNvSpPr/>
          <p:nvPr/>
        </p:nvSpPr>
        <p:spPr>
          <a:xfrm>
            <a:off x="850392" y="3200400"/>
            <a:ext cx="4800600" cy="521208"/>
          </a:xfrm>
          <a:prstGeom prst="rect">
            <a:avLst/>
          </a:prstGeom>
          <a:noFill/>
          <a:ln/>
        </p:spPr>
        <p:txBody>
          <a:bodyPr wrap="square" lIns="0" tIns="0" rIns="0" bIns="0" rtlCol="0" anchor="ctr">
            <a:normAutofit/>
          </a:bodyPr>
          <a:lstStyle/>
          <a:p>
            <a:pPr indent="0" marL="0">
              <a:buNone/>
            </a:pPr>
            <a:r>
              <a:rPr lang="en-US" sz="1700" dirty="0">
                <a:solidFill>
                  <a:srgbClr val="171C20"/>
                </a:solidFill>
                <a:latin typeface="Arial" pitchFamily="34" charset="0"/>
                <a:ea typeface="Arial" pitchFamily="34" charset="-122"/>
                <a:cs typeface="Arial" pitchFamily="34" charset="-120"/>
              </a:rPr>
              <a:t>Microentreprises • 0 à 4 employés</a:t>
            </a:r>
            <a:endParaRPr lang="en-US" sz="1700" dirty="0"/>
          </a:p>
        </p:txBody>
      </p:sp>
      <p:sp>
        <p:nvSpPr>
          <p:cNvPr id="8" name="Text 6"/>
          <p:cNvSpPr/>
          <p:nvPr/>
        </p:nvSpPr>
        <p:spPr>
          <a:xfrm>
            <a:off x="850392" y="3794760"/>
            <a:ext cx="4800600" cy="521208"/>
          </a:xfrm>
          <a:prstGeom prst="rect">
            <a:avLst/>
          </a:prstGeom>
          <a:noFill/>
          <a:ln/>
        </p:spPr>
        <p:txBody>
          <a:bodyPr wrap="square" lIns="0" tIns="0" rIns="0" bIns="0" rtlCol="0" anchor="ctr">
            <a:normAutofit/>
          </a:bodyPr>
          <a:lstStyle/>
          <a:p>
            <a:pPr indent="0" marL="0">
              <a:buNone/>
            </a:pPr>
            <a:r>
              <a:rPr lang="en-US" sz="1700" dirty="0">
                <a:solidFill>
                  <a:srgbClr val="171C20"/>
                </a:solidFill>
                <a:latin typeface="Arial" pitchFamily="34" charset="0"/>
                <a:ea typeface="Arial" pitchFamily="34" charset="-122"/>
                <a:cs typeface="Arial" pitchFamily="34" charset="-120"/>
              </a:rPr>
              <a:t>45,0 % avec un site web</a:t>
            </a:r>
            <a:endParaRPr lang="en-US" sz="1700" dirty="0"/>
          </a:p>
        </p:txBody>
      </p:sp>
      <p:sp>
        <p:nvSpPr>
          <p:cNvPr id="9" name="Text 7"/>
          <p:cNvSpPr/>
          <p:nvPr/>
        </p:nvSpPr>
        <p:spPr>
          <a:xfrm>
            <a:off x="850392" y="4389120"/>
            <a:ext cx="4800600" cy="521208"/>
          </a:xfrm>
          <a:prstGeom prst="rect">
            <a:avLst/>
          </a:prstGeom>
          <a:noFill/>
          <a:ln/>
        </p:spPr>
        <p:txBody>
          <a:bodyPr wrap="square" lIns="0" tIns="0" rIns="0" bIns="0" rtlCol="0" anchor="ctr">
            <a:normAutofit/>
          </a:bodyPr>
          <a:lstStyle/>
          <a:p>
            <a:pPr indent="0" marL="0">
              <a:buNone/>
            </a:pPr>
            <a:r>
              <a:rPr lang="en-US" sz="1700" dirty="0">
                <a:solidFill>
                  <a:srgbClr val="171C20"/>
                </a:solidFill>
                <a:latin typeface="Arial" pitchFamily="34" charset="0"/>
                <a:ea typeface="Arial" pitchFamily="34" charset="-122"/>
                <a:cs typeface="Arial" pitchFamily="34" charset="-120"/>
              </a:rPr>
              <a:t>55,0 % sans site web*</a:t>
            </a:r>
            <a:endParaRPr lang="en-US" sz="1700" dirty="0"/>
          </a:p>
        </p:txBody>
      </p:sp>
      <p:sp>
        <p:nvSpPr>
          <p:cNvPr id="10" name="Shape 8"/>
          <p:cNvSpPr/>
          <p:nvPr/>
        </p:nvSpPr>
        <p:spPr>
          <a:xfrm>
            <a:off x="6217920" y="2313432"/>
            <a:ext cx="5394960" cy="3502152"/>
          </a:xfrm>
          <a:prstGeom prst="roundRect">
            <a:avLst>
              <a:gd name="adj" fmla="val 2089"/>
            </a:avLst>
          </a:prstGeom>
          <a:solidFill>
            <a:srgbClr val="171C20"/>
          </a:solidFill>
          <a:ln w="12700">
            <a:solidFill>
              <a:srgbClr val="171C20"/>
            </a:solidFill>
            <a:prstDash val="solid"/>
          </a:ln>
        </p:spPr>
      </p:sp>
      <p:sp>
        <p:nvSpPr>
          <p:cNvPr id="11" name="Text 9"/>
          <p:cNvSpPr/>
          <p:nvPr/>
        </p:nvSpPr>
        <p:spPr>
          <a:xfrm>
            <a:off x="6473952" y="2587752"/>
            <a:ext cx="4800600" cy="365760"/>
          </a:xfrm>
          <a:prstGeom prst="rect">
            <a:avLst/>
          </a:prstGeom>
          <a:noFill/>
          <a:ln/>
        </p:spPr>
        <p:txBody>
          <a:bodyPr wrap="square" lIns="0" tIns="0" rIns="0" bIns="0" rtlCol="0" anchor="ctr">
            <a:normAutofit/>
          </a:bodyPr>
          <a:lstStyle/>
          <a:p>
            <a:pPr indent="0" marL="0">
              <a:buNone/>
            </a:pPr>
            <a:r>
              <a:rPr lang="en-US" sz="1800" b="1" dirty="0">
                <a:solidFill>
                  <a:srgbClr val="F56B32"/>
                </a:solidFill>
                <a:latin typeface="Arial" pitchFamily="34" charset="0"/>
                <a:ea typeface="Arial" pitchFamily="34" charset="-122"/>
                <a:cs typeface="Arial" pitchFamily="34" charset="-120"/>
              </a:rPr>
              <a:t>5 EMPLOYÉS OU PLUS</a:t>
            </a:r>
            <a:endParaRPr lang="en-US" sz="1800" dirty="0"/>
          </a:p>
        </p:txBody>
      </p:sp>
      <p:sp>
        <p:nvSpPr>
          <p:cNvPr id="12" name="Text 10"/>
          <p:cNvSpPr/>
          <p:nvPr/>
        </p:nvSpPr>
        <p:spPr>
          <a:xfrm>
            <a:off x="6473952" y="3200400"/>
            <a:ext cx="4800600" cy="521208"/>
          </a:xfrm>
          <a:prstGeom prst="rect">
            <a:avLst/>
          </a:prstGeom>
          <a:noFill/>
          <a:ln/>
        </p:spPr>
        <p:txBody>
          <a:bodyPr wrap="square" lIns="0" tIns="0" rIns="0" bIns="0" rtlCol="0" anchor="ctr">
            <a:normAutofit/>
          </a:bodyPr>
          <a:lstStyle/>
          <a:p>
            <a:pPr indent="0" marL="0">
              <a:buNone/>
            </a:pPr>
            <a:r>
              <a:rPr lang="en-US" sz="1700" dirty="0">
                <a:solidFill>
                  <a:srgbClr val="FFFFFF"/>
                </a:solidFill>
                <a:latin typeface="Arial" pitchFamily="34" charset="0"/>
                <a:ea typeface="Arial" pitchFamily="34" charset="-122"/>
                <a:cs typeface="Arial" pitchFamily="34" charset="-120"/>
              </a:rPr>
              <a:t>Entreprises • 5 employés ou plus</a:t>
            </a:r>
            <a:endParaRPr lang="en-US" sz="1700" dirty="0"/>
          </a:p>
        </p:txBody>
      </p:sp>
      <p:sp>
        <p:nvSpPr>
          <p:cNvPr id="13" name="Text 11"/>
          <p:cNvSpPr/>
          <p:nvPr/>
        </p:nvSpPr>
        <p:spPr>
          <a:xfrm>
            <a:off x="6473952" y="3794760"/>
            <a:ext cx="4800600" cy="521208"/>
          </a:xfrm>
          <a:prstGeom prst="rect">
            <a:avLst/>
          </a:prstGeom>
          <a:noFill/>
          <a:ln/>
        </p:spPr>
        <p:txBody>
          <a:bodyPr wrap="square" lIns="0" tIns="0" rIns="0" bIns="0" rtlCol="0" anchor="ctr">
            <a:normAutofit/>
          </a:bodyPr>
          <a:lstStyle/>
          <a:p>
            <a:pPr indent="0" marL="0">
              <a:buNone/>
            </a:pPr>
            <a:r>
              <a:rPr lang="en-US" sz="1700" dirty="0">
                <a:solidFill>
                  <a:srgbClr val="FFFFFF"/>
                </a:solidFill>
                <a:latin typeface="Arial" pitchFamily="34" charset="0"/>
                <a:ea typeface="Arial" pitchFamily="34" charset="-122"/>
                <a:cs typeface="Arial" pitchFamily="34" charset="-120"/>
              </a:rPr>
              <a:t>77,9 % avec un site web</a:t>
            </a:r>
            <a:endParaRPr lang="en-US" sz="1700" dirty="0"/>
          </a:p>
        </p:txBody>
      </p:sp>
      <p:sp>
        <p:nvSpPr>
          <p:cNvPr id="14" name="Text 12"/>
          <p:cNvSpPr/>
          <p:nvPr/>
        </p:nvSpPr>
        <p:spPr>
          <a:xfrm>
            <a:off x="6473952" y="4389120"/>
            <a:ext cx="4800600" cy="521208"/>
          </a:xfrm>
          <a:prstGeom prst="rect">
            <a:avLst/>
          </a:prstGeom>
          <a:noFill/>
          <a:ln/>
        </p:spPr>
        <p:txBody>
          <a:bodyPr wrap="square" lIns="0" tIns="0" rIns="0" bIns="0" rtlCol="0" anchor="ctr">
            <a:normAutofit/>
          </a:bodyPr>
          <a:lstStyle/>
          <a:p>
            <a:pPr indent="0" marL="0">
              <a:buNone/>
            </a:pPr>
            <a:r>
              <a:rPr lang="en-US" sz="1700" dirty="0">
                <a:solidFill>
                  <a:srgbClr val="FFFFFF"/>
                </a:solidFill>
                <a:latin typeface="Arial" pitchFamily="34" charset="0"/>
                <a:ea typeface="Arial" pitchFamily="34" charset="-122"/>
                <a:cs typeface="Arial" pitchFamily="34" charset="-120"/>
              </a:rPr>
              <a:t>22,1 % sans site web*</a:t>
            </a:r>
            <a:endParaRPr lang="en-US" sz="1700" dirty="0"/>
          </a:p>
        </p:txBody>
      </p:sp>
      <p:sp>
        <p:nvSpPr>
          <p:cNvPr id="15" name="Text 13"/>
          <p:cNvSpPr/>
          <p:nvPr/>
        </p:nvSpPr>
        <p:spPr>
          <a:xfrm>
            <a:off x="594360" y="5879592"/>
            <a:ext cx="10972800" cy="201168"/>
          </a:xfrm>
          <a:prstGeom prst="rect">
            <a:avLst/>
          </a:prstGeom>
          <a:noFill/>
          <a:ln/>
        </p:spPr>
        <p:txBody>
          <a:bodyPr wrap="square" lIns="0" tIns="0" rIns="0" bIns="0" rtlCol="0" anchor="ctr">
            <a:normAutofit/>
          </a:bodyPr>
          <a:lstStyle/>
          <a:p>
            <a:pPr indent="0" marL="0">
              <a:buNone/>
            </a:pPr>
            <a:r>
              <a:rPr lang="en-US" sz="1000" dirty="0">
                <a:solidFill>
                  <a:srgbClr val="56616A"/>
                </a:solidFill>
                <a:latin typeface="Arial" pitchFamily="34" charset="0"/>
                <a:ea typeface="Arial" pitchFamily="34" charset="-122"/>
                <a:cs typeface="Arial" pitchFamily="34" charset="-120"/>
              </a:rPr>
              <a:t>* Sans site = 100 % − avec site. Sans site ≠ sans présence en ligne.</a:t>
            </a:r>
            <a:endParaRPr lang="en-US" sz="1000" dirty="0"/>
          </a:p>
        </p:txBody>
      </p:sp>
      <p:sp>
        <p:nvSpPr>
          <p:cNvPr id="16" name="Text 14">
            <a:hlinkClick r:id="rId1" tooltip=""/>
          </p:cNvPr>
          <p:cNvSpPr/>
          <p:nvPr/>
        </p:nvSpPr>
        <p:spPr>
          <a:xfrm>
            <a:off x="594360" y="6153912"/>
            <a:ext cx="10515600" cy="320040"/>
          </a:xfrm>
          <a:prstGeom prst="rect">
            <a:avLst/>
          </a:prstGeom>
          <a:noFill/>
          <a:ln/>
        </p:spPr>
        <p:txBody>
          <a:bodyPr wrap="square" lIns="0" tIns="0" rIns="0" bIns="0" rtlCol="0" anchor="ctr">
            <a:normAutofit/>
          </a:bodyPr>
          <a:lstStyle/>
          <a:p>
            <a:pPr indent="0" marL="0">
              <a:buNone/>
            </a:pPr>
            <a:r>
              <a:rPr lang="en-US" sz="900" u="sng" dirty="0">
                <a:solidFill>
                  <a:srgbClr val="56616A"/>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Statistique Canada • tableau 22-10-0120-01 • 2023</a:t>
            </a:r>
            <a:endParaRPr lang="en-US" sz="900" dirty="0"/>
          </a:p>
        </p:txBody>
      </p:sp>
      <p:sp>
        <p:nvSpPr>
          <p:cNvPr id="17" name="Text 15"/>
          <p:cNvSpPr/>
          <p:nvPr/>
        </p:nvSpPr>
        <p:spPr>
          <a:xfrm>
            <a:off x="594360" y="6519672"/>
            <a:ext cx="7315200" cy="182880"/>
          </a:xfrm>
          <a:prstGeom prst="rect">
            <a:avLst/>
          </a:prstGeom>
          <a:noFill/>
          <a:ln/>
        </p:spPr>
        <p:txBody>
          <a:bodyPr wrap="square" lIns="0" tIns="0" rIns="0" bIns="0" rtlCol="0" anchor="ctr">
            <a:normAutofit/>
          </a:bodyPr>
          <a:lstStyle/>
          <a:p>
            <a:pPr indent="0" marL="0">
              <a:buNone/>
            </a:pPr>
            <a:r>
              <a:rPr lang="en-US" sz="900" dirty="0">
                <a:solidFill>
                  <a:srgbClr val="56616A"/>
                </a:solidFill>
                <a:latin typeface="Arial" pitchFamily="34" charset="0"/>
                <a:ea typeface="Arial" pitchFamily="34" charset="-122"/>
                <a:cs typeface="Arial" pitchFamily="34" charset="-120"/>
              </a:rPr>
              <a:t>VISION TECH AI  /  GARAGES</a:t>
            </a:r>
            <a:endParaRPr lang="en-US" sz="900" dirty="0"/>
          </a:p>
        </p:txBody>
      </p:sp>
      <p:sp>
        <p:nvSpPr>
          <p:cNvPr id="18" name="Text 16"/>
          <p:cNvSpPr/>
          <p:nvPr/>
        </p:nvSpPr>
        <p:spPr>
          <a:xfrm>
            <a:off x="10789920" y="6473952"/>
            <a:ext cx="777240" cy="228600"/>
          </a:xfrm>
          <a:prstGeom prst="rect">
            <a:avLst/>
          </a:prstGeom>
          <a:noFill/>
          <a:ln/>
        </p:spPr>
        <p:txBody>
          <a:bodyPr wrap="square" lIns="0" tIns="0" rIns="0" bIns="0" rtlCol="0" anchor="ctr">
            <a:normAutofit/>
          </a:bodyPr>
          <a:lstStyle/>
          <a:p>
            <a:pPr algn="r" indent="0" marL="0">
              <a:buNone/>
            </a:pPr>
            <a:r>
              <a:rPr lang="en-US" sz="1100" dirty="0">
                <a:solidFill>
                  <a:srgbClr val="56616A"/>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594360" y="365760"/>
            <a:ext cx="10698480" cy="274320"/>
          </a:xfrm>
          <a:prstGeom prst="rect">
            <a:avLst/>
          </a:prstGeom>
          <a:noFill/>
          <a:ln/>
        </p:spPr>
        <p:txBody>
          <a:bodyPr wrap="square" lIns="0" tIns="0" rIns="0" bIns="0" rtlCol="0" anchor="ctr">
            <a:normAutofit/>
          </a:bodyPr>
          <a:lstStyle/>
          <a:p>
            <a:pPr indent="0" marL="0">
              <a:buNone/>
            </a:pPr>
            <a:r>
              <a:rPr lang="en-US" sz="1100" b="1" dirty="0">
                <a:solidFill>
                  <a:srgbClr val="56616A"/>
                </a:solidFill>
                <a:latin typeface="Arial" pitchFamily="34" charset="0"/>
                <a:ea typeface="Arial" pitchFamily="34" charset="-122"/>
                <a:cs typeface="Arial" pitchFamily="34" charset="-120"/>
              </a:rPr>
              <a:t>LA CONFIANCE • CANADA, 2025</a:t>
            </a:r>
            <a:endParaRPr lang="en-US" sz="1100" dirty="0"/>
          </a:p>
        </p:txBody>
      </p:sp>
      <p:sp>
        <p:nvSpPr>
          <p:cNvPr id="4" name="Text 2"/>
          <p:cNvSpPr/>
          <p:nvPr/>
        </p:nvSpPr>
        <p:spPr>
          <a:xfrm>
            <a:off x="594360" y="896112"/>
            <a:ext cx="10972800" cy="1143000"/>
          </a:xfrm>
          <a:prstGeom prst="rect">
            <a:avLst/>
          </a:prstGeom>
          <a:noFill/>
          <a:ln/>
        </p:spPr>
        <p:txBody>
          <a:bodyPr wrap="square" lIns="0" tIns="0" rIns="0" bIns="0" rtlCol="0" anchor="ctr">
            <a:normAutofit/>
          </a:bodyPr>
          <a:lstStyle/>
          <a:p>
            <a:pPr indent="0" marL="0">
              <a:buNone/>
            </a:pPr>
            <a:r>
              <a:rPr lang="en-US" sz="3400" b="1" dirty="0">
                <a:solidFill>
                  <a:srgbClr val="171C20"/>
                </a:solidFill>
                <a:latin typeface="Arial" pitchFamily="34" charset="0"/>
                <a:ea typeface="Arial" pitchFamily="34" charset="-122"/>
                <a:cs typeface="Arial" pitchFamily="34" charset="-120"/>
              </a:rPr>
              <a:t>Le site influence déjà</a:t>
            </a:r>
            <a:endParaRPr lang="en-US" sz="3400" dirty="0"/>
          </a:p>
          <a:p>
            <a:pPr indent="0" marL="0">
              <a:buNone/>
            </a:pPr>
            <a:r>
              <a:rPr lang="en-US" sz="3400" b="1" dirty="0">
                <a:solidFill>
                  <a:srgbClr val="171C20"/>
                </a:solidFill>
                <a:latin typeface="Arial" pitchFamily="34" charset="0"/>
                <a:ea typeface="Arial" pitchFamily="34" charset="-122"/>
                <a:cs typeface="Arial" pitchFamily="34" charset="-120"/>
              </a:rPr>
              <a:t>la préférence du client.</a:t>
            </a:r>
            <a:endParaRPr lang="en-US" sz="3400" dirty="0"/>
          </a:p>
        </p:txBody>
      </p:sp>
      <p:sp>
        <p:nvSpPr>
          <p:cNvPr id="5" name="Shape 3"/>
          <p:cNvSpPr/>
          <p:nvPr/>
        </p:nvSpPr>
        <p:spPr>
          <a:xfrm>
            <a:off x="594360" y="2377440"/>
            <a:ext cx="4069080" cy="3200400"/>
          </a:xfrm>
          <a:prstGeom prst="roundRect">
            <a:avLst>
              <a:gd name="adj" fmla="val 2857"/>
            </a:avLst>
          </a:prstGeom>
          <a:solidFill>
            <a:srgbClr val="171C20"/>
          </a:solidFill>
          <a:ln w="12700">
            <a:solidFill>
              <a:srgbClr val="171C20"/>
            </a:solidFill>
            <a:prstDash val="solid"/>
          </a:ln>
        </p:spPr>
      </p:sp>
      <p:sp>
        <p:nvSpPr>
          <p:cNvPr id="6" name="Text 4"/>
          <p:cNvSpPr/>
          <p:nvPr/>
        </p:nvSpPr>
        <p:spPr>
          <a:xfrm>
            <a:off x="868680" y="2880360"/>
            <a:ext cx="3520440" cy="1371600"/>
          </a:xfrm>
          <a:prstGeom prst="rect">
            <a:avLst/>
          </a:prstGeom>
          <a:noFill/>
          <a:ln/>
        </p:spPr>
        <p:txBody>
          <a:bodyPr wrap="square" lIns="0" tIns="0" rIns="0" bIns="0" rtlCol="0" anchor="ctr">
            <a:normAutofit/>
          </a:bodyPr>
          <a:lstStyle/>
          <a:p>
            <a:pPr indent="0" marL="0">
              <a:buNone/>
            </a:pPr>
            <a:r>
              <a:rPr lang="en-US" sz="6400" b="1" dirty="0">
                <a:solidFill>
                  <a:srgbClr val="F56B32"/>
                </a:solidFill>
                <a:latin typeface="Arial" pitchFamily="34" charset="0"/>
                <a:ea typeface="Arial" pitchFamily="34" charset="-122"/>
                <a:cs typeface="Arial" pitchFamily="34" charset="-120"/>
              </a:rPr>
              <a:t>64 %</a:t>
            </a:r>
            <a:endParaRPr lang="en-US" sz="6400" dirty="0"/>
          </a:p>
        </p:txBody>
      </p:sp>
      <p:sp>
        <p:nvSpPr>
          <p:cNvPr id="7" name="Text 5"/>
          <p:cNvSpPr/>
          <p:nvPr/>
        </p:nvSpPr>
        <p:spPr>
          <a:xfrm>
            <a:off x="5120640" y="2450592"/>
            <a:ext cx="6309360" cy="1005840"/>
          </a:xfrm>
          <a:prstGeom prst="rect">
            <a:avLst/>
          </a:prstGeom>
          <a:noFill/>
          <a:ln/>
        </p:spPr>
        <p:txBody>
          <a:bodyPr wrap="square" lIns="0" tIns="0" rIns="0" bIns="0" rtlCol="0" anchor="ctr">
            <a:normAutofit/>
          </a:bodyPr>
          <a:lstStyle/>
          <a:p>
            <a:pPr indent="0" marL="0">
              <a:buNone/>
            </a:pPr>
            <a:r>
              <a:rPr lang="en-US" sz="2400" b="1" dirty="0">
                <a:solidFill>
                  <a:srgbClr val="171C20"/>
                </a:solidFill>
                <a:latin typeface="Arial" pitchFamily="34" charset="0"/>
                <a:ea typeface="Arial" pitchFamily="34" charset="-122"/>
                <a:cs typeface="Arial" pitchFamily="34" charset="-120"/>
              </a:rPr>
              <a:t>préfèrent magasiner auprès d’un commerce qui possède un site web.</a:t>
            </a:r>
            <a:endParaRPr lang="en-US" sz="2400" dirty="0"/>
          </a:p>
        </p:txBody>
      </p:sp>
      <p:sp>
        <p:nvSpPr>
          <p:cNvPr id="8" name="Text 6"/>
          <p:cNvSpPr/>
          <p:nvPr/>
        </p:nvSpPr>
        <p:spPr>
          <a:xfrm>
            <a:off x="5120640" y="3675888"/>
            <a:ext cx="6217920" cy="1874520"/>
          </a:xfrm>
          <a:prstGeom prst="rect">
            <a:avLst/>
          </a:prstGeom>
          <a:noFill/>
          <a:ln/>
        </p:spPr>
        <p:txBody>
          <a:bodyPr wrap="square" lIns="0" tIns="0" rIns="0" bIns="0" rtlCol="0" anchor="ctr">
            <a:normAutofit/>
          </a:bodyPr>
          <a:lstStyle/>
          <a:p>
            <a:pPr indent="0" marL="0">
              <a:buNone/>
            </a:pPr>
            <a:r>
              <a:rPr lang="en-US" sz="1900" dirty="0">
                <a:solidFill>
                  <a:srgbClr val="56616A"/>
                </a:solidFill>
                <a:latin typeface="Arial" pitchFamily="34" charset="0"/>
                <a:ea typeface="Arial" pitchFamily="34" charset="-122"/>
                <a:cs typeface="Arial" pitchFamily="34" charset="-120"/>
              </a:rPr>
              <a:t>35 % disent ne pas faire confiance aux entreprises ou organisations sans site.</a:t>
            </a:r>
            <a:endParaRPr lang="en-US" sz="1900" dirty="0"/>
          </a:p>
          <a:p>
            <a:pPr indent="0" marL="0">
              <a:buNone/>
            </a:pPr>
            <a:endParaRPr lang="en-US" sz="1900" dirty="0"/>
          </a:p>
          <a:p>
            <a:pPr indent="0" marL="0">
              <a:buNone/>
            </a:pPr>
            <a:r>
              <a:rPr lang="en-US" sz="1900" dirty="0">
                <a:solidFill>
                  <a:srgbClr val="56616A"/>
                </a:solidFill>
                <a:latin typeface="Arial" pitchFamily="34" charset="0"/>
                <a:ea typeface="Arial" pitchFamily="34" charset="-122"/>
                <a:cs typeface="Arial" pitchFamily="34" charset="-120"/>
              </a:rPr>
              <a:t>Pour votre garage : rendre l’équipe, les services et les coordonnées faciles à vérifier.</a:t>
            </a:r>
            <a:endParaRPr lang="en-US" sz="1900" dirty="0"/>
          </a:p>
        </p:txBody>
      </p:sp>
      <p:sp>
        <p:nvSpPr>
          <p:cNvPr id="9" name="Text 7">
            <a:hlinkClick r:id="rId1" tooltip=""/>
          </p:cNvPr>
          <p:cNvSpPr/>
          <p:nvPr/>
        </p:nvSpPr>
        <p:spPr>
          <a:xfrm>
            <a:off x="594360" y="6153912"/>
            <a:ext cx="10515600" cy="320040"/>
          </a:xfrm>
          <a:prstGeom prst="rect">
            <a:avLst/>
          </a:prstGeom>
          <a:noFill/>
          <a:ln/>
        </p:spPr>
        <p:txBody>
          <a:bodyPr wrap="square" lIns="0" tIns="0" rIns="0" bIns="0" rtlCol="0" anchor="ctr">
            <a:normAutofit/>
          </a:bodyPr>
          <a:lstStyle/>
          <a:p>
            <a:pPr indent="0" marL="0">
              <a:buNone/>
            </a:pPr>
            <a:r>
              <a:rPr lang="en-US" sz="900" u="sng" dirty="0">
                <a:solidFill>
                  <a:srgbClr val="56616A"/>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CIRA • Canadian Internet Trends 2025 • n = 2 000</a:t>
            </a:r>
            <a:endParaRPr lang="en-US" sz="900" dirty="0"/>
          </a:p>
        </p:txBody>
      </p:sp>
      <p:sp>
        <p:nvSpPr>
          <p:cNvPr id="10" name="Text 8"/>
          <p:cNvSpPr/>
          <p:nvPr/>
        </p:nvSpPr>
        <p:spPr>
          <a:xfrm>
            <a:off x="594360" y="6519672"/>
            <a:ext cx="7315200" cy="182880"/>
          </a:xfrm>
          <a:prstGeom prst="rect">
            <a:avLst/>
          </a:prstGeom>
          <a:noFill/>
          <a:ln/>
        </p:spPr>
        <p:txBody>
          <a:bodyPr wrap="square" lIns="0" tIns="0" rIns="0" bIns="0" rtlCol="0" anchor="ctr">
            <a:normAutofit/>
          </a:bodyPr>
          <a:lstStyle/>
          <a:p>
            <a:pPr indent="0" marL="0">
              <a:buNone/>
            </a:pPr>
            <a:r>
              <a:rPr lang="en-US" sz="900" dirty="0">
                <a:solidFill>
                  <a:srgbClr val="56616A"/>
                </a:solidFill>
                <a:latin typeface="Arial" pitchFamily="34" charset="0"/>
                <a:ea typeface="Arial" pitchFamily="34" charset="-122"/>
                <a:cs typeface="Arial" pitchFamily="34" charset="-120"/>
              </a:rPr>
              <a:t>VISION TECH AI  /  GARAGES</a:t>
            </a:r>
            <a:endParaRPr lang="en-US" sz="900" dirty="0"/>
          </a:p>
        </p:txBody>
      </p:sp>
      <p:sp>
        <p:nvSpPr>
          <p:cNvPr id="11" name="Text 9"/>
          <p:cNvSpPr/>
          <p:nvPr/>
        </p:nvSpPr>
        <p:spPr>
          <a:xfrm>
            <a:off x="10789920" y="6473952"/>
            <a:ext cx="777240" cy="228600"/>
          </a:xfrm>
          <a:prstGeom prst="rect">
            <a:avLst/>
          </a:prstGeom>
          <a:noFill/>
          <a:ln/>
        </p:spPr>
        <p:txBody>
          <a:bodyPr wrap="square" lIns="0" tIns="0" rIns="0" bIns="0" rtlCol="0" anchor="ctr">
            <a:normAutofit/>
          </a:bodyPr>
          <a:lstStyle/>
          <a:p>
            <a:pPr algn="r" indent="0" marL="0">
              <a:buNone/>
            </a:pPr>
            <a:r>
              <a:rPr lang="en-US" sz="1100" dirty="0">
                <a:solidFill>
                  <a:srgbClr val="56616A"/>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594360" y="365760"/>
            <a:ext cx="10698480" cy="274320"/>
          </a:xfrm>
          <a:prstGeom prst="rect">
            <a:avLst/>
          </a:prstGeom>
          <a:noFill/>
          <a:ln/>
        </p:spPr>
        <p:txBody>
          <a:bodyPr wrap="square" lIns="0" tIns="0" rIns="0" bIns="0" rtlCol="0" anchor="ctr">
            <a:normAutofit/>
          </a:bodyPr>
          <a:lstStyle/>
          <a:p>
            <a:pPr indent="0" marL="0">
              <a:buNone/>
            </a:pPr>
            <a:r>
              <a:rPr lang="en-US" sz="1100" b="1" dirty="0">
                <a:solidFill>
                  <a:srgbClr val="56616A"/>
                </a:solidFill>
                <a:latin typeface="Arial" pitchFamily="34" charset="0"/>
                <a:ea typeface="Arial" pitchFamily="34" charset="-122"/>
                <a:cs typeface="Arial" pitchFamily="34" charset="-120"/>
              </a:rPr>
              <a:t>LE PARCOURS CLIENT • ÉTATS-UNIS, 2026</a:t>
            </a:r>
            <a:endParaRPr lang="en-US" sz="1100" dirty="0"/>
          </a:p>
        </p:txBody>
      </p:sp>
      <p:sp>
        <p:nvSpPr>
          <p:cNvPr id="4" name="Text 2"/>
          <p:cNvSpPr/>
          <p:nvPr/>
        </p:nvSpPr>
        <p:spPr>
          <a:xfrm>
            <a:off x="594360" y="896112"/>
            <a:ext cx="10972800" cy="1143000"/>
          </a:xfrm>
          <a:prstGeom prst="rect">
            <a:avLst/>
          </a:prstGeom>
          <a:noFill/>
          <a:ln/>
        </p:spPr>
        <p:txBody>
          <a:bodyPr wrap="square" lIns="0" tIns="0" rIns="0" bIns="0" rtlCol="0" anchor="ctr">
            <a:normAutofit/>
          </a:bodyPr>
          <a:lstStyle/>
          <a:p>
            <a:pPr indent="0" marL="0">
              <a:buNone/>
            </a:pPr>
            <a:r>
              <a:rPr lang="en-US" sz="3400" b="1" dirty="0">
                <a:solidFill>
                  <a:srgbClr val="171C20"/>
                </a:solidFill>
                <a:latin typeface="Arial" pitchFamily="34" charset="0"/>
                <a:ea typeface="Arial" pitchFamily="34" charset="-122"/>
                <a:cs typeface="Arial" pitchFamily="34" charset="-120"/>
              </a:rPr>
              <a:t>Les bons avis mènent</a:t>
            </a:r>
            <a:endParaRPr lang="en-US" sz="3400" dirty="0"/>
          </a:p>
          <a:p>
            <a:pPr indent="0" marL="0">
              <a:buNone/>
            </a:pPr>
            <a:r>
              <a:rPr lang="en-US" sz="3400" b="1" dirty="0">
                <a:solidFill>
                  <a:srgbClr val="171C20"/>
                </a:solidFill>
                <a:latin typeface="Arial" pitchFamily="34" charset="0"/>
                <a:ea typeface="Arial" pitchFamily="34" charset="-122"/>
                <a:cs typeface="Arial" pitchFamily="34" charset="-120"/>
              </a:rPr>
              <a:t>souvent au site.</a:t>
            </a:r>
            <a:endParaRPr lang="en-US" sz="3400" dirty="0"/>
          </a:p>
        </p:txBody>
      </p:sp>
      <p:sp>
        <p:nvSpPr>
          <p:cNvPr id="5" name="Shape 3"/>
          <p:cNvSpPr/>
          <p:nvPr/>
        </p:nvSpPr>
        <p:spPr>
          <a:xfrm>
            <a:off x="594360" y="2377440"/>
            <a:ext cx="4069080" cy="3200400"/>
          </a:xfrm>
          <a:prstGeom prst="roundRect">
            <a:avLst>
              <a:gd name="adj" fmla="val 2857"/>
            </a:avLst>
          </a:prstGeom>
          <a:solidFill>
            <a:srgbClr val="171C20"/>
          </a:solidFill>
          <a:ln w="12700">
            <a:solidFill>
              <a:srgbClr val="171C20"/>
            </a:solidFill>
            <a:prstDash val="solid"/>
          </a:ln>
        </p:spPr>
      </p:sp>
      <p:sp>
        <p:nvSpPr>
          <p:cNvPr id="6" name="Text 4"/>
          <p:cNvSpPr/>
          <p:nvPr/>
        </p:nvSpPr>
        <p:spPr>
          <a:xfrm>
            <a:off x="868680" y="2880360"/>
            <a:ext cx="3520440" cy="1371600"/>
          </a:xfrm>
          <a:prstGeom prst="rect">
            <a:avLst/>
          </a:prstGeom>
          <a:noFill/>
          <a:ln/>
        </p:spPr>
        <p:txBody>
          <a:bodyPr wrap="square" lIns="0" tIns="0" rIns="0" bIns="0" rtlCol="0" anchor="ctr">
            <a:normAutofit/>
          </a:bodyPr>
          <a:lstStyle/>
          <a:p>
            <a:pPr indent="0" marL="0">
              <a:buNone/>
            </a:pPr>
            <a:r>
              <a:rPr lang="en-US" sz="6400" b="1" dirty="0">
                <a:solidFill>
                  <a:srgbClr val="F56B32"/>
                </a:solidFill>
                <a:latin typeface="Arial" pitchFamily="34" charset="0"/>
                <a:ea typeface="Arial" pitchFamily="34" charset="-122"/>
                <a:cs typeface="Arial" pitchFamily="34" charset="-120"/>
              </a:rPr>
              <a:t>54 %</a:t>
            </a:r>
            <a:endParaRPr lang="en-US" sz="6400" dirty="0"/>
          </a:p>
        </p:txBody>
      </p:sp>
      <p:sp>
        <p:nvSpPr>
          <p:cNvPr id="7" name="Text 5"/>
          <p:cNvSpPr/>
          <p:nvPr/>
        </p:nvSpPr>
        <p:spPr>
          <a:xfrm>
            <a:off x="5120640" y="2450592"/>
            <a:ext cx="6309360" cy="1005840"/>
          </a:xfrm>
          <a:prstGeom prst="rect">
            <a:avLst/>
          </a:prstGeom>
          <a:noFill/>
          <a:ln/>
        </p:spPr>
        <p:txBody>
          <a:bodyPr wrap="square" lIns="0" tIns="0" rIns="0" bIns="0" rtlCol="0" anchor="ctr">
            <a:normAutofit/>
          </a:bodyPr>
          <a:lstStyle/>
          <a:p>
            <a:pPr indent="0" marL="0">
              <a:buNone/>
            </a:pPr>
            <a:r>
              <a:rPr lang="en-US" sz="2400" b="1" dirty="0">
                <a:solidFill>
                  <a:srgbClr val="171C20"/>
                </a:solidFill>
                <a:latin typeface="Arial" pitchFamily="34" charset="0"/>
                <a:ea typeface="Arial" pitchFamily="34" charset="-122"/>
                <a:cs typeface="Arial" pitchFamily="34" charset="-120"/>
              </a:rPr>
              <a:t>déclarent être susceptibles de consulter le site après avoir lu des avis positifs.</a:t>
            </a:r>
            <a:endParaRPr lang="en-US" sz="2400" dirty="0"/>
          </a:p>
        </p:txBody>
      </p:sp>
      <p:sp>
        <p:nvSpPr>
          <p:cNvPr id="8" name="Text 6"/>
          <p:cNvSpPr/>
          <p:nvPr/>
        </p:nvSpPr>
        <p:spPr>
          <a:xfrm>
            <a:off x="5120640" y="3675888"/>
            <a:ext cx="6217920" cy="1874520"/>
          </a:xfrm>
          <a:prstGeom prst="rect">
            <a:avLst/>
          </a:prstGeom>
          <a:noFill/>
          <a:ln/>
        </p:spPr>
        <p:txBody>
          <a:bodyPr wrap="square" lIns="0" tIns="0" rIns="0" bIns="0" rtlCol="0" anchor="ctr">
            <a:normAutofit/>
          </a:bodyPr>
          <a:lstStyle/>
          <a:p>
            <a:pPr indent="0" marL="0">
              <a:buNone/>
            </a:pPr>
            <a:r>
              <a:rPr lang="en-US" sz="1900" dirty="0">
                <a:solidFill>
                  <a:srgbClr val="56616A"/>
                </a:solidFill>
                <a:latin typeface="Arial" pitchFamily="34" charset="0"/>
                <a:ea typeface="Arial" pitchFamily="34" charset="-122"/>
                <a:cs typeface="Arial" pitchFamily="34" charset="-120"/>
              </a:rPr>
              <a:t>Avis → site → services et preuves → demande de rendez-vous.</a:t>
            </a:r>
            <a:endParaRPr lang="en-US" sz="1900" dirty="0"/>
          </a:p>
          <a:p>
            <a:pPr indent="0" marL="0">
              <a:buNone/>
            </a:pPr>
            <a:endParaRPr lang="en-US" sz="1900" dirty="0"/>
          </a:p>
          <a:p>
            <a:pPr indent="0" marL="0">
              <a:buNone/>
            </a:pPr>
            <a:r>
              <a:rPr lang="en-US" sz="1900" dirty="0">
                <a:solidFill>
                  <a:srgbClr val="56616A"/>
                </a:solidFill>
                <a:latin typeface="Arial" pitchFamily="34" charset="0"/>
                <a:ea typeface="Arial" pitchFamily="34" charset="-122"/>
                <a:cs typeface="Arial" pitchFamily="34" charset="-120"/>
              </a:rPr>
              <a:t>Votre site donne une suite concrète à votre réputation.</a:t>
            </a:r>
            <a:endParaRPr lang="en-US" sz="1900" dirty="0"/>
          </a:p>
        </p:txBody>
      </p:sp>
      <p:sp>
        <p:nvSpPr>
          <p:cNvPr id="9" name="Text 7">
            <a:hlinkClick r:id="rId1" tooltip=""/>
          </p:cNvPr>
          <p:cNvSpPr/>
          <p:nvPr/>
        </p:nvSpPr>
        <p:spPr>
          <a:xfrm>
            <a:off x="594360" y="6153912"/>
            <a:ext cx="10515600" cy="320040"/>
          </a:xfrm>
          <a:prstGeom prst="rect">
            <a:avLst/>
          </a:prstGeom>
          <a:noFill/>
          <a:ln/>
        </p:spPr>
        <p:txBody>
          <a:bodyPr wrap="square" lIns="0" tIns="0" rIns="0" bIns="0" rtlCol="0" anchor="ctr">
            <a:normAutofit/>
          </a:bodyPr>
          <a:lstStyle/>
          <a:p>
            <a:pPr indent="0" marL="0">
              <a:buNone/>
            </a:pPr>
            <a:r>
              <a:rPr lang="en-US" sz="900" u="sng" dirty="0">
                <a:solidFill>
                  <a:srgbClr val="56616A"/>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BrightLocal • Local Consumer Review Survey 2026 • n = 1 002</a:t>
            </a:r>
            <a:endParaRPr lang="en-US" sz="900" dirty="0"/>
          </a:p>
        </p:txBody>
      </p:sp>
      <p:sp>
        <p:nvSpPr>
          <p:cNvPr id="10" name="Text 8"/>
          <p:cNvSpPr/>
          <p:nvPr/>
        </p:nvSpPr>
        <p:spPr>
          <a:xfrm>
            <a:off x="594360" y="6519672"/>
            <a:ext cx="7315200" cy="182880"/>
          </a:xfrm>
          <a:prstGeom prst="rect">
            <a:avLst/>
          </a:prstGeom>
          <a:noFill/>
          <a:ln/>
        </p:spPr>
        <p:txBody>
          <a:bodyPr wrap="square" lIns="0" tIns="0" rIns="0" bIns="0" rtlCol="0" anchor="ctr">
            <a:normAutofit/>
          </a:bodyPr>
          <a:lstStyle/>
          <a:p>
            <a:pPr indent="0" marL="0">
              <a:buNone/>
            </a:pPr>
            <a:r>
              <a:rPr lang="en-US" sz="900" dirty="0">
                <a:solidFill>
                  <a:srgbClr val="56616A"/>
                </a:solidFill>
                <a:latin typeface="Arial" pitchFamily="34" charset="0"/>
                <a:ea typeface="Arial" pitchFamily="34" charset="-122"/>
                <a:cs typeface="Arial" pitchFamily="34" charset="-120"/>
              </a:rPr>
              <a:t>VISION TECH AI  /  GARAGES</a:t>
            </a:r>
            <a:endParaRPr lang="en-US" sz="900" dirty="0"/>
          </a:p>
        </p:txBody>
      </p:sp>
      <p:sp>
        <p:nvSpPr>
          <p:cNvPr id="11" name="Text 9"/>
          <p:cNvSpPr/>
          <p:nvPr/>
        </p:nvSpPr>
        <p:spPr>
          <a:xfrm>
            <a:off x="10789920" y="6473952"/>
            <a:ext cx="777240" cy="228600"/>
          </a:xfrm>
          <a:prstGeom prst="rect">
            <a:avLst/>
          </a:prstGeom>
          <a:noFill/>
          <a:ln/>
        </p:spPr>
        <p:txBody>
          <a:bodyPr wrap="square" lIns="0" tIns="0" rIns="0" bIns="0" rtlCol="0" anchor="ctr">
            <a:normAutofit/>
          </a:bodyPr>
          <a:lstStyle/>
          <a:p>
            <a:pPr algn="r" indent="0" marL="0">
              <a:buNone/>
            </a:pPr>
            <a:r>
              <a:rPr lang="en-US" sz="1100" dirty="0">
                <a:solidFill>
                  <a:srgbClr val="56616A"/>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594360" y="365760"/>
            <a:ext cx="10698480" cy="274320"/>
          </a:xfrm>
          <a:prstGeom prst="rect">
            <a:avLst/>
          </a:prstGeom>
          <a:noFill/>
          <a:ln/>
        </p:spPr>
        <p:txBody>
          <a:bodyPr wrap="square" lIns="0" tIns="0" rIns="0" bIns="0" rtlCol="0" anchor="ctr">
            <a:normAutofit/>
          </a:bodyPr>
          <a:lstStyle/>
          <a:p>
            <a:pPr indent="0" marL="0">
              <a:buNone/>
            </a:pPr>
            <a:r>
              <a:rPr lang="en-US" sz="1100" b="1" dirty="0">
                <a:solidFill>
                  <a:srgbClr val="56616A"/>
                </a:solidFill>
                <a:latin typeface="Arial" pitchFamily="34" charset="0"/>
                <a:ea typeface="Arial" pitchFamily="34" charset="-122"/>
                <a:cs typeface="Arial" pitchFamily="34" charset="-120"/>
              </a:rPr>
              <a:t>LE MARCHÉ AUTOMOBILE • CANADA, 2026</a:t>
            </a:r>
            <a:endParaRPr lang="en-US" sz="1100" dirty="0"/>
          </a:p>
        </p:txBody>
      </p:sp>
      <p:sp>
        <p:nvSpPr>
          <p:cNvPr id="4" name="Text 2"/>
          <p:cNvSpPr/>
          <p:nvPr/>
        </p:nvSpPr>
        <p:spPr>
          <a:xfrm>
            <a:off x="594360" y="896112"/>
            <a:ext cx="10972800" cy="1143000"/>
          </a:xfrm>
          <a:prstGeom prst="rect">
            <a:avLst/>
          </a:prstGeom>
          <a:noFill/>
          <a:ln/>
        </p:spPr>
        <p:txBody>
          <a:bodyPr wrap="square" lIns="0" tIns="0" rIns="0" bIns="0" rtlCol="0" anchor="ctr">
            <a:normAutofit/>
          </a:bodyPr>
          <a:lstStyle/>
          <a:p>
            <a:pPr indent="0" marL="0">
              <a:buNone/>
            </a:pPr>
            <a:r>
              <a:rPr lang="en-US" sz="3400" b="1" dirty="0">
                <a:solidFill>
                  <a:srgbClr val="171C20"/>
                </a:solidFill>
                <a:latin typeface="Arial" pitchFamily="34" charset="0"/>
                <a:ea typeface="Arial" pitchFamily="34" charset="-122"/>
                <a:cs typeface="Arial" pitchFamily="34" charset="-120"/>
              </a:rPr>
              <a:t>Chaque visite mérite</a:t>
            </a:r>
            <a:endParaRPr lang="en-US" sz="3400" dirty="0"/>
          </a:p>
          <a:p>
            <a:pPr indent="0" marL="0">
              <a:buNone/>
            </a:pPr>
            <a:r>
              <a:rPr lang="en-US" sz="3400" b="1" dirty="0">
                <a:solidFill>
                  <a:srgbClr val="171C20"/>
                </a:solidFill>
                <a:latin typeface="Arial" pitchFamily="34" charset="0"/>
                <a:ea typeface="Arial" pitchFamily="34" charset="-122"/>
                <a:cs typeface="Arial" pitchFamily="34" charset="-120"/>
              </a:rPr>
              <a:t>d’être gagnée.</a:t>
            </a:r>
            <a:endParaRPr lang="en-US" sz="3400" dirty="0"/>
          </a:p>
        </p:txBody>
      </p:sp>
      <p:sp>
        <p:nvSpPr>
          <p:cNvPr id="5" name="Shape 3"/>
          <p:cNvSpPr/>
          <p:nvPr/>
        </p:nvSpPr>
        <p:spPr>
          <a:xfrm>
            <a:off x="594360" y="2377440"/>
            <a:ext cx="4069080" cy="3200400"/>
          </a:xfrm>
          <a:prstGeom prst="roundRect">
            <a:avLst>
              <a:gd name="adj" fmla="val 2857"/>
            </a:avLst>
          </a:prstGeom>
          <a:solidFill>
            <a:srgbClr val="171C20"/>
          </a:solidFill>
          <a:ln w="12700">
            <a:solidFill>
              <a:srgbClr val="171C20"/>
            </a:solidFill>
            <a:prstDash val="solid"/>
          </a:ln>
        </p:spPr>
      </p:sp>
      <p:sp>
        <p:nvSpPr>
          <p:cNvPr id="6" name="Text 4"/>
          <p:cNvSpPr/>
          <p:nvPr/>
        </p:nvSpPr>
        <p:spPr>
          <a:xfrm>
            <a:off x="868680" y="2880360"/>
            <a:ext cx="3520440" cy="1371600"/>
          </a:xfrm>
          <a:prstGeom prst="rect">
            <a:avLst/>
          </a:prstGeom>
          <a:noFill/>
          <a:ln/>
        </p:spPr>
        <p:txBody>
          <a:bodyPr wrap="square" lIns="0" tIns="0" rIns="0" bIns="0" rtlCol="0" anchor="ctr">
            <a:normAutofit/>
          </a:bodyPr>
          <a:lstStyle/>
          <a:p>
            <a:pPr indent="0" marL="0">
              <a:buNone/>
            </a:pPr>
            <a:r>
              <a:rPr lang="en-US" sz="6400" b="1" dirty="0">
                <a:solidFill>
                  <a:srgbClr val="F56B32"/>
                </a:solidFill>
                <a:latin typeface="Arial" pitchFamily="34" charset="0"/>
                <a:ea typeface="Arial" pitchFamily="34" charset="-122"/>
                <a:cs typeface="Arial" pitchFamily="34" charset="-120"/>
              </a:rPr>
              <a:t>363 $</a:t>
            </a:r>
            <a:endParaRPr lang="en-US" sz="6400" dirty="0"/>
          </a:p>
        </p:txBody>
      </p:sp>
      <p:sp>
        <p:nvSpPr>
          <p:cNvPr id="7" name="Text 5"/>
          <p:cNvSpPr/>
          <p:nvPr/>
        </p:nvSpPr>
        <p:spPr>
          <a:xfrm>
            <a:off x="5120640" y="2450592"/>
            <a:ext cx="6309360" cy="1005840"/>
          </a:xfrm>
          <a:prstGeom prst="rect">
            <a:avLst/>
          </a:prstGeom>
          <a:noFill/>
          <a:ln/>
        </p:spPr>
        <p:txBody>
          <a:bodyPr wrap="square" lIns="0" tIns="0" rIns="0" bIns="0" rtlCol="0" anchor="ctr">
            <a:normAutofit/>
          </a:bodyPr>
          <a:lstStyle/>
          <a:p>
            <a:pPr indent="0" marL="0">
              <a:buNone/>
            </a:pPr>
            <a:r>
              <a:rPr lang="en-US" sz="2400" b="1" dirty="0">
                <a:solidFill>
                  <a:srgbClr val="171C20"/>
                </a:solidFill>
                <a:latin typeface="Arial" pitchFamily="34" charset="0"/>
                <a:ea typeface="Arial" pitchFamily="34" charset="-122"/>
                <a:cs typeface="Arial" pitchFamily="34" charset="-120"/>
              </a:rPr>
              <a:t>de dépense moyenne par visite dans un garage indépendant.</a:t>
            </a:r>
            <a:endParaRPr lang="en-US" sz="2400" dirty="0"/>
          </a:p>
        </p:txBody>
      </p:sp>
      <p:sp>
        <p:nvSpPr>
          <p:cNvPr id="8" name="Text 6"/>
          <p:cNvSpPr/>
          <p:nvPr/>
        </p:nvSpPr>
        <p:spPr>
          <a:xfrm>
            <a:off x="5120640" y="3675888"/>
            <a:ext cx="6217920" cy="1874520"/>
          </a:xfrm>
          <a:prstGeom prst="rect">
            <a:avLst/>
          </a:prstGeom>
          <a:noFill/>
          <a:ln/>
        </p:spPr>
        <p:txBody>
          <a:bodyPr wrap="square" lIns="0" tIns="0" rIns="0" bIns="0" rtlCol="0" anchor="ctr">
            <a:normAutofit/>
          </a:bodyPr>
          <a:lstStyle/>
          <a:p>
            <a:pPr indent="0" marL="0">
              <a:buNone/>
            </a:pPr>
            <a:r>
              <a:rPr lang="en-US" sz="1900" dirty="0">
                <a:solidFill>
                  <a:srgbClr val="56616A"/>
                </a:solidFill>
                <a:latin typeface="Arial" pitchFamily="34" charset="0"/>
                <a:ea typeface="Arial" pitchFamily="34" charset="-122"/>
                <a:cs typeface="Arial" pitchFamily="34" charset="-120"/>
              </a:rPr>
              <a:t>La part des visites chez les indépendants passe de 26 % en 2025 à 23 % en 2026.</a:t>
            </a:r>
            <a:endParaRPr lang="en-US" sz="1900" dirty="0"/>
          </a:p>
          <a:p>
            <a:pPr indent="0" marL="0">
              <a:buNone/>
            </a:pPr>
            <a:endParaRPr lang="en-US" sz="1900" dirty="0"/>
          </a:p>
          <a:p>
            <a:pPr indent="0" marL="0">
              <a:buNone/>
            </a:pPr>
            <a:r>
              <a:rPr lang="en-US" sz="1900" dirty="0">
                <a:solidFill>
                  <a:srgbClr val="56616A"/>
                </a:solidFill>
                <a:latin typeface="Arial" pitchFamily="34" charset="0"/>
                <a:ea typeface="Arial" pitchFamily="34" charset="-122"/>
                <a:cs typeface="Arial" pitchFamily="34" charset="-120"/>
              </a:rPr>
              <a:t>Un site aide à expliquer pourquoi choisir votre atelier.</a:t>
            </a:r>
            <a:endParaRPr lang="en-US" sz="1900" dirty="0"/>
          </a:p>
        </p:txBody>
      </p:sp>
      <p:sp>
        <p:nvSpPr>
          <p:cNvPr id="9" name="Text 7">
            <a:hlinkClick r:id="rId1" tooltip=""/>
          </p:cNvPr>
          <p:cNvSpPr/>
          <p:nvPr/>
        </p:nvSpPr>
        <p:spPr>
          <a:xfrm>
            <a:off x="594360" y="6153912"/>
            <a:ext cx="10515600" cy="320040"/>
          </a:xfrm>
          <a:prstGeom prst="rect">
            <a:avLst/>
          </a:prstGeom>
          <a:noFill/>
          <a:ln/>
        </p:spPr>
        <p:txBody>
          <a:bodyPr wrap="square" lIns="0" tIns="0" rIns="0" bIns="0" rtlCol="0" anchor="ctr">
            <a:normAutofit/>
          </a:bodyPr>
          <a:lstStyle/>
          <a:p>
            <a:pPr indent="0" marL="0">
              <a:buNone/>
            </a:pPr>
            <a:r>
              <a:rPr lang="en-US" sz="900" u="sng" dirty="0">
                <a:solidFill>
                  <a:srgbClr val="56616A"/>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J.D. Power • Canada CSI-LT 2026 • n = 10 262</a:t>
            </a:r>
            <a:endParaRPr lang="en-US" sz="900" dirty="0"/>
          </a:p>
        </p:txBody>
      </p:sp>
      <p:sp>
        <p:nvSpPr>
          <p:cNvPr id="10" name="Text 8"/>
          <p:cNvSpPr/>
          <p:nvPr/>
        </p:nvSpPr>
        <p:spPr>
          <a:xfrm>
            <a:off x="594360" y="6519672"/>
            <a:ext cx="7315200" cy="182880"/>
          </a:xfrm>
          <a:prstGeom prst="rect">
            <a:avLst/>
          </a:prstGeom>
          <a:noFill/>
          <a:ln/>
        </p:spPr>
        <p:txBody>
          <a:bodyPr wrap="square" lIns="0" tIns="0" rIns="0" bIns="0" rtlCol="0" anchor="ctr">
            <a:normAutofit/>
          </a:bodyPr>
          <a:lstStyle/>
          <a:p>
            <a:pPr indent="0" marL="0">
              <a:buNone/>
            </a:pPr>
            <a:r>
              <a:rPr lang="en-US" sz="900" dirty="0">
                <a:solidFill>
                  <a:srgbClr val="56616A"/>
                </a:solidFill>
                <a:latin typeface="Arial" pitchFamily="34" charset="0"/>
                <a:ea typeface="Arial" pitchFamily="34" charset="-122"/>
                <a:cs typeface="Arial" pitchFamily="34" charset="-120"/>
              </a:rPr>
              <a:t>VISION TECH AI  /  GARAGES</a:t>
            </a:r>
            <a:endParaRPr lang="en-US" sz="900" dirty="0"/>
          </a:p>
        </p:txBody>
      </p:sp>
      <p:sp>
        <p:nvSpPr>
          <p:cNvPr id="11" name="Text 9"/>
          <p:cNvSpPr/>
          <p:nvPr/>
        </p:nvSpPr>
        <p:spPr>
          <a:xfrm>
            <a:off x="10789920" y="6473952"/>
            <a:ext cx="777240" cy="228600"/>
          </a:xfrm>
          <a:prstGeom prst="rect">
            <a:avLst/>
          </a:prstGeom>
          <a:noFill/>
          <a:ln/>
        </p:spPr>
        <p:txBody>
          <a:bodyPr wrap="square" lIns="0" tIns="0" rIns="0" bIns="0" rtlCol="0" anchor="ctr">
            <a:normAutofit/>
          </a:bodyPr>
          <a:lstStyle/>
          <a:p>
            <a:pPr algn="r" indent="0" marL="0">
              <a:buNone/>
            </a:pPr>
            <a:r>
              <a:rPr lang="en-US" sz="1100" dirty="0">
                <a:solidFill>
                  <a:srgbClr val="56616A"/>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594360" y="365760"/>
            <a:ext cx="10698480" cy="274320"/>
          </a:xfrm>
          <a:prstGeom prst="rect">
            <a:avLst/>
          </a:prstGeom>
          <a:noFill/>
          <a:ln/>
        </p:spPr>
        <p:txBody>
          <a:bodyPr wrap="square" lIns="0" tIns="0" rIns="0" bIns="0" rtlCol="0" anchor="ctr">
            <a:normAutofit/>
          </a:bodyPr>
          <a:lstStyle/>
          <a:p>
            <a:pPr indent="0" marL="0">
              <a:buNone/>
            </a:pPr>
            <a:r>
              <a:rPr lang="en-US" sz="1100" b="1" dirty="0">
                <a:solidFill>
                  <a:srgbClr val="56616A"/>
                </a:solidFill>
                <a:latin typeface="Arial" pitchFamily="34" charset="0"/>
                <a:ea typeface="Arial" pitchFamily="34" charset="-122"/>
                <a:cs typeface="Arial" pitchFamily="34" charset="-120"/>
              </a:rPr>
              <a:t>MISE EN SITUATION • DEUX GARAGES FICTIFS</a:t>
            </a:r>
            <a:endParaRPr lang="en-US" sz="1100" dirty="0"/>
          </a:p>
        </p:txBody>
      </p:sp>
      <p:sp>
        <p:nvSpPr>
          <p:cNvPr id="4" name="Text 2"/>
          <p:cNvSpPr/>
          <p:nvPr/>
        </p:nvSpPr>
        <p:spPr>
          <a:xfrm>
            <a:off x="594360" y="896112"/>
            <a:ext cx="10972800" cy="1143000"/>
          </a:xfrm>
          <a:prstGeom prst="rect">
            <a:avLst/>
          </a:prstGeom>
          <a:noFill/>
          <a:ln/>
        </p:spPr>
        <p:txBody>
          <a:bodyPr wrap="square" lIns="0" tIns="0" rIns="0" bIns="0" rtlCol="0" anchor="ctr">
            <a:normAutofit/>
          </a:bodyPr>
          <a:lstStyle/>
          <a:p>
            <a:pPr indent="0" marL="0">
              <a:buNone/>
            </a:pPr>
            <a:r>
              <a:rPr lang="en-US" sz="3400" b="1" dirty="0">
                <a:solidFill>
                  <a:srgbClr val="171C20"/>
                </a:solidFill>
                <a:latin typeface="Arial" pitchFamily="34" charset="0"/>
                <a:ea typeface="Arial" pitchFamily="34" charset="-122"/>
                <a:cs typeface="Arial" pitchFamily="34" charset="-120"/>
              </a:rPr>
              <a:t>Mardi, 20 h 40.</a:t>
            </a:r>
            <a:endParaRPr lang="en-US" sz="3400" dirty="0"/>
          </a:p>
          <a:p>
            <a:pPr indent="0" marL="0">
              <a:buNone/>
            </a:pPr>
            <a:r>
              <a:rPr lang="en-US" sz="3400" b="1" dirty="0">
                <a:solidFill>
                  <a:srgbClr val="171C20"/>
                </a:solidFill>
                <a:latin typeface="Arial" pitchFamily="34" charset="0"/>
                <a:ea typeface="Arial" pitchFamily="34" charset="-122"/>
                <a:cs typeface="Arial" pitchFamily="34" charset="-120"/>
              </a:rPr>
              <a:t>Un client cherche un garage.</a:t>
            </a:r>
            <a:endParaRPr lang="en-US" sz="3400" dirty="0"/>
          </a:p>
        </p:txBody>
      </p:sp>
      <p:sp>
        <p:nvSpPr>
          <p:cNvPr id="5" name="Shape 3"/>
          <p:cNvSpPr/>
          <p:nvPr/>
        </p:nvSpPr>
        <p:spPr>
          <a:xfrm>
            <a:off x="594360" y="2313432"/>
            <a:ext cx="5394960" cy="3502152"/>
          </a:xfrm>
          <a:prstGeom prst="roundRect">
            <a:avLst>
              <a:gd name="adj" fmla="val 2089"/>
            </a:avLst>
          </a:prstGeom>
          <a:solidFill>
            <a:srgbClr val="F0F3F5"/>
          </a:solidFill>
          <a:ln w="12700">
            <a:solidFill>
              <a:srgbClr val="F0F3F5"/>
            </a:solidFill>
            <a:prstDash val="solid"/>
          </a:ln>
        </p:spPr>
      </p:sp>
      <p:sp>
        <p:nvSpPr>
          <p:cNvPr id="6" name="Text 4"/>
          <p:cNvSpPr/>
          <p:nvPr/>
        </p:nvSpPr>
        <p:spPr>
          <a:xfrm>
            <a:off x="850392" y="2587752"/>
            <a:ext cx="4800600" cy="365760"/>
          </a:xfrm>
          <a:prstGeom prst="rect">
            <a:avLst/>
          </a:prstGeom>
          <a:noFill/>
          <a:ln/>
        </p:spPr>
        <p:txBody>
          <a:bodyPr wrap="square" lIns="0" tIns="0" rIns="0" bIns="0" rtlCol="0" anchor="ctr">
            <a:normAutofit/>
          </a:bodyPr>
          <a:lstStyle/>
          <a:p>
            <a:pPr indent="0" marL="0">
              <a:buNone/>
            </a:pPr>
            <a:r>
              <a:rPr lang="en-US" sz="1800" b="1" dirty="0">
                <a:solidFill>
                  <a:srgbClr val="56616A"/>
                </a:solidFill>
                <a:latin typeface="Arial" pitchFamily="34" charset="0"/>
                <a:ea typeface="Arial" pitchFamily="34" charset="-122"/>
                <a:cs typeface="Arial" pitchFamily="34" charset="-120"/>
              </a:rPr>
              <a:t>SANS SITE</a:t>
            </a:r>
            <a:endParaRPr lang="en-US" sz="1800" dirty="0"/>
          </a:p>
        </p:txBody>
      </p:sp>
      <p:sp>
        <p:nvSpPr>
          <p:cNvPr id="7" name="Text 5"/>
          <p:cNvSpPr/>
          <p:nvPr/>
        </p:nvSpPr>
        <p:spPr>
          <a:xfrm>
            <a:off x="850392" y="3200400"/>
            <a:ext cx="4800600" cy="521208"/>
          </a:xfrm>
          <a:prstGeom prst="rect">
            <a:avLst/>
          </a:prstGeom>
          <a:noFill/>
          <a:ln/>
        </p:spPr>
        <p:txBody>
          <a:bodyPr wrap="square" lIns="0" tIns="0" rIns="0" bIns="0" rtlCol="0" anchor="ctr">
            <a:normAutofit/>
          </a:bodyPr>
          <a:lstStyle/>
          <a:p>
            <a:pPr indent="0" marL="0">
              <a:buNone/>
            </a:pPr>
            <a:r>
              <a:rPr lang="en-US" sz="1700" dirty="0">
                <a:solidFill>
                  <a:srgbClr val="171C20"/>
                </a:solidFill>
                <a:latin typeface="Arial" pitchFamily="34" charset="0"/>
                <a:ea typeface="Arial" pitchFamily="34" charset="-122"/>
                <a:cs typeface="Arial" pitchFamily="34" charset="-120"/>
              </a:rPr>
              <a:t>Sans site propre</a:t>
            </a:r>
            <a:endParaRPr lang="en-US" sz="1700" dirty="0"/>
          </a:p>
        </p:txBody>
      </p:sp>
      <p:sp>
        <p:nvSpPr>
          <p:cNvPr id="8" name="Text 6"/>
          <p:cNvSpPr/>
          <p:nvPr/>
        </p:nvSpPr>
        <p:spPr>
          <a:xfrm>
            <a:off x="850392" y="3794760"/>
            <a:ext cx="4800600" cy="521208"/>
          </a:xfrm>
          <a:prstGeom prst="rect">
            <a:avLst/>
          </a:prstGeom>
          <a:noFill/>
          <a:ln/>
        </p:spPr>
        <p:txBody>
          <a:bodyPr wrap="square" lIns="0" tIns="0" rIns="0" bIns="0" rtlCol="0" anchor="ctr">
            <a:normAutofit/>
          </a:bodyPr>
          <a:lstStyle/>
          <a:p>
            <a:pPr indent="0" marL="0">
              <a:buNone/>
            </a:pPr>
            <a:r>
              <a:rPr lang="en-US" sz="1700" dirty="0">
                <a:solidFill>
                  <a:srgbClr val="171C20"/>
                </a:solidFill>
                <a:latin typeface="Arial" pitchFamily="34" charset="0"/>
                <a:ea typeface="Arial" pitchFamily="34" charset="-122"/>
                <a:cs typeface="Arial" pitchFamily="34" charset="-120"/>
              </a:rPr>
              <a:t>Il trouve une fiche, mais peu de détails sur ses besoins.</a:t>
            </a:r>
            <a:endParaRPr lang="en-US" sz="1700" dirty="0"/>
          </a:p>
        </p:txBody>
      </p:sp>
      <p:sp>
        <p:nvSpPr>
          <p:cNvPr id="9" name="Text 7"/>
          <p:cNvSpPr/>
          <p:nvPr/>
        </p:nvSpPr>
        <p:spPr>
          <a:xfrm>
            <a:off x="850392" y="4389120"/>
            <a:ext cx="4800600" cy="521208"/>
          </a:xfrm>
          <a:prstGeom prst="rect">
            <a:avLst/>
          </a:prstGeom>
          <a:noFill/>
          <a:ln/>
        </p:spPr>
        <p:txBody>
          <a:bodyPr wrap="square" lIns="0" tIns="0" rIns="0" bIns="0" rtlCol="0" anchor="ctr">
            <a:normAutofit/>
          </a:bodyPr>
          <a:lstStyle/>
          <a:p>
            <a:pPr indent="0" marL="0">
              <a:buNone/>
            </a:pPr>
            <a:r>
              <a:rPr lang="en-US" sz="1700" dirty="0">
                <a:solidFill>
                  <a:srgbClr val="171C20"/>
                </a:solidFill>
                <a:latin typeface="Arial" pitchFamily="34" charset="0"/>
                <a:ea typeface="Arial" pitchFamily="34" charset="-122"/>
                <a:cs typeface="Arial" pitchFamily="34" charset="-120"/>
              </a:rPr>
              <a:t>Il doit attendre l’ouverture pour poser ses questions.</a:t>
            </a:r>
            <a:endParaRPr lang="en-US" sz="1700" dirty="0"/>
          </a:p>
        </p:txBody>
      </p:sp>
      <p:sp>
        <p:nvSpPr>
          <p:cNvPr id="10" name="Shape 8"/>
          <p:cNvSpPr/>
          <p:nvPr/>
        </p:nvSpPr>
        <p:spPr>
          <a:xfrm>
            <a:off x="6217920" y="2313432"/>
            <a:ext cx="5394960" cy="3502152"/>
          </a:xfrm>
          <a:prstGeom prst="roundRect">
            <a:avLst>
              <a:gd name="adj" fmla="val 2089"/>
            </a:avLst>
          </a:prstGeom>
          <a:solidFill>
            <a:srgbClr val="171C20"/>
          </a:solidFill>
          <a:ln w="12700">
            <a:solidFill>
              <a:srgbClr val="171C20"/>
            </a:solidFill>
            <a:prstDash val="solid"/>
          </a:ln>
        </p:spPr>
      </p:sp>
      <p:sp>
        <p:nvSpPr>
          <p:cNvPr id="11" name="Text 9"/>
          <p:cNvSpPr/>
          <p:nvPr/>
        </p:nvSpPr>
        <p:spPr>
          <a:xfrm>
            <a:off x="6473952" y="2587752"/>
            <a:ext cx="4800600" cy="365760"/>
          </a:xfrm>
          <a:prstGeom prst="rect">
            <a:avLst/>
          </a:prstGeom>
          <a:noFill/>
          <a:ln/>
        </p:spPr>
        <p:txBody>
          <a:bodyPr wrap="square" lIns="0" tIns="0" rIns="0" bIns="0" rtlCol="0" anchor="ctr">
            <a:normAutofit/>
          </a:bodyPr>
          <a:lstStyle/>
          <a:p>
            <a:pPr indent="0" marL="0">
              <a:buNone/>
            </a:pPr>
            <a:r>
              <a:rPr lang="en-US" sz="1800" b="1" dirty="0">
                <a:solidFill>
                  <a:srgbClr val="F56B32"/>
                </a:solidFill>
                <a:latin typeface="Arial" pitchFamily="34" charset="0"/>
                <a:ea typeface="Arial" pitchFamily="34" charset="-122"/>
                <a:cs typeface="Arial" pitchFamily="34" charset="-120"/>
              </a:rPr>
              <a:t>AVEC UN SITE</a:t>
            </a:r>
            <a:endParaRPr lang="en-US" sz="1800" dirty="0"/>
          </a:p>
        </p:txBody>
      </p:sp>
      <p:sp>
        <p:nvSpPr>
          <p:cNvPr id="12" name="Text 10"/>
          <p:cNvSpPr/>
          <p:nvPr/>
        </p:nvSpPr>
        <p:spPr>
          <a:xfrm>
            <a:off x="6473952" y="3200400"/>
            <a:ext cx="4800600" cy="521208"/>
          </a:xfrm>
          <a:prstGeom prst="rect">
            <a:avLst/>
          </a:prstGeom>
          <a:noFill/>
          <a:ln/>
        </p:spPr>
        <p:txBody>
          <a:bodyPr wrap="square" lIns="0" tIns="0" rIns="0" bIns="0" rtlCol="0" anchor="ctr">
            <a:normAutofit/>
          </a:bodyPr>
          <a:lstStyle/>
          <a:p>
            <a:pPr indent="0" marL="0">
              <a:buNone/>
            </a:pPr>
            <a:r>
              <a:rPr lang="en-US" sz="1700" dirty="0">
                <a:solidFill>
                  <a:srgbClr val="FFFFFF"/>
                </a:solidFill>
                <a:latin typeface="Arial" pitchFamily="34" charset="0"/>
                <a:ea typeface="Arial" pitchFamily="34" charset="-122"/>
                <a:cs typeface="Arial" pitchFamily="34" charset="-120"/>
              </a:rPr>
              <a:t>Avec un site utile</a:t>
            </a:r>
            <a:endParaRPr lang="en-US" sz="1700" dirty="0"/>
          </a:p>
        </p:txBody>
      </p:sp>
      <p:sp>
        <p:nvSpPr>
          <p:cNvPr id="13" name="Text 11"/>
          <p:cNvSpPr/>
          <p:nvPr/>
        </p:nvSpPr>
        <p:spPr>
          <a:xfrm>
            <a:off x="6473952" y="3794760"/>
            <a:ext cx="4800600" cy="521208"/>
          </a:xfrm>
          <a:prstGeom prst="rect">
            <a:avLst/>
          </a:prstGeom>
          <a:noFill/>
          <a:ln/>
        </p:spPr>
        <p:txBody>
          <a:bodyPr wrap="square" lIns="0" tIns="0" rIns="0" bIns="0" rtlCol="0" anchor="ctr">
            <a:normAutofit/>
          </a:bodyPr>
          <a:lstStyle/>
          <a:p>
            <a:pPr indent="0" marL="0">
              <a:buNone/>
            </a:pPr>
            <a:r>
              <a:rPr lang="en-US" sz="1700" dirty="0">
                <a:solidFill>
                  <a:srgbClr val="FFFFFF"/>
                </a:solidFill>
                <a:latin typeface="Arial" pitchFamily="34" charset="0"/>
                <a:ea typeface="Arial" pitchFamily="34" charset="-122"/>
                <a:cs typeface="Arial" pitchFamily="34" charset="-120"/>
              </a:rPr>
              <a:t>Il vérifie les services, l’équipe et les modalités.</a:t>
            </a:r>
            <a:endParaRPr lang="en-US" sz="1700" dirty="0"/>
          </a:p>
        </p:txBody>
      </p:sp>
      <p:sp>
        <p:nvSpPr>
          <p:cNvPr id="14" name="Text 12"/>
          <p:cNvSpPr/>
          <p:nvPr/>
        </p:nvSpPr>
        <p:spPr>
          <a:xfrm>
            <a:off x="6473952" y="4389120"/>
            <a:ext cx="4800600" cy="521208"/>
          </a:xfrm>
          <a:prstGeom prst="rect">
            <a:avLst/>
          </a:prstGeom>
          <a:noFill/>
          <a:ln/>
        </p:spPr>
        <p:txBody>
          <a:bodyPr wrap="square" lIns="0" tIns="0" rIns="0" bIns="0" rtlCol="0" anchor="ctr">
            <a:normAutofit/>
          </a:bodyPr>
          <a:lstStyle/>
          <a:p>
            <a:pPr indent="0" marL="0">
              <a:buNone/>
            </a:pPr>
            <a:r>
              <a:rPr lang="en-US" sz="1700" dirty="0">
                <a:solidFill>
                  <a:srgbClr val="FFFFFF"/>
                </a:solidFill>
                <a:latin typeface="Arial" pitchFamily="34" charset="0"/>
                <a:ea typeface="Arial" pitchFamily="34" charset="-122"/>
                <a:cs typeface="Arial" pitchFamily="34" charset="-120"/>
              </a:rPr>
              <a:t>Il envoie sa demande; le garage la confirme à l’ouverture.</a:t>
            </a:r>
            <a:endParaRPr lang="en-US" sz="1700" dirty="0"/>
          </a:p>
        </p:txBody>
      </p:sp>
      <p:sp>
        <p:nvSpPr>
          <p:cNvPr id="15" name="Text 13"/>
          <p:cNvSpPr/>
          <p:nvPr/>
        </p:nvSpPr>
        <p:spPr>
          <a:xfrm>
            <a:off x="594360" y="6519672"/>
            <a:ext cx="7315200" cy="182880"/>
          </a:xfrm>
          <a:prstGeom prst="rect">
            <a:avLst/>
          </a:prstGeom>
          <a:noFill/>
          <a:ln/>
        </p:spPr>
        <p:txBody>
          <a:bodyPr wrap="square" lIns="0" tIns="0" rIns="0" bIns="0" rtlCol="0" anchor="ctr">
            <a:normAutofit/>
          </a:bodyPr>
          <a:lstStyle/>
          <a:p>
            <a:pPr indent="0" marL="0">
              <a:buNone/>
            </a:pPr>
            <a:r>
              <a:rPr lang="en-US" sz="900" dirty="0">
                <a:solidFill>
                  <a:srgbClr val="56616A"/>
                </a:solidFill>
                <a:latin typeface="Arial" pitchFamily="34" charset="0"/>
                <a:ea typeface="Arial" pitchFamily="34" charset="-122"/>
                <a:cs typeface="Arial" pitchFamily="34" charset="-120"/>
              </a:rPr>
              <a:t>VISION TECH AI  /  GARAGES</a:t>
            </a:r>
            <a:endParaRPr lang="en-US" sz="900" dirty="0"/>
          </a:p>
        </p:txBody>
      </p:sp>
      <p:sp>
        <p:nvSpPr>
          <p:cNvPr id="16" name="Text 14"/>
          <p:cNvSpPr/>
          <p:nvPr/>
        </p:nvSpPr>
        <p:spPr>
          <a:xfrm>
            <a:off x="10789920" y="6473952"/>
            <a:ext cx="777240" cy="228600"/>
          </a:xfrm>
          <a:prstGeom prst="rect">
            <a:avLst/>
          </a:prstGeom>
          <a:noFill/>
          <a:ln/>
        </p:spPr>
        <p:txBody>
          <a:bodyPr wrap="square" lIns="0" tIns="0" rIns="0" bIns="0" rtlCol="0" anchor="ctr">
            <a:normAutofit/>
          </a:bodyPr>
          <a:lstStyle/>
          <a:p>
            <a:pPr algn="r" indent="0" marL="0">
              <a:buNone/>
            </a:pPr>
            <a:r>
              <a:rPr lang="en-US" sz="1100" dirty="0">
                <a:solidFill>
                  <a:srgbClr val="56616A"/>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594360" y="365760"/>
            <a:ext cx="10698480" cy="274320"/>
          </a:xfrm>
          <a:prstGeom prst="rect">
            <a:avLst/>
          </a:prstGeom>
          <a:noFill/>
          <a:ln/>
        </p:spPr>
        <p:txBody>
          <a:bodyPr wrap="square" lIns="0" tIns="0" rIns="0" bIns="0" rtlCol="0" anchor="ctr">
            <a:normAutofit/>
          </a:bodyPr>
          <a:lstStyle/>
          <a:p>
            <a:pPr indent="0" marL="0">
              <a:buNone/>
            </a:pPr>
            <a:r>
              <a:rPr lang="en-US" sz="1100" b="1" dirty="0">
                <a:solidFill>
                  <a:srgbClr val="56616A"/>
                </a:solidFill>
                <a:latin typeface="Arial" pitchFamily="34" charset="0"/>
                <a:ea typeface="Arial" pitchFamily="34" charset="-122"/>
                <a:cs typeface="Arial" pitchFamily="34" charset="-120"/>
              </a:rPr>
              <a:t>TROIS FONCTIONS QUI VENDENT</a:t>
            </a:r>
            <a:endParaRPr lang="en-US" sz="1100" dirty="0"/>
          </a:p>
        </p:txBody>
      </p:sp>
      <p:sp>
        <p:nvSpPr>
          <p:cNvPr id="4" name="Text 2"/>
          <p:cNvSpPr/>
          <p:nvPr/>
        </p:nvSpPr>
        <p:spPr>
          <a:xfrm>
            <a:off x="594360" y="896112"/>
            <a:ext cx="10972800" cy="1143000"/>
          </a:xfrm>
          <a:prstGeom prst="rect">
            <a:avLst/>
          </a:prstGeom>
          <a:noFill/>
          <a:ln/>
        </p:spPr>
        <p:txBody>
          <a:bodyPr wrap="square" lIns="0" tIns="0" rIns="0" bIns="0" rtlCol="0" anchor="ctr">
            <a:normAutofit/>
          </a:bodyPr>
          <a:lstStyle/>
          <a:p>
            <a:pPr indent="0" marL="0">
              <a:buNone/>
            </a:pPr>
            <a:r>
              <a:rPr lang="en-US" sz="3400" b="1" dirty="0">
                <a:solidFill>
                  <a:srgbClr val="171C20"/>
                </a:solidFill>
                <a:latin typeface="Arial" pitchFamily="34" charset="0"/>
                <a:ea typeface="Arial" pitchFamily="34" charset="-122"/>
                <a:cs typeface="Arial" pitchFamily="34" charset="-120"/>
              </a:rPr>
              <a:t>Être trouvé.</a:t>
            </a:r>
            <a:endParaRPr lang="en-US" sz="3400" dirty="0"/>
          </a:p>
          <a:p>
            <a:pPr indent="0" marL="0">
              <a:buNone/>
            </a:pPr>
            <a:r>
              <a:rPr lang="en-US" sz="3400" b="1" dirty="0">
                <a:solidFill>
                  <a:srgbClr val="171C20"/>
                </a:solidFill>
                <a:latin typeface="Arial" pitchFamily="34" charset="0"/>
                <a:ea typeface="Arial" pitchFamily="34" charset="-122"/>
                <a:cs typeface="Arial" pitchFamily="34" charset="-120"/>
              </a:rPr>
              <a:t>Rassurer. Faire agir.</a:t>
            </a:r>
            <a:endParaRPr lang="en-US" sz="3400" dirty="0"/>
          </a:p>
        </p:txBody>
      </p:sp>
      <p:sp>
        <p:nvSpPr>
          <p:cNvPr id="5" name="Shape 3"/>
          <p:cNvSpPr/>
          <p:nvPr/>
        </p:nvSpPr>
        <p:spPr>
          <a:xfrm>
            <a:off x="594360" y="2286000"/>
            <a:ext cx="3483864" cy="3584448"/>
          </a:xfrm>
          <a:prstGeom prst="roundRect">
            <a:avLst>
              <a:gd name="adj" fmla="val 1837"/>
            </a:avLst>
          </a:prstGeom>
          <a:solidFill>
            <a:srgbClr val="F0F3F5"/>
          </a:solidFill>
          <a:ln w="12700">
            <a:solidFill>
              <a:srgbClr val="F0F3F5"/>
            </a:solidFill>
            <a:prstDash val="solid"/>
          </a:ln>
        </p:spPr>
      </p:sp>
      <p:sp>
        <p:nvSpPr>
          <p:cNvPr id="6" name="Shape 4"/>
          <p:cNvSpPr/>
          <p:nvPr/>
        </p:nvSpPr>
        <p:spPr>
          <a:xfrm>
            <a:off x="804672" y="2505456"/>
            <a:ext cx="438912" cy="438912"/>
          </a:xfrm>
          <a:prstGeom prst="ellipse">
            <a:avLst/>
          </a:prstGeom>
          <a:solidFill>
            <a:srgbClr val="F56B32"/>
          </a:solidFill>
          <a:ln w="12700">
            <a:solidFill>
              <a:srgbClr val="F56B32"/>
            </a:solidFill>
            <a:prstDash val="solid"/>
          </a:ln>
        </p:spPr>
      </p:sp>
      <p:sp>
        <p:nvSpPr>
          <p:cNvPr id="7" name="Text 5"/>
          <p:cNvSpPr/>
          <p:nvPr/>
        </p:nvSpPr>
        <p:spPr>
          <a:xfrm>
            <a:off x="804672" y="2592324"/>
            <a:ext cx="438912" cy="22860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822960" y="3200400"/>
            <a:ext cx="3026664" cy="2578608"/>
          </a:xfrm>
          <a:prstGeom prst="rect">
            <a:avLst/>
          </a:prstGeom>
          <a:noFill/>
          <a:ln/>
        </p:spPr>
        <p:txBody>
          <a:bodyPr wrap="square" lIns="0" tIns="0" rIns="0" bIns="0" rtlCol="0" anchor="ctr">
            <a:normAutofit/>
          </a:bodyPr>
          <a:lstStyle/>
          <a:p>
            <a:pPr indent="0" marL="0">
              <a:buNone/>
            </a:pPr>
            <a:r>
              <a:rPr lang="en-US" sz="2000" b="1" dirty="0">
                <a:solidFill>
                  <a:srgbClr val="171C20"/>
                </a:solidFill>
                <a:latin typeface="Arial" pitchFamily="34" charset="0"/>
                <a:ea typeface="Arial" pitchFamily="34" charset="-122"/>
                <a:cs typeface="Arial" pitchFamily="34" charset="-120"/>
              </a:rPr>
              <a:t>VISIBILITÉ — Des pages claires : freins, pneus, entretien et ville desservie.</a:t>
            </a:r>
            <a:endParaRPr lang="en-US" sz="2000" dirty="0"/>
          </a:p>
        </p:txBody>
      </p:sp>
      <p:sp>
        <p:nvSpPr>
          <p:cNvPr id="9" name="Shape 7"/>
          <p:cNvSpPr/>
          <p:nvPr/>
        </p:nvSpPr>
        <p:spPr>
          <a:xfrm>
            <a:off x="4352544" y="2286000"/>
            <a:ext cx="3483864" cy="3584448"/>
          </a:xfrm>
          <a:prstGeom prst="roundRect">
            <a:avLst>
              <a:gd name="adj" fmla="val 1837"/>
            </a:avLst>
          </a:prstGeom>
          <a:solidFill>
            <a:srgbClr val="F0F3F5"/>
          </a:solidFill>
          <a:ln w="12700">
            <a:solidFill>
              <a:srgbClr val="F0F3F5"/>
            </a:solidFill>
            <a:prstDash val="solid"/>
          </a:ln>
        </p:spPr>
      </p:sp>
      <p:sp>
        <p:nvSpPr>
          <p:cNvPr id="10" name="Shape 8"/>
          <p:cNvSpPr/>
          <p:nvPr/>
        </p:nvSpPr>
        <p:spPr>
          <a:xfrm>
            <a:off x="4562856" y="2505456"/>
            <a:ext cx="438912" cy="438912"/>
          </a:xfrm>
          <a:prstGeom prst="ellipse">
            <a:avLst/>
          </a:prstGeom>
          <a:solidFill>
            <a:srgbClr val="F56B32"/>
          </a:solidFill>
          <a:ln w="12700">
            <a:solidFill>
              <a:srgbClr val="F56B32"/>
            </a:solidFill>
            <a:prstDash val="solid"/>
          </a:ln>
        </p:spPr>
      </p:sp>
      <p:sp>
        <p:nvSpPr>
          <p:cNvPr id="11" name="Text 9"/>
          <p:cNvSpPr/>
          <p:nvPr/>
        </p:nvSpPr>
        <p:spPr>
          <a:xfrm>
            <a:off x="4562856" y="2592324"/>
            <a:ext cx="438912" cy="22860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10"/>
          <p:cNvSpPr/>
          <p:nvPr/>
        </p:nvSpPr>
        <p:spPr>
          <a:xfrm>
            <a:off x="4581144" y="3200400"/>
            <a:ext cx="3026664" cy="2578608"/>
          </a:xfrm>
          <a:prstGeom prst="rect">
            <a:avLst/>
          </a:prstGeom>
          <a:noFill/>
          <a:ln/>
        </p:spPr>
        <p:txBody>
          <a:bodyPr wrap="square" lIns="0" tIns="0" rIns="0" bIns="0" rtlCol="0" anchor="ctr">
            <a:normAutofit/>
          </a:bodyPr>
          <a:lstStyle/>
          <a:p>
            <a:pPr indent="0" marL="0">
              <a:buNone/>
            </a:pPr>
            <a:r>
              <a:rPr lang="en-US" sz="2000" b="1" dirty="0">
                <a:solidFill>
                  <a:srgbClr val="171C20"/>
                </a:solidFill>
                <a:latin typeface="Arial" pitchFamily="34" charset="0"/>
                <a:ea typeface="Arial" pitchFamily="34" charset="-122"/>
                <a:cs typeface="Arial" pitchFamily="34" charset="-120"/>
              </a:rPr>
              <a:t>CONFIANCE — Photos réelles, équipe, certifications vérifiées et avis authentiques.</a:t>
            </a:r>
            <a:endParaRPr lang="en-US" sz="2000" dirty="0"/>
          </a:p>
        </p:txBody>
      </p:sp>
      <p:sp>
        <p:nvSpPr>
          <p:cNvPr id="13" name="Shape 11"/>
          <p:cNvSpPr/>
          <p:nvPr/>
        </p:nvSpPr>
        <p:spPr>
          <a:xfrm>
            <a:off x="8110728" y="2286000"/>
            <a:ext cx="3483864" cy="3584448"/>
          </a:xfrm>
          <a:prstGeom prst="roundRect">
            <a:avLst>
              <a:gd name="adj" fmla="val 1837"/>
            </a:avLst>
          </a:prstGeom>
          <a:solidFill>
            <a:srgbClr val="F0F3F5"/>
          </a:solidFill>
          <a:ln w="12700">
            <a:solidFill>
              <a:srgbClr val="F0F3F5"/>
            </a:solidFill>
            <a:prstDash val="solid"/>
          </a:ln>
        </p:spPr>
      </p:sp>
      <p:sp>
        <p:nvSpPr>
          <p:cNvPr id="14" name="Shape 12"/>
          <p:cNvSpPr/>
          <p:nvPr/>
        </p:nvSpPr>
        <p:spPr>
          <a:xfrm>
            <a:off x="8321040" y="2505456"/>
            <a:ext cx="438912" cy="438912"/>
          </a:xfrm>
          <a:prstGeom prst="ellipse">
            <a:avLst/>
          </a:prstGeom>
          <a:solidFill>
            <a:srgbClr val="F56B32"/>
          </a:solidFill>
          <a:ln w="12700">
            <a:solidFill>
              <a:srgbClr val="F56B32"/>
            </a:solidFill>
            <a:prstDash val="solid"/>
          </a:ln>
        </p:spPr>
      </p:sp>
      <p:sp>
        <p:nvSpPr>
          <p:cNvPr id="15" name="Text 13"/>
          <p:cNvSpPr/>
          <p:nvPr/>
        </p:nvSpPr>
        <p:spPr>
          <a:xfrm>
            <a:off x="8321040" y="2592324"/>
            <a:ext cx="438912" cy="22860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6" name="Text 14"/>
          <p:cNvSpPr/>
          <p:nvPr/>
        </p:nvSpPr>
        <p:spPr>
          <a:xfrm>
            <a:off x="8339328" y="3200400"/>
            <a:ext cx="3026664" cy="2578608"/>
          </a:xfrm>
          <a:prstGeom prst="rect">
            <a:avLst/>
          </a:prstGeom>
          <a:noFill/>
          <a:ln/>
        </p:spPr>
        <p:txBody>
          <a:bodyPr wrap="square" lIns="0" tIns="0" rIns="0" bIns="0" rtlCol="0" anchor="ctr">
            <a:normAutofit/>
          </a:bodyPr>
          <a:lstStyle/>
          <a:p>
            <a:pPr indent="0" marL="0">
              <a:buNone/>
            </a:pPr>
            <a:r>
              <a:rPr lang="en-US" sz="2000" b="1" dirty="0">
                <a:solidFill>
                  <a:srgbClr val="171C20"/>
                </a:solidFill>
                <a:latin typeface="Arial" pitchFamily="34" charset="0"/>
                <a:ea typeface="Arial" pitchFamily="34" charset="-122"/>
                <a:cs typeface="Arial" pitchFamily="34" charset="-120"/>
              </a:rPr>
              <a:t>CONTACT — Bouton d’appel, itinéraire et demande de rendez-vous sur mobile.</a:t>
            </a:r>
            <a:endParaRPr lang="en-US" sz="2000" dirty="0"/>
          </a:p>
        </p:txBody>
      </p:sp>
      <p:sp>
        <p:nvSpPr>
          <p:cNvPr id="17" name="Text 15"/>
          <p:cNvSpPr/>
          <p:nvPr/>
        </p:nvSpPr>
        <p:spPr>
          <a:xfrm>
            <a:off x="594360" y="6519672"/>
            <a:ext cx="7315200" cy="182880"/>
          </a:xfrm>
          <a:prstGeom prst="rect">
            <a:avLst/>
          </a:prstGeom>
          <a:noFill/>
          <a:ln/>
        </p:spPr>
        <p:txBody>
          <a:bodyPr wrap="square" lIns="0" tIns="0" rIns="0" bIns="0" rtlCol="0" anchor="ctr">
            <a:normAutofit/>
          </a:bodyPr>
          <a:lstStyle/>
          <a:p>
            <a:pPr indent="0" marL="0">
              <a:buNone/>
            </a:pPr>
            <a:r>
              <a:rPr lang="en-US" sz="900" dirty="0">
                <a:solidFill>
                  <a:srgbClr val="56616A"/>
                </a:solidFill>
                <a:latin typeface="Arial" pitchFamily="34" charset="0"/>
                <a:ea typeface="Arial" pitchFamily="34" charset="-122"/>
                <a:cs typeface="Arial" pitchFamily="34" charset="-120"/>
              </a:rPr>
              <a:t>VISION TECH AI  /  GARAGES</a:t>
            </a:r>
            <a:endParaRPr lang="en-US" sz="900" dirty="0"/>
          </a:p>
        </p:txBody>
      </p:sp>
      <p:sp>
        <p:nvSpPr>
          <p:cNvPr id="18" name="Text 16"/>
          <p:cNvSpPr/>
          <p:nvPr/>
        </p:nvSpPr>
        <p:spPr>
          <a:xfrm>
            <a:off x="10789920" y="6473952"/>
            <a:ext cx="777240" cy="228600"/>
          </a:xfrm>
          <a:prstGeom prst="rect">
            <a:avLst/>
          </a:prstGeom>
          <a:noFill/>
          <a:ln/>
        </p:spPr>
        <p:txBody>
          <a:bodyPr wrap="square" lIns="0" tIns="0" rIns="0" bIns="0" rtlCol="0" anchor="ctr">
            <a:normAutofit/>
          </a:bodyPr>
          <a:lstStyle/>
          <a:p>
            <a:pPr algn="r" indent="0" marL="0">
              <a:buNone/>
            </a:pPr>
            <a:r>
              <a:rPr lang="en-US" sz="1100" dirty="0">
                <a:solidFill>
                  <a:srgbClr val="56616A"/>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594360" y="365760"/>
            <a:ext cx="10698480" cy="274320"/>
          </a:xfrm>
          <a:prstGeom prst="rect">
            <a:avLst/>
          </a:prstGeom>
          <a:noFill/>
          <a:ln/>
        </p:spPr>
        <p:txBody>
          <a:bodyPr wrap="square" lIns="0" tIns="0" rIns="0" bIns="0" rtlCol="0" anchor="ctr">
            <a:normAutofit/>
          </a:bodyPr>
          <a:lstStyle/>
          <a:p>
            <a:pPr indent="0" marL="0">
              <a:buNone/>
            </a:pPr>
            <a:r>
              <a:rPr lang="en-US" sz="1100" b="1" dirty="0">
                <a:solidFill>
                  <a:srgbClr val="56616A"/>
                </a:solidFill>
                <a:latin typeface="Arial" pitchFamily="34" charset="0"/>
                <a:ea typeface="Arial" pitchFamily="34" charset="-122"/>
                <a:cs typeface="Arial" pitchFamily="34" charset="-120"/>
              </a:rPr>
              <a:t>RENDEZ-VOUS AUTOMOBILES • ÉTATS-UNIS, 2025</a:t>
            </a:r>
            <a:endParaRPr lang="en-US" sz="1100" dirty="0"/>
          </a:p>
        </p:txBody>
      </p:sp>
      <p:sp>
        <p:nvSpPr>
          <p:cNvPr id="4" name="Text 2"/>
          <p:cNvSpPr/>
          <p:nvPr/>
        </p:nvSpPr>
        <p:spPr>
          <a:xfrm>
            <a:off x="594360" y="896112"/>
            <a:ext cx="10972800" cy="1143000"/>
          </a:xfrm>
          <a:prstGeom prst="rect">
            <a:avLst/>
          </a:prstGeom>
          <a:noFill/>
          <a:ln/>
        </p:spPr>
        <p:txBody>
          <a:bodyPr wrap="square" lIns="0" tIns="0" rIns="0" bIns="0" rtlCol="0" anchor="ctr">
            <a:normAutofit/>
          </a:bodyPr>
          <a:lstStyle/>
          <a:p>
            <a:pPr indent="0" marL="0">
              <a:buNone/>
            </a:pPr>
            <a:r>
              <a:rPr lang="en-US" sz="3400" b="1" dirty="0">
                <a:solidFill>
                  <a:srgbClr val="171C20"/>
                </a:solidFill>
                <a:latin typeface="Arial" pitchFamily="34" charset="0"/>
                <a:ea typeface="Arial" pitchFamily="34" charset="-122"/>
                <a:cs typeface="Arial" pitchFamily="34" charset="-120"/>
              </a:rPr>
              <a:t>Le rendez-vous en ligne</a:t>
            </a:r>
            <a:endParaRPr lang="en-US" sz="3400" dirty="0"/>
          </a:p>
          <a:p>
            <a:pPr indent="0" marL="0">
              <a:buNone/>
            </a:pPr>
            <a:r>
              <a:rPr lang="en-US" sz="3400" b="1" dirty="0">
                <a:solidFill>
                  <a:srgbClr val="171C20"/>
                </a:solidFill>
                <a:latin typeface="Arial" pitchFamily="34" charset="0"/>
                <a:ea typeface="Arial" pitchFamily="34" charset="-122"/>
                <a:cs typeface="Arial" pitchFamily="34" charset="-120"/>
              </a:rPr>
              <a:t>fait déjà partie du marché.</a:t>
            </a:r>
            <a:endParaRPr lang="en-US" sz="3400" dirty="0"/>
          </a:p>
        </p:txBody>
      </p:sp>
      <p:sp>
        <p:nvSpPr>
          <p:cNvPr id="5" name="Shape 3"/>
          <p:cNvSpPr/>
          <p:nvPr/>
        </p:nvSpPr>
        <p:spPr>
          <a:xfrm>
            <a:off x="594360" y="2313432"/>
            <a:ext cx="5394960" cy="3502152"/>
          </a:xfrm>
          <a:prstGeom prst="roundRect">
            <a:avLst>
              <a:gd name="adj" fmla="val 2089"/>
            </a:avLst>
          </a:prstGeom>
          <a:solidFill>
            <a:srgbClr val="F0F3F5"/>
          </a:solidFill>
          <a:ln w="12700">
            <a:solidFill>
              <a:srgbClr val="F0F3F5"/>
            </a:solidFill>
            <a:prstDash val="solid"/>
          </a:ln>
        </p:spPr>
      </p:sp>
      <p:sp>
        <p:nvSpPr>
          <p:cNvPr id="6" name="Text 4"/>
          <p:cNvSpPr/>
          <p:nvPr/>
        </p:nvSpPr>
        <p:spPr>
          <a:xfrm>
            <a:off x="850392" y="2587752"/>
            <a:ext cx="4800600" cy="365760"/>
          </a:xfrm>
          <a:prstGeom prst="rect">
            <a:avLst/>
          </a:prstGeom>
          <a:noFill/>
          <a:ln/>
        </p:spPr>
        <p:txBody>
          <a:bodyPr wrap="square" lIns="0" tIns="0" rIns="0" bIns="0" rtlCol="0" anchor="ctr">
            <a:normAutofit/>
          </a:bodyPr>
          <a:lstStyle/>
          <a:p>
            <a:pPr indent="0" marL="0">
              <a:buNone/>
            </a:pPr>
            <a:r>
              <a:rPr lang="en-US" sz="1800" b="1" dirty="0">
                <a:solidFill>
                  <a:srgbClr val="56616A"/>
                </a:solidFill>
                <a:latin typeface="Arial" pitchFamily="34" charset="0"/>
                <a:ea typeface="Arial" pitchFamily="34" charset="-122"/>
                <a:cs typeface="Arial" pitchFamily="34" charset="-120"/>
              </a:rPr>
              <a:t>CONCESSIONNAIRES</a:t>
            </a:r>
            <a:endParaRPr lang="en-US" sz="1800" dirty="0"/>
          </a:p>
        </p:txBody>
      </p:sp>
      <p:sp>
        <p:nvSpPr>
          <p:cNvPr id="7" name="Text 5"/>
          <p:cNvSpPr/>
          <p:nvPr/>
        </p:nvSpPr>
        <p:spPr>
          <a:xfrm>
            <a:off x="850392" y="3200400"/>
            <a:ext cx="4800600" cy="521208"/>
          </a:xfrm>
          <a:prstGeom prst="rect">
            <a:avLst/>
          </a:prstGeom>
          <a:noFill/>
          <a:ln/>
        </p:spPr>
        <p:txBody>
          <a:bodyPr wrap="square" lIns="0" tIns="0" rIns="0" bIns="0" rtlCol="0" anchor="ctr">
            <a:normAutofit/>
          </a:bodyPr>
          <a:lstStyle/>
          <a:p>
            <a:pPr indent="0" marL="0">
              <a:buNone/>
            </a:pPr>
            <a:r>
              <a:rPr lang="en-US" sz="1700" dirty="0">
                <a:solidFill>
                  <a:srgbClr val="171C20"/>
                </a:solidFill>
                <a:latin typeface="Arial" pitchFamily="34" charset="0"/>
                <a:ea typeface="Arial" pitchFamily="34" charset="-122"/>
                <a:cs typeface="Arial" pitchFamily="34" charset="-120"/>
              </a:rPr>
              <a:t>Chez les concessionnaires</a:t>
            </a:r>
            <a:endParaRPr lang="en-US" sz="1700" dirty="0"/>
          </a:p>
        </p:txBody>
      </p:sp>
      <p:sp>
        <p:nvSpPr>
          <p:cNvPr id="8" name="Text 6"/>
          <p:cNvSpPr/>
          <p:nvPr/>
        </p:nvSpPr>
        <p:spPr>
          <a:xfrm>
            <a:off x="850392" y="3794760"/>
            <a:ext cx="4800600" cy="521208"/>
          </a:xfrm>
          <a:prstGeom prst="rect">
            <a:avLst/>
          </a:prstGeom>
          <a:noFill/>
          <a:ln/>
        </p:spPr>
        <p:txBody>
          <a:bodyPr wrap="square" lIns="0" tIns="0" rIns="0" bIns="0" rtlCol="0" anchor="ctr">
            <a:normAutofit/>
          </a:bodyPr>
          <a:lstStyle/>
          <a:p>
            <a:pPr indent="0" marL="0">
              <a:buNone/>
            </a:pPr>
            <a:r>
              <a:rPr lang="en-US" sz="1700" dirty="0">
                <a:solidFill>
                  <a:srgbClr val="171C20"/>
                </a:solidFill>
                <a:latin typeface="Arial" pitchFamily="34" charset="0"/>
                <a:ea typeface="Arial" pitchFamily="34" charset="-122"/>
                <a:cs typeface="Arial" pitchFamily="34" charset="-120"/>
              </a:rPr>
              <a:t>26 % prennent rendez-vous en ligne.</a:t>
            </a:r>
            <a:endParaRPr lang="en-US" sz="1700" dirty="0"/>
          </a:p>
        </p:txBody>
      </p:sp>
      <p:sp>
        <p:nvSpPr>
          <p:cNvPr id="9" name="Text 7"/>
          <p:cNvSpPr/>
          <p:nvPr/>
        </p:nvSpPr>
        <p:spPr>
          <a:xfrm>
            <a:off x="850392" y="4389120"/>
            <a:ext cx="4800600" cy="521208"/>
          </a:xfrm>
          <a:prstGeom prst="rect">
            <a:avLst/>
          </a:prstGeom>
          <a:noFill/>
          <a:ln/>
        </p:spPr>
        <p:txBody>
          <a:bodyPr wrap="square" lIns="0" tIns="0" rIns="0" bIns="0" rtlCol="0" anchor="ctr">
            <a:normAutofit/>
          </a:bodyPr>
          <a:lstStyle/>
          <a:p>
            <a:pPr indent="0" marL="0">
              <a:buNone/>
            </a:pPr>
            <a:r>
              <a:rPr lang="en-US" sz="1700" dirty="0">
                <a:solidFill>
                  <a:srgbClr val="171C20"/>
                </a:solidFill>
                <a:latin typeface="Arial" pitchFamily="34" charset="0"/>
                <a:ea typeface="Arial" pitchFamily="34" charset="-122"/>
                <a:cs typeface="Arial" pitchFamily="34" charset="-120"/>
              </a:rPr>
              <a:t>Un canal déjà bien utilisé.</a:t>
            </a:r>
            <a:endParaRPr lang="en-US" sz="1700" dirty="0"/>
          </a:p>
        </p:txBody>
      </p:sp>
      <p:sp>
        <p:nvSpPr>
          <p:cNvPr id="10" name="Shape 8"/>
          <p:cNvSpPr/>
          <p:nvPr/>
        </p:nvSpPr>
        <p:spPr>
          <a:xfrm>
            <a:off x="6217920" y="2313432"/>
            <a:ext cx="5394960" cy="3502152"/>
          </a:xfrm>
          <a:prstGeom prst="roundRect">
            <a:avLst>
              <a:gd name="adj" fmla="val 2089"/>
            </a:avLst>
          </a:prstGeom>
          <a:solidFill>
            <a:srgbClr val="171C20"/>
          </a:solidFill>
          <a:ln w="12700">
            <a:solidFill>
              <a:srgbClr val="171C20"/>
            </a:solidFill>
            <a:prstDash val="solid"/>
          </a:ln>
        </p:spPr>
      </p:sp>
      <p:sp>
        <p:nvSpPr>
          <p:cNvPr id="11" name="Text 9"/>
          <p:cNvSpPr/>
          <p:nvPr/>
        </p:nvSpPr>
        <p:spPr>
          <a:xfrm>
            <a:off x="6473952" y="2587752"/>
            <a:ext cx="4800600" cy="365760"/>
          </a:xfrm>
          <a:prstGeom prst="rect">
            <a:avLst/>
          </a:prstGeom>
          <a:noFill/>
          <a:ln/>
        </p:spPr>
        <p:txBody>
          <a:bodyPr wrap="square" lIns="0" tIns="0" rIns="0" bIns="0" rtlCol="0" anchor="ctr">
            <a:normAutofit/>
          </a:bodyPr>
          <a:lstStyle/>
          <a:p>
            <a:pPr indent="0" marL="0">
              <a:buNone/>
            </a:pPr>
            <a:r>
              <a:rPr lang="en-US" sz="1800" b="1" dirty="0">
                <a:solidFill>
                  <a:srgbClr val="F56B32"/>
                </a:solidFill>
                <a:latin typeface="Arial" pitchFamily="34" charset="0"/>
                <a:ea typeface="Arial" pitchFamily="34" charset="-122"/>
                <a:cs typeface="Arial" pitchFamily="34" charset="-120"/>
              </a:rPr>
              <a:t>INDÉPENDANTS</a:t>
            </a:r>
            <a:endParaRPr lang="en-US" sz="1800" dirty="0"/>
          </a:p>
        </p:txBody>
      </p:sp>
      <p:sp>
        <p:nvSpPr>
          <p:cNvPr id="12" name="Text 10"/>
          <p:cNvSpPr/>
          <p:nvPr/>
        </p:nvSpPr>
        <p:spPr>
          <a:xfrm>
            <a:off x="6473952" y="3200400"/>
            <a:ext cx="4800600" cy="521208"/>
          </a:xfrm>
          <a:prstGeom prst="rect">
            <a:avLst/>
          </a:prstGeom>
          <a:noFill/>
          <a:ln/>
        </p:spPr>
        <p:txBody>
          <a:bodyPr wrap="square" lIns="0" tIns="0" rIns="0" bIns="0" rtlCol="0" anchor="ctr">
            <a:normAutofit/>
          </a:bodyPr>
          <a:lstStyle/>
          <a:p>
            <a:pPr indent="0" marL="0">
              <a:buNone/>
            </a:pPr>
            <a:r>
              <a:rPr lang="en-US" sz="1700" dirty="0">
                <a:solidFill>
                  <a:srgbClr val="FFFFFF"/>
                </a:solidFill>
                <a:latin typeface="Arial" pitchFamily="34" charset="0"/>
                <a:ea typeface="Arial" pitchFamily="34" charset="-122"/>
                <a:cs typeface="Arial" pitchFamily="34" charset="-120"/>
              </a:rPr>
              <a:t>Chez les indépendants</a:t>
            </a:r>
            <a:endParaRPr lang="en-US" sz="1700" dirty="0"/>
          </a:p>
        </p:txBody>
      </p:sp>
      <p:sp>
        <p:nvSpPr>
          <p:cNvPr id="13" name="Text 11"/>
          <p:cNvSpPr/>
          <p:nvPr/>
        </p:nvSpPr>
        <p:spPr>
          <a:xfrm>
            <a:off x="6473952" y="3794760"/>
            <a:ext cx="4800600" cy="521208"/>
          </a:xfrm>
          <a:prstGeom prst="rect">
            <a:avLst/>
          </a:prstGeom>
          <a:noFill/>
          <a:ln/>
        </p:spPr>
        <p:txBody>
          <a:bodyPr wrap="square" lIns="0" tIns="0" rIns="0" bIns="0" rtlCol="0" anchor="ctr">
            <a:normAutofit/>
          </a:bodyPr>
          <a:lstStyle/>
          <a:p>
            <a:pPr indent="0" marL="0">
              <a:buNone/>
            </a:pPr>
            <a:r>
              <a:rPr lang="en-US" sz="1700" dirty="0">
                <a:solidFill>
                  <a:srgbClr val="FFFFFF"/>
                </a:solidFill>
                <a:latin typeface="Arial" pitchFamily="34" charset="0"/>
                <a:ea typeface="Arial" pitchFamily="34" charset="-122"/>
                <a:cs typeface="Arial" pitchFamily="34" charset="-120"/>
              </a:rPr>
              <a:t>10 % prennent rendez-vous en ligne.</a:t>
            </a:r>
            <a:endParaRPr lang="en-US" sz="1700" dirty="0"/>
          </a:p>
        </p:txBody>
      </p:sp>
      <p:sp>
        <p:nvSpPr>
          <p:cNvPr id="14" name="Text 12"/>
          <p:cNvSpPr/>
          <p:nvPr/>
        </p:nvSpPr>
        <p:spPr>
          <a:xfrm>
            <a:off x="6473952" y="4389120"/>
            <a:ext cx="4800600" cy="521208"/>
          </a:xfrm>
          <a:prstGeom prst="rect">
            <a:avLst/>
          </a:prstGeom>
          <a:noFill/>
          <a:ln/>
        </p:spPr>
        <p:txBody>
          <a:bodyPr wrap="square" lIns="0" tIns="0" rIns="0" bIns="0" rtlCol="0" anchor="ctr">
            <a:normAutofit/>
          </a:bodyPr>
          <a:lstStyle/>
          <a:p>
            <a:pPr indent="0" marL="0">
              <a:buNone/>
            </a:pPr>
            <a:r>
              <a:rPr lang="en-US" sz="1700" dirty="0">
                <a:solidFill>
                  <a:srgbClr val="FFFFFF"/>
                </a:solidFill>
                <a:latin typeface="Arial" pitchFamily="34" charset="0"/>
                <a:ea typeface="Arial" pitchFamily="34" charset="-122"/>
                <a:cs typeface="Arial" pitchFamily="34" charset="-120"/>
              </a:rPr>
              <a:t>Une option à rendre simple et visible.</a:t>
            </a:r>
            <a:endParaRPr lang="en-US" sz="1700" dirty="0"/>
          </a:p>
        </p:txBody>
      </p:sp>
      <p:sp>
        <p:nvSpPr>
          <p:cNvPr id="15" name="Text 13">
            <a:hlinkClick r:id="rId1" tooltip=""/>
          </p:cNvPr>
          <p:cNvSpPr/>
          <p:nvPr/>
        </p:nvSpPr>
        <p:spPr>
          <a:xfrm>
            <a:off x="594360" y="6153912"/>
            <a:ext cx="10515600" cy="320040"/>
          </a:xfrm>
          <a:prstGeom prst="rect">
            <a:avLst/>
          </a:prstGeom>
          <a:noFill/>
          <a:ln/>
        </p:spPr>
        <p:txBody>
          <a:bodyPr wrap="square" lIns="0" tIns="0" rIns="0" bIns="0" rtlCol="0" anchor="ctr">
            <a:normAutofit/>
          </a:bodyPr>
          <a:lstStyle/>
          <a:p>
            <a:pPr indent="0" marL="0">
              <a:buNone/>
            </a:pPr>
            <a:r>
              <a:rPr lang="en-US" sz="900" u="sng" dirty="0">
                <a:solidFill>
                  <a:srgbClr val="56616A"/>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CDK • Service Shopper 5.0 • n = 2 051 • p. 16</a:t>
            </a:r>
            <a:endParaRPr lang="en-US" sz="900" dirty="0"/>
          </a:p>
        </p:txBody>
      </p:sp>
      <p:sp>
        <p:nvSpPr>
          <p:cNvPr id="16" name="Text 14"/>
          <p:cNvSpPr/>
          <p:nvPr/>
        </p:nvSpPr>
        <p:spPr>
          <a:xfrm>
            <a:off x="594360" y="6519672"/>
            <a:ext cx="7315200" cy="182880"/>
          </a:xfrm>
          <a:prstGeom prst="rect">
            <a:avLst/>
          </a:prstGeom>
          <a:noFill/>
          <a:ln/>
        </p:spPr>
        <p:txBody>
          <a:bodyPr wrap="square" lIns="0" tIns="0" rIns="0" bIns="0" rtlCol="0" anchor="ctr">
            <a:normAutofit/>
          </a:bodyPr>
          <a:lstStyle/>
          <a:p>
            <a:pPr indent="0" marL="0">
              <a:buNone/>
            </a:pPr>
            <a:r>
              <a:rPr lang="en-US" sz="900" dirty="0">
                <a:solidFill>
                  <a:srgbClr val="56616A"/>
                </a:solidFill>
                <a:latin typeface="Arial" pitchFamily="34" charset="0"/>
                <a:ea typeface="Arial" pitchFamily="34" charset="-122"/>
                <a:cs typeface="Arial" pitchFamily="34" charset="-120"/>
              </a:rPr>
              <a:t>VISION TECH AI  /  GARAGES</a:t>
            </a:r>
            <a:endParaRPr lang="en-US" sz="900" dirty="0"/>
          </a:p>
        </p:txBody>
      </p:sp>
      <p:sp>
        <p:nvSpPr>
          <p:cNvPr id="17" name="Text 15"/>
          <p:cNvSpPr/>
          <p:nvPr/>
        </p:nvSpPr>
        <p:spPr>
          <a:xfrm>
            <a:off x="10789920" y="6473952"/>
            <a:ext cx="777240" cy="228600"/>
          </a:xfrm>
          <a:prstGeom prst="rect">
            <a:avLst/>
          </a:prstGeom>
          <a:noFill/>
          <a:ln/>
        </p:spPr>
        <p:txBody>
          <a:bodyPr wrap="square" lIns="0" tIns="0" rIns="0" bIns="0" rtlCol="0" anchor="ctr">
            <a:normAutofit/>
          </a:bodyPr>
          <a:lstStyle/>
          <a:p>
            <a:pPr algn="r" indent="0" marL="0">
              <a:buNone/>
            </a:pPr>
            <a:r>
              <a:rPr lang="en-US" sz="1100" dirty="0">
                <a:solidFill>
                  <a:srgbClr val="56616A"/>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594360" y="365760"/>
            <a:ext cx="10698480" cy="274320"/>
          </a:xfrm>
          <a:prstGeom prst="rect">
            <a:avLst/>
          </a:prstGeom>
          <a:noFill/>
          <a:ln/>
        </p:spPr>
        <p:txBody>
          <a:bodyPr wrap="square" lIns="0" tIns="0" rIns="0" bIns="0" rtlCol="0" anchor="ctr">
            <a:normAutofit/>
          </a:bodyPr>
          <a:lstStyle/>
          <a:p>
            <a:pPr indent="0" marL="0">
              <a:buNone/>
            </a:pPr>
            <a:r>
              <a:rPr lang="en-US" sz="1100" b="1" dirty="0">
                <a:solidFill>
                  <a:srgbClr val="56616A"/>
                </a:solidFill>
                <a:latin typeface="Arial" pitchFamily="34" charset="0"/>
                <a:ea typeface="Arial" pitchFamily="34" charset="-122"/>
                <a:cs typeface="Arial" pitchFamily="34" charset="-120"/>
              </a:rPr>
              <a:t>UN ÉCOSYSTÈME QUI TRAVAILLE ENSEMBLE</a:t>
            </a:r>
            <a:endParaRPr lang="en-US" sz="1100" dirty="0"/>
          </a:p>
        </p:txBody>
      </p:sp>
      <p:sp>
        <p:nvSpPr>
          <p:cNvPr id="4" name="Text 2"/>
          <p:cNvSpPr/>
          <p:nvPr/>
        </p:nvSpPr>
        <p:spPr>
          <a:xfrm>
            <a:off x="594360" y="896112"/>
            <a:ext cx="10972800" cy="1143000"/>
          </a:xfrm>
          <a:prstGeom prst="rect">
            <a:avLst/>
          </a:prstGeom>
          <a:noFill/>
          <a:ln/>
        </p:spPr>
        <p:txBody>
          <a:bodyPr wrap="square" lIns="0" tIns="0" rIns="0" bIns="0" rtlCol="0" anchor="ctr">
            <a:normAutofit/>
          </a:bodyPr>
          <a:lstStyle/>
          <a:p>
            <a:pPr indent="0" marL="0">
              <a:buNone/>
            </a:pPr>
            <a:r>
              <a:rPr lang="en-US" sz="3400" b="1" dirty="0">
                <a:solidFill>
                  <a:srgbClr val="171C20"/>
                </a:solidFill>
                <a:latin typeface="Arial" pitchFamily="34" charset="0"/>
                <a:ea typeface="Arial" pitchFamily="34" charset="-122"/>
                <a:cs typeface="Arial" pitchFamily="34" charset="-120"/>
              </a:rPr>
              <a:t>Google vous fait découvrir.</a:t>
            </a:r>
            <a:endParaRPr lang="en-US" sz="3400" dirty="0"/>
          </a:p>
          <a:p>
            <a:pPr indent="0" marL="0">
              <a:buNone/>
            </a:pPr>
            <a:r>
              <a:rPr lang="en-US" sz="3400" b="1" dirty="0">
                <a:solidFill>
                  <a:srgbClr val="171C20"/>
                </a:solidFill>
                <a:latin typeface="Arial" pitchFamily="34" charset="0"/>
                <a:ea typeface="Arial" pitchFamily="34" charset="-122"/>
                <a:cs typeface="Arial" pitchFamily="34" charset="-120"/>
              </a:rPr>
              <a:t>Le site approfondit la relation.</a:t>
            </a:r>
            <a:endParaRPr lang="en-US" sz="3400" dirty="0"/>
          </a:p>
        </p:txBody>
      </p:sp>
      <p:sp>
        <p:nvSpPr>
          <p:cNvPr id="5" name="Shape 3"/>
          <p:cNvSpPr/>
          <p:nvPr/>
        </p:nvSpPr>
        <p:spPr>
          <a:xfrm>
            <a:off x="594360" y="2514600"/>
            <a:ext cx="576072" cy="576072"/>
          </a:xfrm>
          <a:prstGeom prst="ellipse">
            <a:avLst/>
          </a:prstGeom>
          <a:solidFill>
            <a:srgbClr val="F56B32"/>
          </a:solidFill>
          <a:ln w="12700">
            <a:solidFill>
              <a:srgbClr val="F56B32"/>
            </a:solidFill>
            <a:prstDash val="solid"/>
          </a:ln>
        </p:spPr>
      </p:sp>
      <p:sp>
        <p:nvSpPr>
          <p:cNvPr id="6" name="Text 4"/>
          <p:cNvSpPr/>
          <p:nvPr/>
        </p:nvSpPr>
        <p:spPr>
          <a:xfrm>
            <a:off x="594360" y="2633472"/>
            <a:ext cx="576072" cy="256032"/>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594360" y="3429000"/>
            <a:ext cx="3346704" cy="2240280"/>
          </a:xfrm>
          <a:prstGeom prst="rect">
            <a:avLst/>
          </a:prstGeom>
          <a:noFill/>
          <a:ln/>
        </p:spPr>
        <p:txBody>
          <a:bodyPr wrap="square" lIns="0" tIns="0" rIns="0" bIns="0" rtlCol="0" anchor="ctr">
            <a:normAutofit/>
          </a:bodyPr>
          <a:lstStyle/>
          <a:p>
            <a:pPr indent="0" marL="0">
              <a:buNone/>
            </a:pPr>
            <a:r>
              <a:rPr lang="en-US" sz="2100" b="1" dirty="0">
                <a:solidFill>
                  <a:srgbClr val="171C20"/>
                </a:solidFill>
                <a:latin typeface="Arial" pitchFamily="34" charset="0"/>
                <a:ea typeface="Arial" pitchFamily="34" charset="-122"/>
                <a:cs typeface="Arial" pitchFamily="34" charset="-120"/>
              </a:rPr>
              <a:t>FICHE GOOGLE — Adresse, horaires, itinéraire, avis et lien vers le site.</a:t>
            </a:r>
            <a:endParaRPr lang="en-US" sz="2100" dirty="0"/>
          </a:p>
        </p:txBody>
      </p:sp>
      <p:sp>
        <p:nvSpPr>
          <p:cNvPr id="8" name="Shape 6"/>
          <p:cNvSpPr/>
          <p:nvPr/>
        </p:nvSpPr>
        <p:spPr>
          <a:xfrm>
            <a:off x="4261104" y="2514600"/>
            <a:ext cx="576072" cy="576072"/>
          </a:xfrm>
          <a:prstGeom prst="ellipse">
            <a:avLst/>
          </a:prstGeom>
          <a:solidFill>
            <a:srgbClr val="F56B32"/>
          </a:solidFill>
          <a:ln w="12700">
            <a:solidFill>
              <a:srgbClr val="F56B32"/>
            </a:solidFill>
            <a:prstDash val="solid"/>
          </a:ln>
        </p:spPr>
      </p:sp>
      <p:sp>
        <p:nvSpPr>
          <p:cNvPr id="9" name="Text 7"/>
          <p:cNvSpPr/>
          <p:nvPr/>
        </p:nvSpPr>
        <p:spPr>
          <a:xfrm>
            <a:off x="4261104" y="2633472"/>
            <a:ext cx="576072" cy="256032"/>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4261104" y="3429000"/>
            <a:ext cx="3346704" cy="2240280"/>
          </a:xfrm>
          <a:prstGeom prst="rect">
            <a:avLst/>
          </a:prstGeom>
          <a:noFill/>
          <a:ln/>
        </p:spPr>
        <p:txBody>
          <a:bodyPr wrap="square" lIns="0" tIns="0" rIns="0" bIns="0" rtlCol="0" anchor="ctr">
            <a:normAutofit/>
          </a:bodyPr>
          <a:lstStyle/>
          <a:p>
            <a:pPr indent="0" marL="0">
              <a:buNone/>
            </a:pPr>
            <a:r>
              <a:rPr lang="en-US" sz="2100" b="1" dirty="0">
                <a:solidFill>
                  <a:srgbClr val="171C20"/>
                </a:solidFill>
                <a:latin typeface="Arial" pitchFamily="34" charset="0"/>
                <a:ea typeface="Arial" pitchFamily="34" charset="-122"/>
                <a:cs typeface="Arial" pitchFamily="34" charset="-120"/>
              </a:rPr>
              <a:t>SITE WEB — Services, preuves, réponses et demande de rendez-vous.</a:t>
            </a:r>
            <a:endParaRPr lang="en-US" sz="2100" dirty="0"/>
          </a:p>
        </p:txBody>
      </p:sp>
      <p:sp>
        <p:nvSpPr>
          <p:cNvPr id="11" name="Shape 9"/>
          <p:cNvSpPr/>
          <p:nvPr/>
        </p:nvSpPr>
        <p:spPr>
          <a:xfrm>
            <a:off x="7927848" y="2514600"/>
            <a:ext cx="576072" cy="576072"/>
          </a:xfrm>
          <a:prstGeom prst="ellipse">
            <a:avLst/>
          </a:prstGeom>
          <a:solidFill>
            <a:srgbClr val="F56B32"/>
          </a:solidFill>
          <a:ln w="12700">
            <a:solidFill>
              <a:srgbClr val="F56B32"/>
            </a:solidFill>
            <a:prstDash val="solid"/>
          </a:ln>
        </p:spPr>
      </p:sp>
      <p:sp>
        <p:nvSpPr>
          <p:cNvPr id="12" name="Text 10"/>
          <p:cNvSpPr/>
          <p:nvPr/>
        </p:nvSpPr>
        <p:spPr>
          <a:xfrm>
            <a:off x="7927848" y="2633472"/>
            <a:ext cx="576072" cy="256032"/>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7927848" y="3429000"/>
            <a:ext cx="3346704" cy="2240280"/>
          </a:xfrm>
          <a:prstGeom prst="rect">
            <a:avLst/>
          </a:prstGeom>
          <a:noFill/>
          <a:ln/>
        </p:spPr>
        <p:txBody>
          <a:bodyPr wrap="square" lIns="0" tIns="0" rIns="0" bIns="0" rtlCol="0" anchor="ctr">
            <a:normAutofit/>
          </a:bodyPr>
          <a:lstStyle/>
          <a:p>
            <a:pPr indent="0" marL="0">
              <a:buNone/>
            </a:pPr>
            <a:r>
              <a:rPr lang="en-US" sz="2100" b="1" dirty="0">
                <a:solidFill>
                  <a:srgbClr val="171C20"/>
                </a:solidFill>
                <a:latin typeface="Arial" pitchFamily="34" charset="0"/>
                <a:ea typeface="Arial" pitchFamily="34" charset="-122"/>
                <a:cs typeface="Arial" pitchFamily="34" charset="-120"/>
              </a:rPr>
              <a:t>ÉQUIPE — Confirmation, diagnostic et expérience client qui fidélise.</a:t>
            </a:r>
            <a:endParaRPr lang="en-US" sz="2100" dirty="0"/>
          </a:p>
        </p:txBody>
      </p:sp>
      <p:sp>
        <p:nvSpPr>
          <p:cNvPr id="14" name="Text 12"/>
          <p:cNvSpPr/>
          <p:nvPr/>
        </p:nvSpPr>
        <p:spPr>
          <a:xfrm>
            <a:off x="594360" y="6519672"/>
            <a:ext cx="7315200" cy="182880"/>
          </a:xfrm>
          <a:prstGeom prst="rect">
            <a:avLst/>
          </a:prstGeom>
          <a:noFill/>
          <a:ln/>
        </p:spPr>
        <p:txBody>
          <a:bodyPr wrap="square" lIns="0" tIns="0" rIns="0" bIns="0" rtlCol="0" anchor="ctr">
            <a:normAutofit/>
          </a:bodyPr>
          <a:lstStyle/>
          <a:p>
            <a:pPr indent="0" marL="0">
              <a:buNone/>
            </a:pPr>
            <a:r>
              <a:rPr lang="en-US" sz="900" dirty="0">
                <a:solidFill>
                  <a:srgbClr val="56616A"/>
                </a:solidFill>
                <a:latin typeface="Arial" pitchFamily="34" charset="0"/>
                <a:ea typeface="Arial" pitchFamily="34" charset="-122"/>
                <a:cs typeface="Arial" pitchFamily="34" charset="-120"/>
              </a:rPr>
              <a:t>VISION TECH AI  /  GARAGES</a:t>
            </a:r>
            <a:endParaRPr lang="en-US" sz="900" dirty="0"/>
          </a:p>
        </p:txBody>
      </p:sp>
      <p:sp>
        <p:nvSpPr>
          <p:cNvPr id="15" name="Text 13"/>
          <p:cNvSpPr/>
          <p:nvPr/>
        </p:nvSpPr>
        <p:spPr>
          <a:xfrm>
            <a:off x="10789920" y="6473952"/>
            <a:ext cx="777240" cy="228600"/>
          </a:xfrm>
          <a:prstGeom prst="rect">
            <a:avLst/>
          </a:prstGeom>
          <a:noFill/>
          <a:ln/>
        </p:spPr>
        <p:txBody>
          <a:bodyPr wrap="square" lIns="0" tIns="0" rIns="0" bIns="0" rtlCol="0" anchor="ctr">
            <a:normAutofit/>
          </a:bodyPr>
          <a:lstStyle/>
          <a:p>
            <a:pPr algn="r" indent="0" marL="0">
              <a:buNone/>
            </a:pPr>
            <a:r>
              <a:rPr lang="en-US" sz="1100" dirty="0">
                <a:solidFill>
                  <a:srgbClr val="56616A"/>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594360" y="365760"/>
            <a:ext cx="10698480" cy="274320"/>
          </a:xfrm>
          <a:prstGeom prst="rect">
            <a:avLst/>
          </a:prstGeom>
          <a:noFill/>
          <a:ln/>
        </p:spPr>
        <p:txBody>
          <a:bodyPr wrap="square" lIns="0" tIns="0" rIns="0" bIns="0" rtlCol="0" anchor="ctr">
            <a:normAutofit/>
          </a:bodyPr>
          <a:lstStyle/>
          <a:p>
            <a:pPr indent="0" marL="0">
              <a:buNone/>
            </a:pPr>
            <a:r>
              <a:rPr lang="en-US" sz="1100" b="1" dirty="0">
                <a:solidFill>
                  <a:srgbClr val="56616A"/>
                </a:solidFill>
                <a:latin typeface="Arial" pitchFamily="34" charset="0"/>
                <a:ea typeface="Arial" pitchFamily="34" charset="-122"/>
                <a:cs typeface="Arial" pitchFamily="34" charset="-120"/>
              </a:rPr>
              <a:t>LE SITE ESSENTIEL D’UN GARAGE</a:t>
            </a:r>
            <a:endParaRPr lang="en-US" sz="1100" dirty="0"/>
          </a:p>
        </p:txBody>
      </p:sp>
      <p:sp>
        <p:nvSpPr>
          <p:cNvPr id="4" name="Text 2"/>
          <p:cNvSpPr/>
          <p:nvPr/>
        </p:nvSpPr>
        <p:spPr>
          <a:xfrm>
            <a:off x="594360" y="896112"/>
            <a:ext cx="10972800" cy="1143000"/>
          </a:xfrm>
          <a:prstGeom prst="rect">
            <a:avLst/>
          </a:prstGeom>
          <a:noFill/>
          <a:ln/>
        </p:spPr>
        <p:txBody>
          <a:bodyPr wrap="square" lIns="0" tIns="0" rIns="0" bIns="0" rtlCol="0" anchor="ctr">
            <a:normAutofit/>
          </a:bodyPr>
          <a:lstStyle/>
          <a:p>
            <a:pPr indent="0" marL="0">
              <a:buNone/>
            </a:pPr>
            <a:r>
              <a:rPr lang="en-US" sz="3400" b="1" dirty="0">
                <a:solidFill>
                  <a:srgbClr val="171C20"/>
                </a:solidFill>
                <a:latin typeface="Arial" pitchFamily="34" charset="0"/>
                <a:ea typeface="Arial" pitchFamily="34" charset="-122"/>
                <a:cs typeface="Arial" pitchFamily="34" charset="-120"/>
              </a:rPr>
              <a:t>Simple pour le client.</a:t>
            </a:r>
            <a:endParaRPr lang="en-US" sz="3400" dirty="0"/>
          </a:p>
          <a:p>
            <a:pPr indent="0" marL="0">
              <a:buNone/>
            </a:pPr>
            <a:r>
              <a:rPr lang="en-US" sz="3400" b="1" dirty="0">
                <a:solidFill>
                  <a:srgbClr val="171C20"/>
                </a:solidFill>
                <a:latin typeface="Arial" pitchFamily="34" charset="0"/>
                <a:ea typeface="Arial" pitchFamily="34" charset="-122"/>
                <a:cs typeface="Arial" pitchFamily="34" charset="-120"/>
              </a:rPr>
              <a:t>Utile pour votre équipe.</a:t>
            </a:r>
            <a:endParaRPr lang="en-US" sz="3400" dirty="0"/>
          </a:p>
        </p:txBody>
      </p:sp>
      <p:sp>
        <p:nvSpPr>
          <p:cNvPr id="5" name="Shape 3"/>
          <p:cNvSpPr/>
          <p:nvPr/>
        </p:nvSpPr>
        <p:spPr>
          <a:xfrm>
            <a:off x="594360" y="2286000"/>
            <a:ext cx="5362956" cy="1655064"/>
          </a:xfrm>
          <a:prstGeom prst="roundRect">
            <a:avLst>
              <a:gd name="adj" fmla="val 3867"/>
            </a:avLst>
          </a:prstGeom>
          <a:solidFill>
            <a:srgbClr val="F0F3F5"/>
          </a:solidFill>
          <a:ln w="12700">
            <a:solidFill>
              <a:srgbClr val="F0F3F5"/>
            </a:solidFill>
            <a:prstDash val="solid"/>
          </a:ln>
        </p:spPr>
      </p:sp>
      <p:sp>
        <p:nvSpPr>
          <p:cNvPr id="6" name="Shape 4"/>
          <p:cNvSpPr/>
          <p:nvPr/>
        </p:nvSpPr>
        <p:spPr>
          <a:xfrm>
            <a:off x="804672" y="2505456"/>
            <a:ext cx="438912" cy="438912"/>
          </a:xfrm>
          <a:prstGeom prst="ellipse">
            <a:avLst/>
          </a:prstGeom>
          <a:solidFill>
            <a:srgbClr val="F56B32"/>
          </a:solidFill>
          <a:ln w="12700">
            <a:solidFill>
              <a:srgbClr val="F56B32"/>
            </a:solidFill>
            <a:prstDash val="solid"/>
          </a:ln>
        </p:spPr>
      </p:sp>
      <p:sp>
        <p:nvSpPr>
          <p:cNvPr id="7" name="Text 5"/>
          <p:cNvSpPr/>
          <p:nvPr/>
        </p:nvSpPr>
        <p:spPr>
          <a:xfrm>
            <a:off x="804672" y="2592324"/>
            <a:ext cx="438912" cy="22860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822960" y="3044952"/>
            <a:ext cx="4905756" cy="804672"/>
          </a:xfrm>
          <a:prstGeom prst="rect">
            <a:avLst/>
          </a:prstGeom>
          <a:noFill/>
          <a:ln/>
        </p:spPr>
        <p:txBody>
          <a:bodyPr wrap="square" lIns="0" tIns="0" rIns="0" bIns="0" rtlCol="0" anchor="ctr">
            <a:normAutofit/>
          </a:bodyPr>
          <a:lstStyle/>
          <a:p>
            <a:pPr indent="0" marL="0">
              <a:buNone/>
            </a:pPr>
            <a:r>
              <a:rPr lang="en-US" sz="1800" b="1" dirty="0">
                <a:solidFill>
                  <a:srgbClr val="171C20"/>
                </a:solidFill>
                <a:latin typeface="Arial" pitchFamily="34" charset="0"/>
                <a:ea typeface="Arial" pitchFamily="34" charset="-122"/>
                <a:cs typeface="Arial" pitchFamily="34" charset="-120"/>
              </a:rPr>
              <a:t>Services précis : véhicules acceptés, freins, pneus, entretien, diagnostic.</a:t>
            </a:r>
            <a:endParaRPr lang="en-US" sz="1800" dirty="0"/>
          </a:p>
        </p:txBody>
      </p:sp>
      <p:sp>
        <p:nvSpPr>
          <p:cNvPr id="9" name="Shape 7"/>
          <p:cNvSpPr/>
          <p:nvPr/>
        </p:nvSpPr>
        <p:spPr>
          <a:xfrm>
            <a:off x="6231636" y="2286000"/>
            <a:ext cx="5362956" cy="1655064"/>
          </a:xfrm>
          <a:prstGeom prst="roundRect">
            <a:avLst>
              <a:gd name="adj" fmla="val 3867"/>
            </a:avLst>
          </a:prstGeom>
          <a:solidFill>
            <a:srgbClr val="F0F3F5"/>
          </a:solidFill>
          <a:ln w="12700">
            <a:solidFill>
              <a:srgbClr val="F0F3F5"/>
            </a:solidFill>
            <a:prstDash val="solid"/>
          </a:ln>
        </p:spPr>
      </p:sp>
      <p:sp>
        <p:nvSpPr>
          <p:cNvPr id="10" name="Shape 8"/>
          <p:cNvSpPr/>
          <p:nvPr/>
        </p:nvSpPr>
        <p:spPr>
          <a:xfrm>
            <a:off x="6441948" y="2505456"/>
            <a:ext cx="438912" cy="438912"/>
          </a:xfrm>
          <a:prstGeom prst="ellipse">
            <a:avLst/>
          </a:prstGeom>
          <a:solidFill>
            <a:srgbClr val="F56B32"/>
          </a:solidFill>
          <a:ln w="12700">
            <a:solidFill>
              <a:srgbClr val="F56B32"/>
            </a:solidFill>
            <a:prstDash val="solid"/>
          </a:ln>
        </p:spPr>
      </p:sp>
      <p:sp>
        <p:nvSpPr>
          <p:cNvPr id="11" name="Text 9"/>
          <p:cNvSpPr/>
          <p:nvPr/>
        </p:nvSpPr>
        <p:spPr>
          <a:xfrm>
            <a:off x="6441948" y="2592324"/>
            <a:ext cx="438912" cy="22860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10"/>
          <p:cNvSpPr/>
          <p:nvPr/>
        </p:nvSpPr>
        <p:spPr>
          <a:xfrm>
            <a:off x="6460236" y="3044952"/>
            <a:ext cx="4905756" cy="804672"/>
          </a:xfrm>
          <a:prstGeom prst="rect">
            <a:avLst/>
          </a:prstGeom>
          <a:noFill/>
          <a:ln/>
        </p:spPr>
        <p:txBody>
          <a:bodyPr wrap="square" lIns="0" tIns="0" rIns="0" bIns="0" rtlCol="0" anchor="ctr">
            <a:normAutofit/>
          </a:bodyPr>
          <a:lstStyle/>
          <a:p>
            <a:pPr indent="0" marL="0">
              <a:buNone/>
            </a:pPr>
            <a:r>
              <a:rPr lang="en-US" sz="1800" b="1" dirty="0">
                <a:solidFill>
                  <a:srgbClr val="171C20"/>
                </a:solidFill>
                <a:latin typeface="Arial" pitchFamily="34" charset="0"/>
                <a:ea typeface="Arial" pitchFamily="34" charset="-122"/>
                <a:cs typeface="Arial" pitchFamily="34" charset="-120"/>
              </a:rPr>
              <a:t>Preuves réelles : atelier, équipe, avis et engagements vérifiables.</a:t>
            </a:r>
            <a:endParaRPr lang="en-US" sz="1800" dirty="0"/>
          </a:p>
        </p:txBody>
      </p:sp>
      <p:sp>
        <p:nvSpPr>
          <p:cNvPr id="13" name="Shape 11"/>
          <p:cNvSpPr/>
          <p:nvPr/>
        </p:nvSpPr>
        <p:spPr>
          <a:xfrm>
            <a:off x="594360" y="4215384"/>
            <a:ext cx="5362956" cy="1655064"/>
          </a:xfrm>
          <a:prstGeom prst="roundRect">
            <a:avLst>
              <a:gd name="adj" fmla="val 3867"/>
            </a:avLst>
          </a:prstGeom>
          <a:solidFill>
            <a:srgbClr val="F0F3F5"/>
          </a:solidFill>
          <a:ln w="12700">
            <a:solidFill>
              <a:srgbClr val="F0F3F5"/>
            </a:solidFill>
            <a:prstDash val="solid"/>
          </a:ln>
        </p:spPr>
      </p:sp>
      <p:sp>
        <p:nvSpPr>
          <p:cNvPr id="14" name="Shape 12"/>
          <p:cNvSpPr/>
          <p:nvPr/>
        </p:nvSpPr>
        <p:spPr>
          <a:xfrm>
            <a:off x="804672" y="4434840"/>
            <a:ext cx="438912" cy="438912"/>
          </a:xfrm>
          <a:prstGeom prst="ellipse">
            <a:avLst/>
          </a:prstGeom>
          <a:solidFill>
            <a:srgbClr val="F56B32"/>
          </a:solidFill>
          <a:ln w="12700">
            <a:solidFill>
              <a:srgbClr val="F56B32"/>
            </a:solidFill>
            <a:prstDash val="solid"/>
          </a:ln>
        </p:spPr>
      </p:sp>
      <p:sp>
        <p:nvSpPr>
          <p:cNvPr id="15" name="Text 13"/>
          <p:cNvSpPr/>
          <p:nvPr/>
        </p:nvSpPr>
        <p:spPr>
          <a:xfrm>
            <a:off x="804672" y="4521708"/>
            <a:ext cx="438912" cy="22860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6" name="Text 14"/>
          <p:cNvSpPr/>
          <p:nvPr/>
        </p:nvSpPr>
        <p:spPr>
          <a:xfrm>
            <a:off x="822960" y="4974336"/>
            <a:ext cx="4905756" cy="804672"/>
          </a:xfrm>
          <a:prstGeom prst="rect">
            <a:avLst/>
          </a:prstGeom>
          <a:noFill/>
          <a:ln/>
        </p:spPr>
        <p:txBody>
          <a:bodyPr wrap="square" lIns="0" tIns="0" rIns="0" bIns="0" rtlCol="0" anchor="ctr">
            <a:normAutofit/>
          </a:bodyPr>
          <a:lstStyle/>
          <a:p>
            <a:pPr indent="0" marL="0">
              <a:buNone/>
            </a:pPr>
            <a:r>
              <a:rPr lang="en-US" sz="1800" b="1" dirty="0">
                <a:solidFill>
                  <a:srgbClr val="171C20"/>
                </a:solidFill>
                <a:latin typeface="Arial" pitchFamily="34" charset="0"/>
                <a:ea typeface="Arial" pitchFamily="34" charset="-122"/>
                <a:cs typeface="Arial" pitchFamily="34" charset="-120"/>
              </a:rPr>
              <a:t>Contact immédiat : téléphone, carte, horaires et formulaire court.</a:t>
            </a:r>
            <a:endParaRPr lang="en-US" sz="1800" dirty="0"/>
          </a:p>
        </p:txBody>
      </p:sp>
      <p:sp>
        <p:nvSpPr>
          <p:cNvPr id="17" name="Shape 15"/>
          <p:cNvSpPr/>
          <p:nvPr/>
        </p:nvSpPr>
        <p:spPr>
          <a:xfrm>
            <a:off x="6231636" y="4215384"/>
            <a:ext cx="5362956" cy="1655064"/>
          </a:xfrm>
          <a:prstGeom prst="roundRect">
            <a:avLst>
              <a:gd name="adj" fmla="val 3867"/>
            </a:avLst>
          </a:prstGeom>
          <a:solidFill>
            <a:srgbClr val="F0F3F5"/>
          </a:solidFill>
          <a:ln w="12700">
            <a:solidFill>
              <a:srgbClr val="F0F3F5"/>
            </a:solidFill>
            <a:prstDash val="solid"/>
          </a:ln>
        </p:spPr>
      </p:sp>
      <p:sp>
        <p:nvSpPr>
          <p:cNvPr id="18" name="Shape 16"/>
          <p:cNvSpPr/>
          <p:nvPr/>
        </p:nvSpPr>
        <p:spPr>
          <a:xfrm>
            <a:off x="6441948" y="4434840"/>
            <a:ext cx="438912" cy="438912"/>
          </a:xfrm>
          <a:prstGeom prst="ellipse">
            <a:avLst/>
          </a:prstGeom>
          <a:solidFill>
            <a:srgbClr val="F56B32"/>
          </a:solidFill>
          <a:ln w="12700">
            <a:solidFill>
              <a:srgbClr val="F56B32"/>
            </a:solidFill>
            <a:prstDash val="solid"/>
          </a:ln>
        </p:spPr>
      </p:sp>
      <p:sp>
        <p:nvSpPr>
          <p:cNvPr id="19" name="Text 17"/>
          <p:cNvSpPr/>
          <p:nvPr/>
        </p:nvSpPr>
        <p:spPr>
          <a:xfrm>
            <a:off x="6441948" y="4521708"/>
            <a:ext cx="438912" cy="22860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0" name="Text 18"/>
          <p:cNvSpPr/>
          <p:nvPr/>
        </p:nvSpPr>
        <p:spPr>
          <a:xfrm>
            <a:off x="6460236" y="4974336"/>
            <a:ext cx="4905756" cy="804672"/>
          </a:xfrm>
          <a:prstGeom prst="rect">
            <a:avLst/>
          </a:prstGeom>
          <a:noFill/>
          <a:ln/>
        </p:spPr>
        <p:txBody>
          <a:bodyPr wrap="square" lIns="0" tIns="0" rIns="0" bIns="0" rtlCol="0" anchor="ctr">
            <a:normAutofit/>
          </a:bodyPr>
          <a:lstStyle/>
          <a:p>
            <a:pPr indent="0" marL="0">
              <a:buNone/>
            </a:pPr>
            <a:r>
              <a:rPr lang="en-US" sz="1800" b="1" dirty="0">
                <a:solidFill>
                  <a:srgbClr val="171C20"/>
                </a:solidFill>
                <a:latin typeface="Arial" pitchFamily="34" charset="0"/>
                <a:ea typeface="Arial" pitchFamily="34" charset="-122"/>
                <a:cs typeface="Arial" pitchFamily="34" charset="-120"/>
              </a:rPr>
              <a:t>Suivi fiable : accusé de réception et délai de réponse annoncé.</a:t>
            </a:r>
            <a:endParaRPr lang="en-US" sz="1800" dirty="0"/>
          </a:p>
        </p:txBody>
      </p:sp>
      <p:sp>
        <p:nvSpPr>
          <p:cNvPr id="21" name="Text 19"/>
          <p:cNvSpPr/>
          <p:nvPr/>
        </p:nvSpPr>
        <p:spPr>
          <a:xfrm>
            <a:off x="594360" y="6519672"/>
            <a:ext cx="7315200" cy="182880"/>
          </a:xfrm>
          <a:prstGeom prst="rect">
            <a:avLst/>
          </a:prstGeom>
          <a:noFill/>
          <a:ln/>
        </p:spPr>
        <p:txBody>
          <a:bodyPr wrap="square" lIns="0" tIns="0" rIns="0" bIns="0" rtlCol="0" anchor="ctr">
            <a:normAutofit/>
          </a:bodyPr>
          <a:lstStyle/>
          <a:p>
            <a:pPr indent="0" marL="0">
              <a:buNone/>
            </a:pPr>
            <a:r>
              <a:rPr lang="en-US" sz="900" dirty="0">
                <a:solidFill>
                  <a:srgbClr val="56616A"/>
                </a:solidFill>
                <a:latin typeface="Arial" pitchFamily="34" charset="0"/>
                <a:ea typeface="Arial" pitchFamily="34" charset="-122"/>
                <a:cs typeface="Arial" pitchFamily="34" charset="-120"/>
              </a:rPr>
              <a:t>VISION TECH AI  /  GARAGES</a:t>
            </a:r>
            <a:endParaRPr lang="en-US" sz="900" dirty="0"/>
          </a:p>
        </p:txBody>
      </p:sp>
      <p:sp>
        <p:nvSpPr>
          <p:cNvPr id="22" name="Text 20"/>
          <p:cNvSpPr/>
          <p:nvPr/>
        </p:nvSpPr>
        <p:spPr>
          <a:xfrm>
            <a:off x="10789920" y="6473952"/>
            <a:ext cx="777240" cy="228600"/>
          </a:xfrm>
          <a:prstGeom prst="rect">
            <a:avLst/>
          </a:prstGeom>
          <a:noFill/>
          <a:ln/>
        </p:spPr>
        <p:txBody>
          <a:bodyPr wrap="square" lIns="0" tIns="0" rIns="0" bIns="0" rtlCol="0" anchor="ctr">
            <a:normAutofit/>
          </a:bodyPr>
          <a:lstStyle/>
          <a:p>
            <a:pPr algn="r" indent="0" marL="0">
              <a:buNone/>
            </a:pPr>
            <a:r>
              <a:rPr lang="en-US" sz="1100" dirty="0">
                <a:solidFill>
                  <a:srgbClr val="56616A"/>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594360" y="365760"/>
            <a:ext cx="10698480" cy="274320"/>
          </a:xfrm>
          <a:prstGeom prst="rect">
            <a:avLst/>
          </a:prstGeom>
          <a:noFill/>
          <a:ln/>
        </p:spPr>
        <p:txBody>
          <a:bodyPr wrap="square" lIns="0" tIns="0" rIns="0" bIns="0" rtlCol="0" anchor="ctr">
            <a:normAutofit/>
          </a:bodyPr>
          <a:lstStyle/>
          <a:p>
            <a:pPr indent="0" marL="0">
              <a:buNone/>
            </a:pPr>
            <a:r>
              <a:rPr lang="en-US" sz="1100" b="1" dirty="0">
                <a:solidFill>
                  <a:srgbClr val="56616A"/>
                </a:solidFill>
                <a:latin typeface="Arial" pitchFamily="34" charset="0"/>
                <a:ea typeface="Arial" pitchFamily="34" charset="-122"/>
                <a:cs typeface="Arial" pitchFamily="34" charset="-120"/>
              </a:rPr>
              <a:t>SIMULATION • HYPOTHÈSES, PAS UNE PRÉVISION</a:t>
            </a:r>
            <a:endParaRPr lang="en-US" sz="1100" dirty="0"/>
          </a:p>
        </p:txBody>
      </p:sp>
      <p:sp>
        <p:nvSpPr>
          <p:cNvPr id="4" name="Text 2"/>
          <p:cNvSpPr/>
          <p:nvPr/>
        </p:nvSpPr>
        <p:spPr>
          <a:xfrm>
            <a:off x="594360" y="896112"/>
            <a:ext cx="10972800" cy="1143000"/>
          </a:xfrm>
          <a:prstGeom prst="rect">
            <a:avLst/>
          </a:prstGeom>
          <a:noFill/>
          <a:ln/>
        </p:spPr>
        <p:txBody>
          <a:bodyPr wrap="square" lIns="0" tIns="0" rIns="0" bIns="0" rtlCol="0" anchor="ctr">
            <a:normAutofit/>
          </a:bodyPr>
          <a:lstStyle/>
          <a:p>
            <a:pPr indent="0" marL="0">
              <a:buNone/>
            </a:pPr>
            <a:r>
              <a:rPr lang="en-US" sz="3400" b="1" dirty="0">
                <a:solidFill>
                  <a:srgbClr val="171C20"/>
                </a:solidFill>
                <a:latin typeface="Arial" pitchFamily="34" charset="0"/>
                <a:ea typeface="Arial" pitchFamily="34" charset="-122"/>
                <a:cs typeface="Arial" pitchFamily="34" charset="-120"/>
              </a:rPr>
              <a:t>Combien de visites pour</a:t>
            </a:r>
            <a:endParaRPr lang="en-US" sz="3400" dirty="0"/>
          </a:p>
          <a:p>
            <a:pPr indent="0" marL="0">
              <a:buNone/>
            </a:pPr>
            <a:r>
              <a:rPr lang="en-US" sz="3400" b="1" dirty="0">
                <a:solidFill>
                  <a:srgbClr val="171C20"/>
                </a:solidFill>
                <a:latin typeface="Arial" pitchFamily="34" charset="0"/>
                <a:ea typeface="Arial" pitchFamily="34" charset="-122"/>
                <a:cs typeface="Arial" pitchFamily="34" charset="-120"/>
              </a:rPr>
              <a:t>couvrir le coût du site ?</a:t>
            </a:r>
            <a:endParaRPr lang="en-US" sz="3400" dirty="0"/>
          </a:p>
        </p:txBody>
      </p:sp>
      <p:sp>
        <p:nvSpPr>
          <p:cNvPr id="5" name="Shape 3"/>
          <p:cNvSpPr/>
          <p:nvPr/>
        </p:nvSpPr>
        <p:spPr>
          <a:xfrm>
            <a:off x="594360" y="2377440"/>
            <a:ext cx="4069080" cy="3200400"/>
          </a:xfrm>
          <a:prstGeom prst="roundRect">
            <a:avLst>
              <a:gd name="adj" fmla="val 2857"/>
            </a:avLst>
          </a:prstGeom>
          <a:solidFill>
            <a:srgbClr val="171C20"/>
          </a:solidFill>
          <a:ln w="12700">
            <a:solidFill>
              <a:srgbClr val="171C20"/>
            </a:solidFill>
            <a:prstDash val="solid"/>
          </a:ln>
        </p:spPr>
      </p:sp>
      <p:sp>
        <p:nvSpPr>
          <p:cNvPr id="6" name="Text 4"/>
          <p:cNvSpPr/>
          <p:nvPr/>
        </p:nvSpPr>
        <p:spPr>
          <a:xfrm>
            <a:off x="868680" y="2880360"/>
            <a:ext cx="3520440" cy="1371600"/>
          </a:xfrm>
          <a:prstGeom prst="rect">
            <a:avLst/>
          </a:prstGeom>
          <a:noFill/>
          <a:ln/>
        </p:spPr>
        <p:txBody>
          <a:bodyPr wrap="square" lIns="0" tIns="0" rIns="0" bIns="0" rtlCol="0" anchor="ctr">
            <a:normAutofit/>
          </a:bodyPr>
          <a:lstStyle/>
          <a:p>
            <a:pPr indent="0" marL="0">
              <a:buNone/>
            </a:pPr>
            <a:r>
              <a:rPr lang="en-US" sz="4100" b="1" dirty="0">
                <a:solidFill>
                  <a:srgbClr val="F56B32"/>
                </a:solidFill>
                <a:latin typeface="Arial" pitchFamily="34" charset="0"/>
                <a:ea typeface="Arial" pitchFamily="34" charset="-122"/>
                <a:cs typeface="Arial" pitchFamily="34" charset="-120"/>
              </a:rPr>
              <a:t>5 visites / mois</a:t>
            </a:r>
            <a:endParaRPr lang="en-US" sz="4100" dirty="0"/>
          </a:p>
        </p:txBody>
      </p:sp>
      <p:sp>
        <p:nvSpPr>
          <p:cNvPr id="7" name="Text 5"/>
          <p:cNvSpPr/>
          <p:nvPr/>
        </p:nvSpPr>
        <p:spPr>
          <a:xfrm>
            <a:off x="5120640" y="2450592"/>
            <a:ext cx="6309360" cy="1005840"/>
          </a:xfrm>
          <a:prstGeom prst="rect">
            <a:avLst/>
          </a:prstGeom>
          <a:noFill/>
          <a:ln/>
        </p:spPr>
        <p:txBody>
          <a:bodyPr wrap="square" lIns="0" tIns="0" rIns="0" bIns="0" rtlCol="0" anchor="ctr">
            <a:normAutofit/>
          </a:bodyPr>
          <a:lstStyle/>
          <a:p>
            <a:pPr indent="0" marL="0">
              <a:buNone/>
            </a:pPr>
            <a:r>
              <a:rPr lang="en-US" sz="2400" b="1" dirty="0">
                <a:solidFill>
                  <a:srgbClr val="171C20"/>
                </a:solidFill>
                <a:latin typeface="Arial" pitchFamily="34" charset="0"/>
                <a:ea typeface="Arial" pitchFamily="34" charset="-122"/>
                <a:cs typeface="Arial" pitchFamily="34" charset="-120"/>
              </a:rPr>
              <a:t>Budget fictif : 3 000 $ de création amortis sur 24 mois + 125 $/mois = 250 $/mois.</a:t>
            </a:r>
            <a:endParaRPr lang="en-US" sz="2400" dirty="0"/>
          </a:p>
        </p:txBody>
      </p:sp>
      <p:sp>
        <p:nvSpPr>
          <p:cNvPr id="8" name="Text 6"/>
          <p:cNvSpPr/>
          <p:nvPr/>
        </p:nvSpPr>
        <p:spPr>
          <a:xfrm>
            <a:off x="5120640" y="3675888"/>
            <a:ext cx="6217920" cy="1874520"/>
          </a:xfrm>
          <a:prstGeom prst="rect">
            <a:avLst/>
          </a:prstGeom>
          <a:noFill/>
          <a:ln/>
        </p:spPr>
        <p:txBody>
          <a:bodyPr wrap="square" lIns="0" tIns="0" rIns="0" bIns="0" rtlCol="0" anchor="ctr">
            <a:normAutofit/>
          </a:bodyPr>
          <a:lstStyle/>
          <a:p>
            <a:pPr indent="0" marL="0">
              <a:buNone/>
            </a:pPr>
            <a:r>
              <a:rPr lang="en-US" sz="1900" dirty="0">
                <a:solidFill>
                  <a:srgbClr val="56616A"/>
                </a:solidFill>
                <a:latin typeface="Arial" pitchFamily="34" charset="0"/>
                <a:ea typeface="Arial" pitchFamily="34" charset="-122"/>
                <a:cs typeface="Arial" pitchFamily="34" charset="-120"/>
              </a:rPr>
              <a:t>Hypothèse de contribution : 60 $ par visite supplémentaire, après coûts variables.</a:t>
            </a:r>
            <a:endParaRPr lang="en-US" sz="1900" dirty="0"/>
          </a:p>
          <a:p>
            <a:pPr indent="0" marL="0">
              <a:buNone/>
            </a:pPr>
            <a:endParaRPr lang="en-US" sz="1900" dirty="0"/>
          </a:p>
          <a:p>
            <a:pPr indent="0" marL="0">
              <a:buNone/>
            </a:pPr>
            <a:r>
              <a:rPr lang="en-US" sz="1900" dirty="0">
                <a:solidFill>
                  <a:srgbClr val="56616A"/>
                </a:solidFill>
                <a:latin typeface="Arial" pitchFamily="34" charset="0"/>
                <a:ea typeface="Arial" pitchFamily="34" charset="-122"/>
                <a:cs typeface="Arial" pitchFamily="34" charset="-120"/>
              </a:rPr>
              <a:t>250 $ ÷ 60 $ = 4,17 → 5 visites supplémentaires par mois.</a:t>
            </a:r>
            <a:endParaRPr lang="en-US" sz="1900" dirty="0"/>
          </a:p>
        </p:txBody>
      </p:sp>
      <p:sp>
        <p:nvSpPr>
          <p:cNvPr id="9" name="Text 7"/>
          <p:cNvSpPr/>
          <p:nvPr/>
        </p:nvSpPr>
        <p:spPr>
          <a:xfrm>
            <a:off x="594360" y="6519672"/>
            <a:ext cx="7315200" cy="182880"/>
          </a:xfrm>
          <a:prstGeom prst="rect">
            <a:avLst/>
          </a:prstGeom>
          <a:noFill/>
          <a:ln/>
        </p:spPr>
        <p:txBody>
          <a:bodyPr wrap="square" lIns="0" tIns="0" rIns="0" bIns="0" rtlCol="0" anchor="ctr">
            <a:normAutofit/>
          </a:bodyPr>
          <a:lstStyle/>
          <a:p>
            <a:pPr indent="0" marL="0">
              <a:buNone/>
            </a:pPr>
            <a:r>
              <a:rPr lang="en-US" sz="900" dirty="0">
                <a:solidFill>
                  <a:srgbClr val="56616A"/>
                </a:solidFill>
                <a:latin typeface="Arial" pitchFamily="34" charset="0"/>
                <a:ea typeface="Arial" pitchFamily="34" charset="-122"/>
                <a:cs typeface="Arial" pitchFamily="34" charset="-120"/>
              </a:rPr>
              <a:t>VISION TECH AI  /  GARAGES</a:t>
            </a:r>
            <a:endParaRPr lang="en-US" sz="900" dirty="0"/>
          </a:p>
        </p:txBody>
      </p:sp>
      <p:sp>
        <p:nvSpPr>
          <p:cNvPr id="10" name="Text 8"/>
          <p:cNvSpPr/>
          <p:nvPr/>
        </p:nvSpPr>
        <p:spPr>
          <a:xfrm>
            <a:off x="10789920" y="6473952"/>
            <a:ext cx="777240" cy="228600"/>
          </a:xfrm>
          <a:prstGeom prst="rect">
            <a:avLst/>
          </a:prstGeom>
          <a:noFill/>
          <a:ln/>
        </p:spPr>
        <p:txBody>
          <a:bodyPr wrap="square" lIns="0" tIns="0" rIns="0" bIns="0" rtlCol="0" anchor="ctr">
            <a:normAutofit/>
          </a:bodyPr>
          <a:lstStyle/>
          <a:p>
            <a:pPr algn="r" indent="0" marL="0">
              <a:buNone/>
            </a:pPr>
            <a:r>
              <a:rPr lang="en-US" sz="1100" dirty="0">
                <a:solidFill>
                  <a:srgbClr val="56616A"/>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594360" y="365760"/>
            <a:ext cx="10698480" cy="274320"/>
          </a:xfrm>
          <a:prstGeom prst="rect">
            <a:avLst/>
          </a:prstGeom>
          <a:noFill/>
          <a:ln/>
        </p:spPr>
        <p:txBody>
          <a:bodyPr wrap="square" lIns="0" tIns="0" rIns="0" bIns="0" rtlCol="0" anchor="ctr">
            <a:normAutofit/>
          </a:bodyPr>
          <a:lstStyle/>
          <a:p>
            <a:pPr indent="0" marL="0">
              <a:buNone/>
            </a:pPr>
            <a:r>
              <a:rPr lang="en-US" sz="1100" b="1" dirty="0">
                <a:solidFill>
                  <a:srgbClr val="56616A"/>
                </a:solidFill>
                <a:latin typeface="Arial" pitchFamily="34" charset="0"/>
                <a:ea typeface="Arial" pitchFamily="34" charset="-122"/>
                <a:cs typeface="Arial" pitchFamily="34" charset="-120"/>
              </a:rPr>
              <a:t>LES OBJECTIONS DES PROPRIÉTAIRES</a:t>
            </a:r>
            <a:endParaRPr lang="en-US" sz="1100" dirty="0"/>
          </a:p>
        </p:txBody>
      </p:sp>
      <p:sp>
        <p:nvSpPr>
          <p:cNvPr id="4" name="Text 2"/>
          <p:cNvSpPr/>
          <p:nvPr/>
        </p:nvSpPr>
        <p:spPr>
          <a:xfrm>
            <a:off x="594360" y="896112"/>
            <a:ext cx="10972800" cy="1143000"/>
          </a:xfrm>
          <a:prstGeom prst="rect">
            <a:avLst/>
          </a:prstGeom>
          <a:noFill/>
          <a:ln/>
        </p:spPr>
        <p:txBody>
          <a:bodyPr wrap="square" lIns="0" tIns="0" rIns="0" bIns="0" rtlCol="0" anchor="ctr">
            <a:normAutofit/>
          </a:bodyPr>
          <a:lstStyle/>
          <a:p>
            <a:pPr indent="0" marL="0">
              <a:buNone/>
            </a:pPr>
            <a:r>
              <a:rPr lang="en-US" sz="3400" b="1" dirty="0">
                <a:solidFill>
                  <a:srgbClr val="171C20"/>
                </a:solidFill>
                <a:latin typeface="Arial" pitchFamily="34" charset="0"/>
                <a:ea typeface="Arial" pitchFamily="34" charset="-122"/>
                <a:cs typeface="Arial" pitchFamily="34" charset="-120"/>
              </a:rPr>
              <a:t>Votre réalité devient</a:t>
            </a:r>
            <a:endParaRPr lang="en-US" sz="3400" dirty="0"/>
          </a:p>
          <a:p>
            <a:pPr indent="0" marL="0">
              <a:buNone/>
            </a:pPr>
            <a:r>
              <a:rPr lang="en-US" sz="3400" b="1" dirty="0">
                <a:solidFill>
                  <a:srgbClr val="171C20"/>
                </a:solidFill>
                <a:latin typeface="Arial" pitchFamily="34" charset="0"/>
                <a:ea typeface="Arial" pitchFamily="34" charset="-122"/>
                <a:cs typeface="Arial" pitchFamily="34" charset="-120"/>
              </a:rPr>
              <a:t>le point de départ.</a:t>
            </a:r>
            <a:endParaRPr lang="en-US" sz="3400" dirty="0"/>
          </a:p>
        </p:txBody>
      </p:sp>
      <p:sp>
        <p:nvSpPr>
          <p:cNvPr id="5" name="Shape 3"/>
          <p:cNvSpPr/>
          <p:nvPr/>
        </p:nvSpPr>
        <p:spPr>
          <a:xfrm>
            <a:off x="594360" y="2286000"/>
            <a:ext cx="3483864" cy="3584448"/>
          </a:xfrm>
          <a:prstGeom prst="roundRect">
            <a:avLst>
              <a:gd name="adj" fmla="val 1837"/>
            </a:avLst>
          </a:prstGeom>
          <a:solidFill>
            <a:srgbClr val="F0F3F5"/>
          </a:solidFill>
          <a:ln w="12700">
            <a:solidFill>
              <a:srgbClr val="F0F3F5"/>
            </a:solidFill>
            <a:prstDash val="solid"/>
          </a:ln>
        </p:spPr>
      </p:sp>
      <p:sp>
        <p:nvSpPr>
          <p:cNvPr id="6" name="Shape 4"/>
          <p:cNvSpPr/>
          <p:nvPr/>
        </p:nvSpPr>
        <p:spPr>
          <a:xfrm>
            <a:off x="804672" y="2505456"/>
            <a:ext cx="438912" cy="438912"/>
          </a:xfrm>
          <a:prstGeom prst="ellipse">
            <a:avLst/>
          </a:prstGeom>
          <a:solidFill>
            <a:srgbClr val="F56B32"/>
          </a:solidFill>
          <a:ln w="12700">
            <a:solidFill>
              <a:srgbClr val="F56B32"/>
            </a:solidFill>
            <a:prstDash val="solid"/>
          </a:ln>
        </p:spPr>
      </p:sp>
      <p:sp>
        <p:nvSpPr>
          <p:cNvPr id="7" name="Text 5"/>
          <p:cNvSpPr/>
          <p:nvPr/>
        </p:nvSpPr>
        <p:spPr>
          <a:xfrm>
            <a:off x="804672" y="2592324"/>
            <a:ext cx="438912" cy="22860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822960" y="3200400"/>
            <a:ext cx="3026664" cy="2578608"/>
          </a:xfrm>
          <a:prstGeom prst="rect">
            <a:avLst/>
          </a:prstGeom>
          <a:noFill/>
          <a:ln/>
        </p:spPr>
        <p:txBody>
          <a:bodyPr wrap="square" lIns="0" tIns="0" rIns="0" bIns="0" rtlCol="0" anchor="ctr">
            <a:normAutofit/>
          </a:bodyPr>
          <a:lstStyle/>
          <a:p>
            <a:pPr indent="0" marL="0">
              <a:buNone/>
            </a:pPr>
            <a:r>
              <a:rPr lang="en-US" sz="2000" b="1" dirty="0">
                <a:solidFill>
                  <a:srgbClr val="171C20"/>
                </a:solidFill>
                <a:latin typeface="Arial" pitchFamily="34" charset="0"/>
                <a:ea typeface="Arial" pitchFamily="34" charset="-122"/>
                <a:cs typeface="Arial" pitchFamily="34" charset="-120"/>
              </a:rPr>
              <a:t>« J’ai déjà le bouche-à-oreille. »</a:t>
            </a:r>
            <a:endParaRPr lang="en-US" sz="2000" dirty="0"/>
          </a:p>
          <a:p>
            <a:pPr indent="0" marL="0">
              <a:buNone/>
            </a:pPr>
            <a:endParaRPr lang="en-US" sz="2000" dirty="0"/>
          </a:p>
          <a:p>
            <a:pPr indent="0" marL="0">
              <a:buNone/>
            </a:pPr>
            <a:r>
              <a:rPr lang="en-US" sz="2000" b="1" dirty="0">
                <a:solidFill>
                  <a:srgbClr val="171C20"/>
                </a:solidFill>
                <a:latin typeface="Arial" pitchFamily="34" charset="0"/>
                <a:ea typeface="Arial" pitchFamily="34" charset="-122"/>
                <a:cs typeface="Arial" pitchFamily="34" charset="-120"/>
              </a:rPr>
              <a:t>Le site aide la personne recommandée à vous vérifier.</a:t>
            </a:r>
            <a:endParaRPr lang="en-US" sz="2000" dirty="0"/>
          </a:p>
        </p:txBody>
      </p:sp>
      <p:sp>
        <p:nvSpPr>
          <p:cNvPr id="9" name="Shape 7"/>
          <p:cNvSpPr/>
          <p:nvPr/>
        </p:nvSpPr>
        <p:spPr>
          <a:xfrm>
            <a:off x="4352544" y="2286000"/>
            <a:ext cx="3483864" cy="3584448"/>
          </a:xfrm>
          <a:prstGeom prst="roundRect">
            <a:avLst>
              <a:gd name="adj" fmla="val 1837"/>
            </a:avLst>
          </a:prstGeom>
          <a:solidFill>
            <a:srgbClr val="F0F3F5"/>
          </a:solidFill>
          <a:ln w="12700">
            <a:solidFill>
              <a:srgbClr val="F0F3F5"/>
            </a:solidFill>
            <a:prstDash val="solid"/>
          </a:ln>
        </p:spPr>
      </p:sp>
      <p:sp>
        <p:nvSpPr>
          <p:cNvPr id="10" name="Shape 8"/>
          <p:cNvSpPr/>
          <p:nvPr/>
        </p:nvSpPr>
        <p:spPr>
          <a:xfrm>
            <a:off x="4562856" y="2505456"/>
            <a:ext cx="438912" cy="438912"/>
          </a:xfrm>
          <a:prstGeom prst="ellipse">
            <a:avLst/>
          </a:prstGeom>
          <a:solidFill>
            <a:srgbClr val="F56B32"/>
          </a:solidFill>
          <a:ln w="12700">
            <a:solidFill>
              <a:srgbClr val="F56B32"/>
            </a:solidFill>
            <a:prstDash val="solid"/>
          </a:ln>
        </p:spPr>
      </p:sp>
      <p:sp>
        <p:nvSpPr>
          <p:cNvPr id="11" name="Text 9"/>
          <p:cNvSpPr/>
          <p:nvPr/>
        </p:nvSpPr>
        <p:spPr>
          <a:xfrm>
            <a:off x="4562856" y="2592324"/>
            <a:ext cx="438912" cy="22860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10"/>
          <p:cNvSpPr/>
          <p:nvPr/>
        </p:nvSpPr>
        <p:spPr>
          <a:xfrm>
            <a:off x="4581144" y="3200400"/>
            <a:ext cx="3026664" cy="2578608"/>
          </a:xfrm>
          <a:prstGeom prst="rect">
            <a:avLst/>
          </a:prstGeom>
          <a:noFill/>
          <a:ln/>
        </p:spPr>
        <p:txBody>
          <a:bodyPr wrap="square" lIns="0" tIns="0" rIns="0" bIns="0" rtlCol="0" anchor="ctr">
            <a:normAutofit/>
          </a:bodyPr>
          <a:lstStyle/>
          <a:p>
            <a:pPr indent="0" marL="0">
              <a:buNone/>
            </a:pPr>
            <a:r>
              <a:rPr lang="en-US" sz="2000" b="1" dirty="0">
                <a:solidFill>
                  <a:srgbClr val="171C20"/>
                </a:solidFill>
                <a:latin typeface="Arial" pitchFamily="34" charset="0"/>
                <a:ea typeface="Arial" pitchFamily="34" charset="-122"/>
                <a:cs typeface="Arial" pitchFamily="34" charset="-120"/>
              </a:rPr>
              <a:t>« J’ai déjà Facebook. »</a:t>
            </a:r>
            <a:endParaRPr lang="en-US" sz="2000" dirty="0"/>
          </a:p>
          <a:p>
            <a:pPr indent="0" marL="0">
              <a:buNone/>
            </a:pPr>
            <a:endParaRPr lang="en-US" sz="2000" dirty="0"/>
          </a:p>
          <a:p>
            <a:pPr indent="0" marL="0">
              <a:buNone/>
            </a:pPr>
            <a:r>
              <a:rPr lang="en-US" sz="2000" b="1" dirty="0">
                <a:solidFill>
                  <a:srgbClr val="171C20"/>
                </a:solidFill>
                <a:latin typeface="Arial" pitchFamily="34" charset="0"/>
                <a:ea typeface="Arial" pitchFamily="34" charset="-122"/>
                <a:cs typeface="Arial" pitchFamily="34" charset="-120"/>
              </a:rPr>
              <a:t>Le site centralise vos services et vos demandes sur votre domaine.</a:t>
            </a:r>
            <a:endParaRPr lang="en-US" sz="2000" dirty="0"/>
          </a:p>
        </p:txBody>
      </p:sp>
      <p:sp>
        <p:nvSpPr>
          <p:cNvPr id="13" name="Shape 11"/>
          <p:cNvSpPr/>
          <p:nvPr/>
        </p:nvSpPr>
        <p:spPr>
          <a:xfrm>
            <a:off x="8110728" y="2286000"/>
            <a:ext cx="3483864" cy="3584448"/>
          </a:xfrm>
          <a:prstGeom prst="roundRect">
            <a:avLst>
              <a:gd name="adj" fmla="val 1837"/>
            </a:avLst>
          </a:prstGeom>
          <a:solidFill>
            <a:srgbClr val="F0F3F5"/>
          </a:solidFill>
          <a:ln w="12700">
            <a:solidFill>
              <a:srgbClr val="F0F3F5"/>
            </a:solidFill>
            <a:prstDash val="solid"/>
          </a:ln>
        </p:spPr>
      </p:sp>
      <p:sp>
        <p:nvSpPr>
          <p:cNvPr id="14" name="Shape 12"/>
          <p:cNvSpPr/>
          <p:nvPr/>
        </p:nvSpPr>
        <p:spPr>
          <a:xfrm>
            <a:off x="8321040" y="2505456"/>
            <a:ext cx="438912" cy="438912"/>
          </a:xfrm>
          <a:prstGeom prst="ellipse">
            <a:avLst/>
          </a:prstGeom>
          <a:solidFill>
            <a:srgbClr val="F56B32"/>
          </a:solidFill>
          <a:ln w="12700">
            <a:solidFill>
              <a:srgbClr val="F56B32"/>
            </a:solidFill>
            <a:prstDash val="solid"/>
          </a:ln>
        </p:spPr>
      </p:sp>
      <p:sp>
        <p:nvSpPr>
          <p:cNvPr id="15" name="Text 13"/>
          <p:cNvSpPr/>
          <p:nvPr/>
        </p:nvSpPr>
        <p:spPr>
          <a:xfrm>
            <a:off x="8321040" y="2592324"/>
            <a:ext cx="438912" cy="22860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6" name="Text 14"/>
          <p:cNvSpPr/>
          <p:nvPr/>
        </p:nvSpPr>
        <p:spPr>
          <a:xfrm>
            <a:off x="8339328" y="3200400"/>
            <a:ext cx="3026664" cy="2578608"/>
          </a:xfrm>
          <a:prstGeom prst="rect">
            <a:avLst/>
          </a:prstGeom>
          <a:noFill/>
          <a:ln/>
        </p:spPr>
        <p:txBody>
          <a:bodyPr wrap="square" lIns="0" tIns="0" rIns="0" bIns="0" rtlCol="0" anchor="ctr">
            <a:normAutofit/>
          </a:bodyPr>
          <a:lstStyle/>
          <a:p>
            <a:pPr indent="0" marL="0">
              <a:buNone/>
            </a:pPr>
            <a:r>
              <a:rPr lang="en-US" sz="2000" b="1" dirty="0">
                <a:solidFill>
                  <a:srgbClr val="171C20"/>
                </a:solidFill>
                <a:latin typeface="Arial" pitchFamily="34" charset="0"/>
                <a:ea typeface="Arial" pitchFamily="34" charset="-122"/>
                <a:cs typeface="Arial" pitchFamily="34" charset="-120"/>
              </a:rPr>
              <a:t>« Mon horaire est déjà plein. »</a:t>
            </a:r>
            <a:endParaRPr lang="en-US" sz="2000" dirty="0"/>
          </a:p>
          <a:p>
            <a:pPr indent="0" marL="0">
              <a:buNone/>
            </a:pPr>
            <a:endParaRPr lang="en-US" sz="2000" dirty="0"/>
          </a:p>
          <a:p>
            <a:pPr indent="0" marL="0">
              <a:buNone/>
            </a:pPr>
            <a:r>
              <a:rPr lang="en-US" sz="2000" b="1" dirty="0">
                <a:solidFill>
                  <a:srgbClr val="171C20"/>
                </a:solidFill>
                <a:latin typeface="Arial" pitchFamily="34" charset="0"/>
                <a:ea typeface="Arial" pitchFamily="34" charset="-122"/>
                <a:cs typeface="Arial" pitchFamily="34" charset="-120"/>
              </a:rPr>
              <a:t>Présentez les services prioritaires et annoncez vos délais réels.</a:t>
            </a:r>
            <a:endParaRPr lang="en-US" sz="2000" dirty="0"/>
          </a:p>
        </p:txBody>
      </p:sp>
      <p:sp>
        <p:nvSpPr>
          <p:cNvPr id="17" name="Text 15"/>
          <p:cNvSpPr/>
          <p:nvPr/>
        </p:nvSpPr>
        <p:spPr>
          <a:xfrm>
            <a:off x="594360" y="6519672"/>
            <a:ext cx="7315200" cy="182880"/>
          </a:xfrm>
          <a:prstGeom prst="rect">
            <a:avLst/>
          </a:prstGeom>
          <a:noFill/>
          <a:ln/>
        </p:spPr>
        <p:txBody>
          <a:bodyPr wrap="square" lIns="0" tIns="0" rIns="0" bIns="0" rtlCol="0" anchor="ctr">
            <a:normAutofit/>
          </a:bodyPr>
          <a:lstStyle/>
          <a:p>
            <a:pPr indent="0" marL="0">
              <a:buNone/>
            </a:pPr>
            <a:r>
              <a:rPr lang="en-US" sz="900" dirty="0">
                <a:solidFill>
                  <a:srgbClr val="56616A"/>
                </a:solidFill>
                <a:latin typeface="Arial" pitchFamily="34" charset="0"/>
                <a:ea typeface="Arial" pitchFamily="34" charset="-122"/>
                <a:cs typeface="Arial" pitchFamily="34" charset="-120"/>
              </a:rPr>
              <a:t>VISION TECH AI  /  GARAGES</a:t>
            </a:r>
            <a:endParaRPr lang="en-US" sz="900" dirty="0"/>
          </a:p>
        </p:txBody>
      </p:sp>
      <p:sp>
        <p:nvSpPr>
          <p:cNvPr id="18" name="Text 16"/>
          <p:cNvSpPr/>
          <p:nvPr/>
        </p:nvSpPr>
        <p:spPr>
          <a:xfrm>
            <a:off x="10789920" y="6473952"/>
            <a:ext cx="777240" cy="228600"/>
          </a:xfrm>
          <a:prstGeom prst="rect">
            <a:avLst/>
          </a:prstGeom>
          <a:noFill/>
          <a:ln/>
        </p:spPr>
        <p:txBody>
          <a:bodyPr wrap="square" lIns="0" tIns="0" rIns="0" bIns="0" rtlCol="0" anchor="ctr">
            <a:normAutofit/>
          </a:bodyPr>
          <a:lstStyle/>
          <a:p>
            <a:pPr algn="r" indent="0" marL="0">
              <a:buNone/>
            </a:pPr>
            <a:r>
              <a:rPr lang="en-US" sz="1100" dirty="0">
                <a:solidFill>
                  <a:srgbClr val="56616A"/>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594360" y="365760"/>
            <a:ext cx="10698480" cy="274320"/>
          </a:xfrm>
          <a:prstGeom prst="rect">
            <a:avLst/>
          </a:prstGeom>
          <a:noFill/>
          <a:ln/>
        </p:spPr>
        <p:txBody>
          <a:bodyPr wrap="square" lIns="0" tIns="0" rIns="0" bIns="0" rtlCol="0" anchor="ctr">
            <a:normAutofit/>
          </a:bodyPr>
          <a:lstStyle/>
          <a:p>
            <a:pPr indent="0" marL="0">
              <a:buNone/>
            </a:pPr>
            <a:r>
              <a:rPr lang="en-US" sz="1100" b="1" dirty="0">
                <a:solidFill>
                  <a:srgbClr val="56616A"/>
                </a:solidFill>
                <a:latin typeface="Arial" pitchFamily="34" charset="0"/>
                <a:ea typeface="Arial" pitchFamily="34" charset="-122"/>
                <a:cs typeface="Arial" pitchFamily="34" charset="-120"/>
              </a:rPr>
              <a:t>MISE EN ROUTE • PLAN INDICATIF</a:t>
            </a:r>
            <a:endParaRPr lang="en-US" sz="1100" dirty="0"/>
          </a:p>
        </p:txBody>
      </p:sp>
      <p:sp>
        <p:nvSpPr>
          <p:cNvPr id="4" name="Text 2"/>
          <p:cNvSpPr/>
          <p:nvPr/>
        </p:nvSpPr>
        <p:spPr>
          <a:xfrm>
            <a:off x="594360" y="896112"/>
            <a:ext cx="10972800" cy="1143000"/>
          </a:xfrm>
          <a:prstGeom prst="rect">
            <a:avLst/>
          </a:prstGeom>
          <a:noFill/>
          <a:ln/>
        </p:spPr>
        <p:txBody>
          <a:bodyPr wrap="square" lIns="0" tIns="0" rIns="0" bIns="0" rtlCol="0" anchor="ctr">
            <a:normAutofit/>
          </a:bodyPr>
          <a:lstStyle/>
          <a:p>
            <a:pPr indent="0" marL="0">
              <a:buNone/>
            </a:pPr>
            <a:r>
              <a:rPr lang="en-US" sz="3400" b="1" dirty="0">
                <a:solidFill>
                  <a:srgbClr val="171C20"/>
                </a:solidFill>
                <a:latin typeface="Arial" pitchFamily="34" charset="0"/>
                <a:ea typeface="Arial" pitchFamily="34" charset="-122"/>
                <a:cs typeface="Arial" pitchFamily="34" charset="-120"/>
              </a:rPr>
              <a:t>30 jours pour mettre</a:t>
            </a:r>
            <a:endParaRPr lang="en-US" sz="3400" dirty="0"/>
          </a:p>
          <a:p>
            <a:pPr indent="0" marL="0">
              <a:buNone/>
            </a:pPr>
            <a:r>
              <a:rPr lang="en-US" sz="3400" b="1" dirty="0">
                <a:solidFill>
                  <a:srgbClr val="171C20"/>
                </a:solidFill>
                <a:latin typeface="Arial" pitchFamily="34" charset="0"/>
                <a:ea typeface="Arial" pitchFamily="34" charset="-122"/>
                <a:cs typeface="Arial" pitchFamily="34" charset="-120"/>
              </a:rPr>
              <a:t>les bases en place.</a:t>
            </a:r>
            <a:endParaRPr lang="en-US" sz="3400" dirty="0"/>
          </a:p>
        </p:txBody>
      </p:sp>
      <p:sp>
        <p:nvSpPr>
          <p:cNvPr id="5" name="Shape 3"/>
          <p:cNvSpPr/>
          <p:nvPr/>
        </p:nvSpPr>
        <p:spPr>
          <a:xfrm>
            <a:off x="594360" y="2514600"/>
            <a:ext cx="576072" cy="576072"/>
          </a:xfrm>
          <a:prstGeom prst="ellipse">
            <a:avLst/>
          </a:prstGeom>
          <a:solidFill>
            <a:srgbClr val="F56B32"/>
          </a:solidFill>
          <a:ln w="12700">
            <a:solidFill>
              <a:srgbClr val="F56B32"/>
            </a:solidFill>
            <a:prstDash val="solid"/>
          </a:ln>
        </p:spPr>
      </p:sp>
      <p:sp>
        <p:nvSpPr>
          <p:cNvPr id="6" name="Text 4"/>
          <p:cNvSpPr/>
          <p:nvPr/>
        </p:nvSpPr>
        <p:spPr>
          <a:xfrm>
            <a:off x="594360" y="2633472"/>
            <a:ext cx="576072" cy="256032"/>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594360" y="3429000"/>
            <a:ext cx="2430018" cy="2240280"/>
          </a:xfrm>
          <a:prstGeom prst="rect">
            <a:avLst/>
          </a:prstGeom>
          <a:noFill/>
          <a:ln/>
        </p:spPr>
        <p:txBody>
          <a:bodyPr wrap="square" lIns="0" tIns="0" rIns="0" bIns="0" rtlCol="0" anchor="ctr">
            <a:normAutofit/>
          </a:bodyPr>
          <a:lstStyle/>
          <a:p>
            <a:pPr indent="0" marL="0">
              <a:buNone/>
            </a:pPr>
            <a:r>
              <a:rPr lang="en-US" sz="2100" b="1" dirty="0">
                <a:solidFill>
                  <a:srgbClr val="171C20"/>
                </a:solidFill>
                <a:latin typeface="Arial" pitchFamily="34" charset="0"/>
                <a:ea typeface="Arial" pitchFamily="34" charset="-122"/>
                <a:cs typeface="Arial" pitchFamily="34" charset="-120"/>
              </a:rPr>
              <a:t>SEMAINE 1 — Clarifier services, photos, zone desservie et objectif commercial.</a:t>
            </a:r>
            <a:endParaRPr lang="en-US" sz="2100" dirty="0"/>
          </a:p>
        </p:txBody>
      </p:sp>
      <p:sp>
        <p:nvSpPr>
          <p:cNvPr id="8" name="Shape 6"/>
          <p:cNvSpPr/>
          <p:nvPr/>
        </p:nvSpPr>
        <p:spPr>
          <a:xfrm>
            <a:off x="3344418" y="2514600"/>
            <a:ext cx="576072" cy="576072"/>
          </a:xfrm>
          <a:prstGeom prst="ellipse">
            <a:avLst/>
          </a:prstGeom>
          <a:solidFill>
            <a:srgbClr val="F56B32"/>
          </a:solidFill>
          <a:ln w="12700">
            <a:solidFill>
              <a:srgbClr val="F56B32"/>
            </a:solidFill>
            <a:prstDash val="solid"/>
          </a:ln>
        </p:spPr>
      </p:sp>
      <p:sp>
        <p:nvSpPr>
          <p:cNvPr id="9" name="Text 7"/>
          <p:cNvSpPr/>
          <p:nvPr/>
        </p:nvSpPr>
        <p:spPr>
          <a:xfrm>
            <a:off x="3344418" y="2633472"/>
            <a:ext cx="576072" cy="256032"/>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3344418" y="3429000"/>
            <a:ext cx="2430018" cy="2240280"/>
          </a:xfrm>
          <a:prstGeom prst="rect">
            <a:avLst/>
          </a:prstGeom>
          <a:noFill/>
          <a:ln/>
        </p:spPr>
        <p:txBody>
          <a:bodyPr wrap="square" lIns="0" tIns="0" rIns="0" bIns="0" rtlCol="0" anchor="ctr">
            <a:normAutofit/>
          </a:bodyPr>
          <a:lstStyle/>
          <a:p>
            <a:pPr indent="0" marL="0">
              <a:buNone/>
            </a:pPr>
            <a:r>
              <a:rPr lang="en-US" sz="2100" b="1" dirty="0">
                <a:solidFill>
                  <a:srgbClr val="171C20"/>
                </a:solidFill>
                <a:latin typeface="Arial" pitchFamily="34" charset="0"/>
                <a:ea typeface="Arial" pitchFamily="34" charset="-122"/>
                <a:cs typeface="Arial" pitchFamily="34" charset="-120"/>
              </a:rPr>
              <a:t>SEMAINES 2–3 — Construire le site mobile et tester les demandes.</a:t>
            </a:r>
            <a:endParaRPr lang="en-US" sz="2100" dirty="0"/>
          </a:p>
        </p:txBody>
      </p:sp>
      <p:sp>
        <p:nvSpPr>
          <p:cNvPr id="11" name="Shape 9"/>
          <p:cNvSpPr/>
          <p:nvPr/>
        </p:nvSpPr>
        <p:spPr>
          <a:xfrm>
            <a:off x="6094476" y="2514600"/>
            <a:ext cx="576072" cy="576072"/>
          </a:xfrm>
          <a:prstGeom prst="ellipse">
            <a:avLst/>
          </a:prstGeom>
          <a:solidFill>
            <a:srgbClr val="F56B32"/>
          </a:solidFill>
          <a:ln w="12700">
            <a:solidFill>
              <a:srgbClr val="F56B32"/>
            </a:solidFill>
            <a:prstDash val="solid"/>
          </a:ln>
        </p:spPr>
      </p:sp>
      <p:sp>
        <p:nvSpPr>
          <p:cNvPr id="12" name="Text 10"/>
          <p:cNvSpPr/>
          <p:nvPr/>
        </p:nvSpPr>
        <p:spPr>
          <a:xfrm>
            <a:off x="6094476" y="2633472"/>
            <a:ext cx="576072" cy="256032"/>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6094476" y="3429000"/>
            <a:ext cx="2430018" cy="2240280"/>
          </a:xfrm>
          <a:prstGeom prst="rect">
            <a:avLst/>
          </a:prstGeom>
          <a:noFill/>
          <a:ln/>
        </p:spPr>
        <p:txBody>
          <a:bodyPr wrap="square" lIns="0" tIns="0" rIns="0" bIns="0" rtlCol="0" anchor="ctr">
            <a:normAutofit/>
          </a:bodyPr>
          <a:lstStyle/>
          <a:p>
            <a:pPr indent="0" marL="0">
              <a:buNone/>
            </a:pPr>
            <a:r>
              <a:rPr lang="en-US" sz="2100" b="1" dirty="0">
                <a:solidFill>
                  <a:srgbClr val="171C20"/>
                </a:solidFill>
                <a:latin typeface="Arial" pitchFamily="34" charset="0"/>
                <a:ea typeface="Arial" pitchFamily="34" charset="-122"/>
                <a:cs typeface="Arial" pitchFamily="34" charset="-120"/>
              </a:rPr>
              <a:t>SEMAINE 4 — Publier, relier la fiche Google et vérifier le suivi.</a:t>
            </a:r>
            <a:endParaRPr lang="en-US" sz="2100" dirty="0"/>
          </a:p>
        </p:txBody>
      </p:sp>
      <p:sp>
        <p:nvSpPr>
          <p:cNvPr id="14" name="Shape 12"/>
          <p:cNvSpPr/>
          <p:nvPr/>
        </p:nvSpPr>
        <p:spPr>
          <a:xfrm>
            <a:off x="8844534" y="2514600"/>
            <a:ext cx="576072" cy="576072"/>
          </a:xfrm>
          <a:prstGeom prst="ellipse">
            <a:avLst/>
          </a:prstGeom>
          <a:solidFill>
            <a:srgbClr val="F56B32"/>
          </a:solidFill>
          <a:ln w="12700">
            <a:solidFill>
              <a:srgbClr val="F56B32"/>
            </a:solidFill>
            <a:prstDash val="solid"/>
          </a:ln>
        </p:spPr>
      </p:sp>
      <p:sp>
        <p:nvSpPr>
          <p:cNvPr id="15" name="Text 13"/>
          <p:cNvSpPr/>
          <p:nvPr/>
        </p:nvSpPr>
        <p:spPr>
          <a:xfrm>
            <a:off x="8844534" y="2633472"/>
            <a:ext cx="576072" cy="256032"/>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16" name="Text 14"/>
          <p:cNvSpPr/>
          <p:nvPr/>
        </p:nvSpPr>
        <p:spPr>
          <a:xfrm>
            <a:off x="8844534" y="3429000"/>
            <a:ext cx="2430018" cy="2240280"/>
          </a:xfrm>
          <a:prstGeom prst="rect">
            <a:avLst/>
          </a:prstGeom>
          <a:noFill/>
          <a:ln/>
        </p:spPr>
        <p:txBody>
          <a:bodyPr wrap="square" lIns="0" tIns="0" rIns="0" bIns="0" rtlCol="0" anchor="ctr">
            <a:normAutofit/>
          </a:bodyPr>
          <a:lstStyle/>
          <a:p>
            <a:pPr indent="0" marL="0">
              <a:buNone/>
            </a:pPr>
            <a:r>
              <a:rPr lang="en-US" sz="2100" b="1" dirty="0">
                <a:solidFill>
                  <a:srgbClr val="171C20"/>
                </a:solidFill>
                <a:latin typeface="Arial" pitchFamily="34" charset="0"/>
                <a:ea typeface="Arial" pitchFamily="34" charset="-122"/>
                <a:cs typeface="Arial" pitchFamily="34" charset="-120"/>
              </a:rPr>
              <a:t>ENSUITE — Mesurer appels utiles, demandes, visites réalisées et contribution.</a:t>
            </a:r>
            <a:endParaRPr lang="en-US" sz="2100" dirty="0"/>
          </a:p>
        </p:txBody>
      </p:sp>
      <p:sp>
        <p:nvSpPr>
          <p:cNvPr id="17" name="Text 15"/>
          <p:cNvSpPr/>
          <p:nvPr/>
        </p:nvSpPr>
        <p:spPr>
          <a:xfrm>
            <a:off x="594360" y="6519672"/>
            <a:ext cx="7315200" cy="182880"/>
          </a:xfrm>
          <a:prstGeom prst="rect">
            <a:avLst/>
          </a:prstGeom>
          <a:noFill/>
          <a:ln/>
        </p:spPr>
        <p:txBody>
          <a:bodyPr wrap="square" lIns="0" tIns="0" rIns="0" bIns="0" rtlCol="0" anchor="ctr">
            <a:normAutofit/>
          </a:bodyPr>
          <a:lstStyle/>
          <a:p>
            <a:pPr indent="0" marL="0">
              <a:buNone/>
            </a:pPr>
            <a:r>
              <a:rPr lang="en-US" sz="900" dirty="0">
                <a:solidFill>
                  <a:srgbClr val="56616A"/>
                </a:solidFill>
                <a:latin typeface="Arial" pitchFamily="34" charset="0"/>
                <a:ea typeface="Arial" pitchFamily="34" charset="-122"/>
                <a:cs typeface="Arial" pitchFamily="34" charset="-120"/>
              </a:rPr>
              <a:t>VISION TECH AI  /  GARAGES</a:t>
            </a:r>
            <a:endParaRPr lang="en-US" sz="900" dirty="0"/>
          </a:p>
        </p:txBody>
      </p:sp>
      <p:sp>
        <p:nvSpPr>
          <p:cNvPr id="18" name="Text 16"/>
          <p:cNvSpPr/>
          <p:nvPr/>
        </p:nvSpPr>
        <p:spPr>
          <a:xfrm>
            <a:off x="10789920" y="6473952"/>
            <a:ext cx="777240" cy="228600"/>
          </a:xfrm>
          <a:prstGeom prst="rect">
            <a:avLst/>
          </a:prstGeom>
          <a:noFill/>
          <a:ln/>
        </p:spPr>
        <p:txBody>
          <a:bodyPr wrap="square" lIns="0" tIns="0" rIns="0" bIns="0" rtlCol="0" anchor="ctr">
            <a:normAutofit/>
          </a:bodyPr>
          <a:lstStyle/>
          <a:p>
            <a:pPr algn="r" indent="0" marL="0">
              <a:buNone/>
            </a:pPr>
            <a:r>
              <a:rPr lang="en-US" sz="1100" dirty="0">
                <a:solidFill>
                  <a:srgbClr val="56616A"/>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71C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71C20"/>
          </a:solidFill>
          <a:ln w="12700">
            <a:solidFill>
              <a:srgbClr val="171C20"/>
            </a:solidFill>
            <a:prstDash val="solid"/>
          </a:ln>
        </p:spPr>
      </p:sp>
      <p:sp>
        <p:nvSpPr>
          <p:cNvPr id="3" name="Text 1"/>
          <p:cNvSpPr/>
          <p:nvPr/>
        </p:nvSpPr>
        <p:spPr>
          <a:xfrm>
            <a:off x="594360" y="365760"/>
            <a:ext cx="10698480" cy="274320"/>
          </a:xfrm>
          <a:prstGeom prst="rect">
            <a:avLst/>
          </a:prstGeom>
          <a:noFill/>
          <a:ln/>
        </p:spPr>
        <p:txBody>
          <a:bodyPr wrap="square" lIns="0" tIns="0" rIns="0" bIns="0" rtlCol="0" anchor="ctr">
            <a:normAutofit/>
          </a:bodyPr>
          <a:lstStyle/>
          <a:p>
            <a:pPr indent="0" marL="0">
              <a:buNone/>
            </a:pPr>
            <a:r>
              <a:rPr lang="en-US" sz="1100" b="1" dirty="0">
                <a:solidFill>
                  <a:srgbClr val="F56B32"/>
                </a:solidFill>
                <a:latin typeface="Arial" pitchFamily="34" charset="0"/>
                <a:ea typeface="Arial" pitchFamily="34" charset="-122"/>
                <a:cs typeface="Arial" pitchFamily="34" charset="-120"/>
              </a:rPr>
              <a:t>FAITES DE VOTRE RÉPUTATION UN POINT DE DÉPART</a:t>
            </a:r>
            <a:endParaRPr lang="en-US" sz="1100" dirty="0"/>
          </a:p>
        </p:txBody>
      </p:sp>
      <p:sp>
        <p:nvSpPr>
          <p:cNvPr id="4" name="Text 2"/>
          <p:cNvSpPr/>
          <p:nvPr/>
        </p:nvSpPr>
        <p:spPr>
          <a:xfrm>
            <a:off x="594360" y="896112"/>
            <a:ext cx="7498080" cy="182880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Arial" pitchFamily="34" charset="0"/>
                <a:ea typeface="Arial" pitchFamily="34" charset="-122"/>
                <a:cs typeface="Arial" pitchFamily="34" charset="-120"/>
              </a:rPr>
              <a:t>Quand un client vous cherche,</a:t>
            </a:r>
            <a:endParaRPr lang="en-US" sz="3800" dirty="0"/>
          </a:p>
          <a:p>
            <a:pPr indent="0" marL="0">
              <a:buNone/>
            </a:pPr>
            <a:r>
              <a:rPr lang="en-US" sz="3800" b="1" dirty="0">
                <a:solidFill>
                  <a:srgbClr val="FFFFFF"/>
                </a:solidFill>
                <a:latin typeface="Arial" pitchFamily="34" charset="0"/>
                <a:ea typeface="Arial" pitchFamily="34" charset="-122"/>
                <a:cs typeface="Arial" pitchFamily="34" charset="-120"/>
              </a:rPr>
              <a:t>donnez-lui une raison</a:t>
            </a:r>
            <a:endParaRPr lang="en-US" sz="3800" dirty="0"/>
          </a:p>
          <a:p>
            <a:pPr indent="0" marL="0">
              <a:buNone/>
            </a:pPr>
            <a:r>
              <a:rPr lang="en-US" sz="3800" b="1" dirty="0">
                <a:solidFill>
                  <a:srgbClr val="FFFFFF"/>
                </a:solidFill>
                <a:latin typeface="Arial" pitchFamily="34" charset="0"/>
                <a:ea typeface="Arial" pitchFamily="34" charset="-122"/>
                <a:cs typeface="Arial" pitchFamily="34" charset="-120"/>
              </a:rPr>
              <a:t>de vous choisir.</a:t>
            </a:r>
            <a:endParaRPr lang="en-US" sz="3800" dirty="0"/>
          </a:p>
        </p:txBody>
      </p:sp>
      <p:sp>
        <p:nvSpPr>
          <p:cNvPr id="5" name="Text 3"/>
          <p:cNvSpPr/>
          <p:nvPr/>
        </p:nvSpPr>
        <p:spPr>
          <a:xfrm>
            <a:off x="594360" y="2926080"/>
            <a:ext cx="6400800" cy="2743200"/>
          </a:xfrm>
          <a:prstGeom prst="rect">
            <a:avLst/>
          </a:prstGeom>
          <a:noFill/>
          <a:ln/>
        </p:spPr>
        <p:txBody>
          <a:bodyPr wrap="square" lIns="0" tIns="0" rIns="0" bIns="0" rtlCol="0" anchor="ctr">
            <a:normAutofit/>
          </a:bodyPr>
          <a:lstStyle/>
          <a:p>
            <a:pPr indent="0" marL="0">
              <a:buNone/>
            </a:pPr>
            <a:r>
              <a:rPr lang="en-US" sz="2300" dirty="0">
                <a:solidFill>
                  <a:srgbClr val="E4E9ED"/>
                </a:solidFill>
                <a:latin typeface="Arial" pitchFamily="34" charset="0"/>
                <a:ea typeface="Arial" pitchFamily="34" charset="-122"/>
                <a:cs typeface="Arial" pitchFamily="34" charset="-120"/>
              </a:rPr>
              <a:t>Un site clair. Des preuves réelles. Une demande facile.</a:t>
            </a:r>
            <a:endParaRPr lang="en-US" sz="2300" dirty="0"/>
          </a:p>
          <a:p>
            <a:pPr indent="0" marL="0">
              <a:buNone/>
            </a:pPr>
            <a:endParaRPr lang="en-US" sz="2300" dirty="0"/>
          </a:p>
          <a:p>
            <a:pPr indent="0" marL="0">
              <a:buNone/>
            </a:pPr>
            <a:r>
              <a:rPr lang="en-US" sz="2300" dirty="0">
                <a:solidFill>
                  <a:srgbClr val="E4E9ED"/>
                </a:solidFill>
                <a:latin typeface="Arial" pitchFamily="34" charset="0"/>
                <a:ea typeface="Arial" pitchFamily="34" charset="-122"/>
                <a:cs typeface="Arial" pitchFamily="34" charset="-120"/>
              </a:rPr>
              <a:t>Prochaine étape : un diagnostic de votre présence web en 20 minutes.</a:t>
            </a:r>
            <a:endParaRPr lang="en-US" sz="2300" dirty="0"/>
          </a:p>
          <a:p>
            <a:pPr indent="0" marL="0">
              <a:buNone/>
            </a:pPr>
            <a:endParaRPr lang="en-US" sz="2300" dirty="0"/>
          </a:p>
          <a:p>
            <a:pPr indent="0" marL="0">
              <a:buNone/>
            </a:pPr>
            <a:r>
              <a:rPr lang="en-US" sz="2300" dirty="0">
                <a:solidFill>
                  <a:srgbClr val="E4E9ED"/>
                </a:solidFill>
                <a:latin typeface="Arial" pitchFamily="34" charset="0"/>
                <a:ea typeface="Arial" pitchFamily="34" charset="-122"/>
                <a:cs typeface="Arial" pitchFamily="34" charset="-120"/>
              </a:rPr>
              <a:t>Choisissons ensemble les trois priorités de votre garage.</a:t>
            </a:r>
            <a:endParaRPr lang="en-US" sz="2300" dirty="0"/>
          </a:p>
        </p:txBody>
      </p:sp>
      <p:sp>
        <p:nvSpPr>
          <p:cNvPr id="6" name="Shape 4"/>
          <p:cNvSpPr/>
          <p:nvPr/>
        </p:nvSpPr>
        <p:spPr>
          <a:xfrm>
            <a:off x="7635240" y="2788920"/>
            <a:ext cx="3648456" cy="2592324"/>
          </a:xfrm>
          <a:prstGeom prst="roundRect">
            <a:avLst>
              <a:gd name="adj" fmla="val 3527"/>
            </a:avLst>
          </a:prstGeom>
          <a:solidFill>
            <a:srgbClr val="283138"/>
          </a:solidFill>
          <a:ln w="12700">
            <a:solidFill>
              <a:srgbClr val="283138"/>
            </a:solidFill>
            <a:prstDash val="solid"/>
          </a:ln>
        </p:spPr>
      </p:sp>
      <p:sp>
        <p:nvSpPr>
          <p:cNvPr id="7" name="Shape 5"/>
          <p:cNvSpPr/>
          <p:nvPr/>
        </p:nvSpPr>
        <p:spPr>
          <a:xfrm>
            <a:off x="7923276" y="3192170"/>
            <a:ext cx="3072384" cy="1824228"/>
          </a:xfrm>
          <a:prstGeom prst="rect">
            <a:avLst/>
          </a:prstGeom>
          <a:solidFill>
            <a:srgbClr val="48555E"/>
          </a:solidFill>
          <a:ln w="12700">
            <a:solidFill>
              <a:srgbClr val="48555E"/>
            </a:solidFill>
            <a:prstDash val="solid"/>
          </a:ln>
        </p:spPr>
      </p:sp>
      <p:sp>
        <p:nvSpPr>
          <p:cNvPr id="8" name="Shape 6"/>
          <p:cNvSpPr/>
          <p:nvPr/>
        </p:nvSpPr>
        <p:spPr>
          <a:xfrm>
            <a:off x="7923276" y="3220974"/>
            <a:ext cx="3072384" cy="24003"/>
          </a:xfrm>
          <a:prstGeom prst="rect">
            <a:avLst/>
          </a:prstGeom>
          <a:solidFill>
            <a:srgbClr val="68747B"/>
          </a:solidFill>
          <a:ln w="12700">
            <a:solidFill>
              <a:srgbClr val="68747B"/>
            </a:solidFill>
            <a:prstDash val="solid"/>
          </a:ln>
        </p:spPr>
      </p:sp>
      <p:sp>
        <p:nvSpPr>
          <p:cNvPr id="9" name="Shape 7"/>
          <p:cNvSpPr/>
          <p:nvPr/>
        </p:nvSpPr>
        <p:spPr>
          <a:xfrm>
            <a:off x="7923276" y="3499409"/>
            <a:ext cx="3072384" cy="24003"/>
          </a:xfrm>
          <a:prstGeom prst="rect">
            <a:avLst/>
          </a:prstGeom>
          <a:solidFill>
            <a:srgbClr val="68747B"/>
          </a:solidFill>
          <a:ln w="12700">
            <a:solidFill>
              <a:srgbClr val="68747B"/>
            </a:solidFill>
            <a:prstDash val="solid"/>
          </a:ln>
        </p:spPr>
      </p:sp>
      <p:sp>
        <p:nvSpPr>
          <p:cNvPr id="10" name="Shape 8"/>
          <p:cNvSpPr/>
          <p:nvPr/>
        </p:nvSpPr>
        <p:spPr>
          <a:xfrm>
            <a:off x="7923276" y="3777844"/>
            <a:ext cx="3072384" cy="24003"/>
          </a:xfrm>
          <a:prstGeom prst="rect">
            <a:avLst/>
          </a:prstGeom>
          <a:solidFill>
            <a:srgbClr val="68747B"/>
          </a:solidFill>
          <a:ln w="12700">
            <a:solidFill>
              <a:srgbClr val="68747B"/>
            </a:solidFill>
            <a:prstDash val="solid"/>
          </a:ln>
        </p:spPr>
      </p:sp>
      <p:sp>
        <p:nvSpPr>
          <p:cNvPr id="11" name="Shape 9"/>
          <p:cNvSpPr/>
          <p:nvPr/>
        </p:nvSpPr>
        <p:spPr>
          <a:xfrm>
            <a:off x="7923276" y="4056278"/>
            <a:ext cx="3072384" cy="24003"/>
          </a:xfrm>
          <a:prstGeom prst="rect">
            <a:avLst/>
          </a:prstGeom>
          <a:solidFill>
            <a:srgbClr val="68747B"/>
          </a:solidFill>
          <a:ln w="12700">
            <a:solidFill>
              <a:srgbClr val="68747B"/>
            </a:solidFill>
            <a:prstDash val="solid"/>
          </a:ln>
        </p:spPr>
      </p:sp>
      <p:sp>
        <p:nvSpPr>
          <p:cNvPr id="12" name="Shape 10"/>
          <p:cNvSpPr/>
          <p:nvPr/>
        </p:nvSpPr>
        <p:spPr>
          <a:xfrm>
            <a:off x="7923276" y="4334713"/>
            <a:ext cx="3072384" cy="24003"/>
          </a:xfrm>
          <a:prstGeom prst="rect">
            <a:avLst/>
          </a:prstGeom>
          <a:solidFill>
            <a:srgbClr val="68747B"/>
          </a:solidFill>
          <a:ln w="12700">
            <a:solidFill>
              <a:srgbClr val="68747B"/>
            </a:solidFill>
            <a:prstDash val="solid"/>
          </a:ln>
        </p:spPr>
      </p:sp>
      <p:sp>
        <p:nvSpPr>
          <p:cNvPr id="13" name="Shape 11"/>
          <p:cNvSpPr/>
          <p:nvPr/>
        </p:nvSpPr>
        <p:spPr>
          <a:xfrm>
            <a:off x="8259318" y="4209898"/>
            <a:ext cx="2400300" cy="595274"/>
          </a:xfrm>
          <a:prstGeom prst="roundRect">
            <a:avLst>
              <a:gd name="adj" fmla="val 12289"/>
            </a:avLst>
          </a:prstGeom>
          <a:solidFill>
            <a:srgbClr val="F56B32"/>
          </a:solidFill>
          <a:ln w="12700">
            <a:solidFill>
              <a:srgbClr val="F56B32"/>
            </a:solidFill>
            <a:prstDash val="solid"/>
          </a:ln>
        </p:spPr>
      </p:sp>
      <p:sp>
        <p:nvSpPr>
          <p:cNvPr id="14" name="Shape 12"/>
          <p:cNvSpPr/>
          <p:nvPr/>
        </p:nvSpPr>
        <p:spPr>
          <a:xfrm>
            <a:off x="8652967" y="3873856"/>
            <a:ext cx="1584198" cy="499262"/>
          </a:xfrm>
          <a:prstGeom prst="roundRect">
            <a:avLst>
              <a:gd name="adj" fmla="val 14652"/>
            </a:avLst>
          </a:prstGeom>
          <a:solidFill>
            <a:srgbClr val="F56B32"/>
          </a:solidFill>
          <a:ln w="12700">
            <a:solidFill>
              <a:srgbClr val="F56B32"/>
            </a:solidFill>
            <a:prstDash val="solid"/>
          </a:ln>
        </p:spPr>
      </p:sp>
      <p:sp>
        <p:nvSpPr>
          <p:cNvPr id="15" name="Shape 13"/>
          <p:cNvSpPr/>
          <p:nvPr/>
        </p:nvSpPr>
        <p:spPr>
          <a:xfrm>
            <a:off x="8806586" y="3960266"/>
            <a:ext cx="1238555" cy="288036"/>
          </a:xfrm>
          <a:prstGeom prst="rect">
            <a:avLst/>
          </a:prstGeom>
          <a:solidFill>
            <a:srgbClr val="BBCDD6"/>
          </a:solidFill>
          <a:ln w="12700">
            <a:solidFill>
              <a:srgbClr val="BBCDD6"/>
            </a:solidFill>
            <a:prstDash val="solid"/>
          </a:ln>
        </p:spPr>
      </p:sp>
      <p:sp>
        <p:nvSpPr>
          <p:cNvPr id="16" name="Shape 14"/>
          <p:cNvSpPr/>
          <p:nvPr/>
        </p:nvSpPr>
        <p:spPr>
          <a:xfrm>
            <a:off x="8528152" y="4641952"/>
            <a:ext cx="460858" cy="460858"/>
          </a:xfrm>
          <a:prstGeom prst="ellipse">
            <a:avLst/>
          </a:prstGeom>
          <a:solidFill>
            <a:srgbClr val="171C20"/>
          </a:solidFill>
          <a:ln w="12700">
            <a:solidFill>
              <a:srgbClr val="171C20"/>
            </a:solidFill>
            <a:prstDash val="solid"/>
          </a:ln>
        </p:spPr>
      </p:sp>
      <p:sp>
        <p:nvSpPr>
          <p:cNvPr id="17" name="Shape 15"/>
          <p:cNvSpPr/>
          <p:nvPr/>
        </p:nvSpPr>
        <p:spPr>
          <a:xfrm>
            <a:off x="9939528" y="4641952"/>
            <a:ext cx="460858" cy="460858"/>
          </a:xfrm>
          <a:prstGeom prst="ellipse">
            <a:avLst/>
          </a:prstGeom>
          <a:solidFill>
            <a:srgbClr val="171C20"/>
          </a:solidFill>
          <a:ln w="12700">
            <a:solidFill>
              <a:srgbClr val="171C20"/>
            </a:solidFill>
            <a:prstDash val="solid"/>
          </a:ln>
        </p:spPr>
      </p:sp>
      <p:sp>
        <p:nvSpPr>
          <p:cNvPr id="18" name="Shape 16"/>
          <p:cNvSpPr/>
          <p:nvPr/>
        </p:nvSpPr>
        <p:spPr>
          <a:xfrm>
            <a:off x="8662568" y="4776368"/>
            <a:ext cx="192024" cy="192024"/>
          </a:xfrm>
          <a:prstGeom prst="ellipse">
            <a:avLst/>
          </a:prstGeom>
          <a:solidFill>
            <a:srgbClr val="A5B4BD"/>
          </a:solidFill>
          <a:ln w="12700">
            <a:solidFill>
              <a:srgbClr val="A5B4BD"/>
            </a:solidFill>
            <a:prstDash val="solid"/>
          </a:ln>
        </p:spPr>
      </p:sp>
      <p:sp>
        <p:nvSpPr>
          <p:cNvPr id="19" name="Shape 17"/>
          <p:cNvSpPr/>
          <p:nvPr/>
        </p:nvSpPr>
        <p:spPr>
          <a:xfrm>
            <a:off x="10073945" y="4776368"/>
            <a:ext cx="192024" cy="192024"/>
          </a:xfrm>
          <a:prstGeom prst="ellipse">
            <a:avLst/>
          </a:prstGeom>
          <a:solidFill>
            <a:srgbClr val="A5B4BD"/>
          </a:solidFill>
          <a:ln w="12700">
            <a:solidFill>
              <a:srgbClr val="A5B4BD"/>
            </a:solidFill>
            <a:prstDash val="solid"/>
          </a:ln>
        </p:spPr>
      </p:sp>
      <p:sp>
        <p:nvSpPr>
          <p:cNvPr id="20" name="Shape 18"/>
          <p:cNvSpPr/>
          <p:nvPr/>
        </p:nvSpPr>
        <p:spPr>
          <a:xfrm>
            <a:off x="10012680" y="1033272"/>
            <a:ext cx="1143000" cy="1143000"/>
          </a:xfrm>
          <a:prstGeom prst="ellipse">
            <a:avLst/>
          </a:prstGeom>
          <a:solidFill>
            <a:srgbClr val="F56B32"/>
          </a:solidFill>
          <a:ln w="12700">
            <a:solidFill>
              <a:srgbClr val="F56B32"/>
            </a:solidFill>
            <a:prstDash val="solid"/>
          </a:ln>
        </p:spPr>
      </p:sp>
      <p:sp>
        <p:nvSpPr>
          <p:cNvPr id="21" name="Text 19"/>
          <p:cNvSpPr/>
          <p:nvPr/>
        </p:nvSpPr>
        <p:spPr>
          <a:xfrm>
            <a:off x="10085832" y="1426464"/>
            <a:ext cx="1005840" cy="274320"/>
          </a:xfrm>
          <a:prstGeom prst="rect">
            <a:avLst/>
          </a:prstGeom>
          <a:noFill/>
          <a:ln/>
        </p:spPr>
        <p:txBody>
          <a:bodyPr wrap="square" lIns="0" tIns="0" rIns="0" bIns="0" rtlCol="0" anchor="ctr">
            <a:normAutofit/>
          </a:bodyPr>
          <a:lstStyle/>
          <a:p>
            <a:pPr algn="ctr" indent="0" marL="0">
              <a:buNone/>
            </a:pPr>
            <a:r>
              <a:rPr lang="en-US" sz="1800" b="1" dirty="0">
                <a:solidFill>
                  <a:srgbClr val="171C20"/>
                </a:solidFill>
                <a:latin typeface="Arial" pitchFamily="34" charset="0"/>
                <a:ea typeface="Arial" pitchFamily="34" charset="-122"/>
                <a:cs typeface="Arial" pitchFamily="34" charset="-120"/>
              </a:rPr>
              <a:t>2026</a:t>
            </a:r>
            <a:endParaRPr lang="en-US" sz="1800" dirty="0"/>
          </a:p>
        </p:txBody>
      </p:sp>
      <p:sp>
        <p:nvSpPr>
          <p:cNvPr id="22" name="Text 20"/>
          <p:cNvSpPr/>
          <p:nvPr/>
        </p:nvSpPr>
        <p:spPr>
          <a:xfrm>
            <a:off x="594360" y="6519672"/>
            <a:ext cx="7315200" cy="182880"/>
          </a:xfrm>
          <a:prstGeom prst="rect">
            <a:avLst/>
          </a:prstGeom>
          <a:noFill/>
          <a:ln/>
        </p:spPr>
        <p:txBody>
          <a:bodyPr wrap="square" lIns="0" tIns="0" rIns="0" bIns="0" rtlCol="0" anchor="ctr">
            <a:normAutofit/>
          </a:bodyPr>
          <a:lstStyle/>
          <a:p>
            <a:pPr indent="0" marL="0">
              <a:buNone/>
            </a:pPr>
            <a:r>
              <a:rPr lang="en-US" sz="900" dirty="0">
                <a:solidFill>
                  <a:srgbClr val="94A4AE"/>
                </a:solidFill>
                <a:latin typeface="Arial" pitchFamily="34" charset="0"/>
                <a:ea typeface="Arial" pitchFamily="34" charset="-122"/>
                <a:cs typeface="Arial" pitchFamily="34" charset="-120"/>
              </a:rPr>
              <a:t>VISION TECH AI  /  GARAGES</a:t>
            </a:r>
            <a:endParaRPr lang="en-US" sz="900" dirty="0"/>
          </a:p>
        </p:txBody>
      </p:sp>
      <p:sp>
        <p:nvSpPr>
          <p:cNvPr id="23" name="Text 21"/>
          <p:cNvSpPr/>
          <p:nvPr/>
        </p:nvSpPr>
        <p:spPr>
          <a:xfrm>
            <a:off x="10789920" y="6473952"/>
            <a:ext cx="777240" cy="228600"/>
          </a:xfrm>
          <a:prstGeom prst="rect">
            <a:avLst/>
          </a:prstGeom>
          <a:noFill/>
          <a:ln/>
        </p:spPr>
        <p:txBody>
          <a:bodyPr wrap="square" lIns="0" tIns="0" rIns="0" bIns="0" rtlCol="0" anchor="ctr">
            <a:normAutofit/>
          </a:bodyPr>
          <a:lstStyle/>
          <a:p>
            <a:pPr algn="r" indent="0" marL="0">
              <a:buNone/>
            </a:pPr>
            <a:r>
              <a:rPr lang="en-US" sz="1100" dirty="0">
                <a:solidFill>
                  <a:srgbClr val="94A4AE"/>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594360" y="365760"/>
            <a:ext cx="10698480" cy="274320"/>
          </a:xfrm>
          <a:prstGeom prst="rect">
            <a:avLst/>
          </a:prstGeom>
          <a:noFill/>
          <a:ln/>
        </p:spPr>
        <p:txBody>
          <a:bodyPr wrap="square" lIns="0" tIns="0" rIns="0" bIns="0" rtlCol="0" anchor="ctr">
            <a:normAutofit/>
          </a:bodyPr>
          <a:lstStyle/>
          <a:p>
            <a:pPr indent="0" marL="0">
              <a:buNone/>
            </a:pPr>
            <a:r>
              <a:rPr lang="en-US" sz="1100" b="1" dirty="0">
                <a:solidFill>
                  <a:srgbClr val="56616A"/>
                </a:solidFill>
                <a:latin typeface="Arial" pitchFamily="34" charset="0"/>
                <a:ea typeface="Arial" pitchFamily="34" charset="-122"/>
                <a:cs typeface="Arial" pitchFamily="34" charset="-120"/>
              </a:rPr>
              <a:t>ANNEXE • TRAÇABILITÉ DES CHIFFRES</a:t>
            </a:r>
            <a:endParaRPr lang="en-US" sz="1100" dirty="0"/>
          </a:p>
        </p:txBody>
      </p:sp>
      <p:sp>
        <p:nvSpPr>
          <p:cNvPr id="4" name="Text 2"/>
          <p:cNvSpPr/>
          <p:nvPr/>
        </p:nvSpPr>
        <p:spPr>
          <a:xfrm>
            <a:off x="594360" y="896112"/>
            <a:ext cx="10972800" cy="1143000"/>
          </a:xfrm>
          <a:prstGeom prst="rect">
            <a:avLst/>
          </a:prstGeom>
          <a:noFill/>
          <a:ln/>
        </p:spPr>
        <p:txBody>
          <a:bodyPr wrap="square" lIns="0" tIns="0" rIns="0" bIns="0" rtlCol="0" anchor="ctr">
            <a:normAutofit/>
          </a:bodyPr>
          <a:lstStyle/>
          <a:p>
            <a:pPr indent="0" marL="0">
              <a:buNone/>
            </a:pPr>
            <a:r>
              <a:rPr lang="en-US" sz="3400" b="1" dirty="0">
                <a:solidFill>
                  <a:srgbClr val="171C20"/>
                </a:solidFill>
                <a:latin typeface="Arial" pitchFamily="34" charset="0"/>
                <a:ea typeface="Arial" pitchFamily="34" charset="-122"/>
                <a:cs typeface="Arial" pitchFamily="34" charset="-120"/>
              </a:rPr>
              <a:t>Sources canadiennes</a:t>
            </a:r>
            <a:endParaRPr lang="en-US" sz="3400" dirty="0"/>
          </a:p>
        </p:txBody>
      </p:sp>
      <p:sp>
        <p:nvSpPr>
          <p:cNvPr id="5" name="Text 3"/>
          <p:cNvSpPr/>
          <p:nvPr/>
        </p:nvSpPr>
        <p:spPr>
          <a:xfrm>
            <a:off x="594360" y="2258568"/>
            <a:ext cx="411480" cy="256032"/>
          </a:xfrm>
          <a:prstGeom prst="rect">
            <a:avLst/>
          </a:prstGeom>
          <a:noFill/>
          <a:ln/>
        </p:spPr>
        <p:txBody>
          <a:bodyPr wrap="square" lIns="0" tIns="0" rIns="0" bIns="0" rtlCol="0" anchor="ctr">
            <a:normAutofit/>
          </a:bodyPr>
          <a:lstStyle/>
          <a:p>
            <a:pPr indent="0" marL="0">
              <a:buNone/>
            </a:pPr>
            <a:r>
              <a:rPr lang="en-US" sz="1100" b="1" dirty="0">
                <a:solidFill>
                  <a:srgbClr val="F56B32"/>
                </a:solidFill>
                <a:latin typeface="Arial" pitchFamily="34" charset="0"/>
                <a:ea typeface="Arial" pitchFamily="34" charset="-122"/>
                <a:cs typeface="Arial" pitchFamily="34" charset="-120"/>
              </a:rPr>
              <a:t>01</a:t>
            </a:r>
            <a:endParaRPr lang="en-US" sz="1100" dirty="0"/>
          </a:p>
        </p:txBody>
      </p:sp>
      <p:sp>
        <p:nvSpPr>
          <p:cNvPr id="6" name="Text 4"/>
          <p:cNvSpPr/>
          <p:nvPr/>
        </p:nvSpPr>
        <p:spPr>
          <a:xfrm>
            <a:off x="1133856" y="2258568"/>
            <a:ext cx="10332720" cy="929640"/>
          </a:xfrm>
          <a:prstGeom prst="rect">
            <a:avLst/>
          </a:prstGeom>
          <a:noFill/>
          <a:ln/>
        </p:spPr>
        <p:txBody>
          <a:bodyPr wrap="square" lIns="0" tIns="0" rIns="0" bIns="0" rtlCol="0" anchor="ctr">
            <a:normAutofit/>
          </a:bodyPr>
          <a:lstStyle/>
          <a:p>
            <a:pPr indent="0" marL="0">
              <a:buNone/>
            </a:pPr>
            <a:r>
              <a:rPr lang="en-US" sz="1600" dirty="0">
                <a:solidFill>
                  <a:srgbClr val="171C20"/>
                </a:solidFill>
                <a:latin typeface="Arial" pitchFamily="34" charset="0"/>
                <a:ea typeface="Arial" pitchFamily="34" charset="-122"/>
                <a:cs typeface="Arial" pitchFamily="34" charset="-120"/>
              </a:rPr>
              <a:t>Statistique Canada — Tableau 22-10-0120-01, données 2023. Avec/sans site selon taille d’entreprise. Sans = complément calculé.</a:t>
            </a:r>
            <a:endParaRPr lang="en-US" sz="1600" dirty="0"/>
          </a:p>
        </p:txBody>
      </p:sp>
      <p:sp>
        <p:nvSpPr>
          <p:cNvPr id="7" name="Text 5">
            <a:hlinkClick r:id="rId1" tooltip=""/>
          </p:cNvPr>
          <p:cNvSpPr/>
          <p:nvPr/>
        </p:nvSpPr>
        <p:spPr>
          <a:xfrm>
            <a:off x="1133856" y="3203448"/>
            <a:ext cx="9144000" cy="182880"/>
          </a:xfrm>
          <a:prstGeom prst="rect">
            <a:avLst/>
          </a:prstGeom>
          <a:noFill/>
          <a:ln/>
        </p:spPr>
        <p:txBody>
          <a:bodyPr wrap="square" lIns="0" tIns="0" rIns="0" bIns="0" rtlCol="0" anchor="ctr">
            <a:normAutofit/>
          </a:bodyPr>
          <a:lstStyle/>
          <a:p>
            <a:pPr indent="0" marL="0">
              <a:buNone/>
            </a:pPr>
            <a:r>
              <a:rPr lang="en-US" sz="1000" b="1" u="sng" dirty="0">
                <a:solidFill>
                  <a:srgbClr val="F56B32"/>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CONSULTER LA SOURCE</a:t>
            </a:r>
            <a:endParaRPr lang="en-US" sz="1000" dirty="0"/>
          </a:p>
        </p:txBody>
      </p:sp>
      <p:sp>
        <p:nvSpPr>
          <p:cNvPr id="8" name="Text 6"/>
          <p:cNvSpPr/>
          <p:nvPr/>
        </p:nvSpPr>
        <p:spPr>
          <a:xfrm>
            <a:off x="594360" y="3462528"/>
            <a:ext cx="411480" cy="256032"/>
          </a:xfrm>
          <a:prstGeom prst="rect">
            <a:avLst/>
          </a:prstGeom>
          <a:noFill/>
          <a:ln/>
        </p:spPr>
        <p:txBody>
          <a:bodyPr wrap="square" lIns="0" tIns="0" rIns="0" bIns="0" rtlCol="0" anchor="ctr">
            <a:normAutofit/>
          </a:bodyPr>
          <a:lstStyle/>
          <a:p>
            <a:pPr indent="0" marL="0">
              <a:buNone/>
            </a:pPr>
            <a:r>
              <a:rPr lang="en-US" sz="1100" b="1" dirty="0">
                <a:solidFill>
                  <a:srgbClr val="F56B32"/>
                </a:solidFill>
                <a:latin typeface="Arial" pitchFamily="34" charset="0"/>
                <a:ea typeface="Arial" pitchFamily="34" charset="-122"/>
                <a:cs typeface="Arial" pitchFamily="34" charset="-120"/>
              </a:rPr>
              <a:t>02</a:t>
            </a:r>
            <a:endParaRPr lang="en-US" sz="1100" dirty="0"/>
          </a:p>
        </p:txBody>
      </p:sp>
      <p:sp>
        <p:nvSpPr>
          <p:cNvPr id="9" name="Text 7"/>
          <p:cNvSpPr/>
          <p:nvPr/>
        </p:nvSpPr>
        <p:spPr>
          <a:xfrm>
            <a:off x="1133856" y="3462528"/>
            <a:ext cx="10332720" cy="929640"/>
          </a:xfrm>
          <a:prstGeom prst="rect">
            <a:avLst/>
          </a:prstGeom>
          <a:noFill/>
          <a:ln/>
        </p:spPr>
        <p:txBody>
          <a:bodyPr wrap="square" lIns="0" tIns="0" rIns="0" bIns="0" rtlCol="0" anchor="ctr">
            <a:normAutofit/>
          </a:bodyPr>
          <a:lstStyle/>
          <a:p>
            <a:pPr indent="0" marL="0">
              <a:buNone/>
            </a:pPr>
            <a:r>
              <a:rPr lang="en-US" sz="1600" dirty="0">
                <a:solidFill>
                  <a:srgbClr val="171C20"/>
                </a:solidFill>
                <a:latin typeface="Arial" pitchFamily="34" charset="0"/>
                <a:ea typeface="Arial" pitchFamily="34" charset="-122"/>
                <a:cs typeface="Arial" pitchFamily="34" charset="-120"/>
              </a:rPr>
              <a:t>CIRA — Canadian Internet Trends 2025. Panel de 2 000 internautes canadiens adultes; préférences et confiance déclarées.</a:t>
            </a:r>
            <a:endParaRPr lang="en-US" sz="1600" dirty="0"/>
          </a:p>
        </p:txBody>
      </p:sp>
      <p:sp>
        <p:nvSpPr>
          <p:cNvPr id="10" name="Text 8">
            <a:hlinkClick r:id="rId2" tooltip=""/>
          </p:cNvPr>
          <p:cNvSpPr/>
          <p:nvPr/>
        </p:nvSpPr>
        <p:spPr>
          <a:xfrm>
            <a:off x="1133856" y="4407408"/>
            <a:ext cx="9144000" cy="182880"/>
          </a:xfrm>
          <a:prstGeom prst="rect">
            <a:avLst/>
          </a:prstGeom>
          <a:noFill/>
          <a:ln/>
        </p:spPr>
        <p:txBody>
          <a:bodyPr wrap="square" lIns="0" tIns="0" rIns="0" bIns="0" rtlCol="0" anchor="ctr">
            <a:normAutofit/>
          </a:bodyPr>
          <a:lstStyle/>
          <a:p>
            <a:pPr indent="0" marL="0">
              <a:buNone/>
            </a:pPr>
            <a:r>
              <a:rPr lang="en-US" sz="1000" b="1" u="sng" dirty="0">
                <a:solidFill>
                  <a:srgbClr val="F56B32"/>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CONSULTER LA SOURCE</a:t>
            </a:r>
            <a:endParaRPr lang="en-US" sz="1000" dirty="0"/>
          </a:p>
        </p:txBody>
      </p:sp>
      <p:sp>
        <p:nvSpPr>
          <p:cNvPr id="11" name="Text 9"/>
          <p:cNvSpPr/>
          <p:nvPr/>
        </p:nvSpPr>
        <p:spPr>
          <a:xfrm>
            <a:off x="594360" y="4666488"/>
            <a:ext cx="411480" cy="256032"/>
          </a:xfrm>
          <a:prstGeom prst="rect">
            <a:avLst/>
          </a:prstGeom>
          <a:noFill/>
          <a:ln/>
        </p:spPr>
        <p:txBody>
          <a:bodyPr wrap="square" lIns="0" tIns="0" rIns="0" bIns="0" rtlCol="0" anchor="ctr">
            <a:normAutofit/>
          </a:bodyPr>
          <a:lstStyle/>
          <a:p>
            <a:pPr indent="0" marL="0">
              <a:buNone/>
            </a:pPr>
            <a:r>
              <a:rPr lang="en-US" sz="1100" b="1" dirty="0">
                <a:solidFill>
                  <a:srgbClr val="F56B32"/>
                </a:solidFill>
                <a:latin typeface="Arial" pitchFamily="34" charset="0"/>
                <a:ea typeface="Arial" pitchFamily="34" charset="-122"/>
                <a:cs typeface="Arial" pitchFamily="34" charset="-120"/>
              </a:rPr>
              <a:t>03</a:t>
            </a:r>
            <a:endParaRPr lang="en-US" sz="1100" dirty="0"/>
          </a:p>
        </p:txBody>
      </p:sp>
      <p:sp>
        <p:nvSpPr>
          <p:cNvPr id="12" name="Text 10"/>
          <p:cNvSpPr/>
          <p:nvPr/>
        </p:nvSpPr>
        <p:spPr>
          <a:xfrm>
            <a:off x="1133856" y="4666488"/>
            <a:ext cx="10332720" cy="929640"/>
          </a:xfrm>
          <a:prstGeom prst="rect">
            <a:avLst/>
          </a:prstGeom>
          <a:noFill/>
          <a:ln/>
        </p:spPr>
        <p:txBody>
          <a:bodyPr wrap="square" lIns="0" tIns="0" rIns="0" bIns="0" rtlCol="0" anchor="ctr">
            <a:normAutofit/>
          </a:bodyPr>
          <a:lstStyle/>
          <a:p>
            <a:pPr indent="0" marL="0">
              <a:buNone/>
            </a:pPr>
            <a:r>
              <a:rPr lang="en-US" sz="1600" dirty="0">
                <a:solidFill>
                  <a:srgbClr val="171C20"/>
                </a:solidFill>
                <a:latin typeface="Arial" pitchFamily="34" charset="0"/>
                <a:ea typeface="Arial" pitchFamily="34" charset="-122"/>
                <a:cs typeface="Arial" pitchFamily="34" charset="-120"/>
              </a:rPr>
              <a:t>J.D. Power — Canada CSI-LT 2026, 10 septembre 2026. 10 262 propriétaires, véhicules de 4 à 12 ans.</a:t>
            </a:r>
            <a:endParaRPr lang="en-US" sz="1600" dirty="0"/>
          </a:p>
        </p:txBody>
      </p:sp>
      <p:sp>
        <p:nvSpPr>
          <p:cNvPr id="13" name="Text 11">
            <a:hlinkClick r:id="rId3" tooltip=""/>
          </p:cNvPr>
          <p:cNvSpPr/>
          <p:nvPr/>
        </p:nvSpPr>
        <p:spPr>
          <a:xfrm>
            <a:off x="1133856" y="5611368"/>
            <a:ext cx="9144000" cy="182880"/>
          </a:xfrm>
          <a:prstGeom prst="rect">
            <a:avLst/>
          </a:prstGeom>
          <a:noFill/>
          <a:ln/>
        </p:spPr>
        <p:txBody>
          <a:bodyPr wrap="square" lIns="0" tIns="0" rIns="0" bIns="0" rtlCol="0" anchor="ctr">
            <a:normAutofit/>
          </a:bodyPr>
          <a:lstStyle/>
          <a:p>
            <a:pPr indent="0" marL="0">
              <a:buNone/>
            </a:pPr>
            <a:r>
              <a:rPr lang="en-US" sz="1000" b="1" u="sng" dirty="0">
                <a:solidFill>
                  <a:srgbClr val="F56B32"/>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CONSULTER LA SOURCE</a:t>
            </a:r>
            <a:endParaRPr lang="en-US" sz="1000" dirty="0"/>
          </a:p>
        </p:txBody>
      </p:sp>
      <p:sp>
        <p:nvSpPr>
          <p:cNvPr id="14" name="Text 12"/>
          <p:cNvSpPr/>
          <p:nvPr/>
        </p:nvSpPr>
        <p:spPr>
          <a:xfrm>
            <a:off x="594360" y="6519672"/>
            <a:ext cx="7315200" cy="182880"/>
          </a:xfrm>
          <a:prstGeom prst="rect">
            <a:avLst/>
          </a:prstGeom>
          <a:noFill/>
          <a:ln/>
        </p:spPr>
        <p:txBody>
          <a:bodyPr wrap="square" lIns="0" tIns="0" rIns="0" bIns="0" rtlCol="0" anchor="ctr">
            <a:normAutofit/>
          </a:bodyPr>
          <a:lstStyle/>
          <a:p>
            <a:pPr indent="0" marL="0">
              <a:buNone/>
            </a:pPr>
            <a:r>
              <a:rPr lang="en-US" sz="900" dirty="0">
                <a:solidFill>
                  <a:srgbClr val="56616A"/>
                </a:solidFill>
                <a:latin typeface="Arial" pitchFamily="34" charset="0"/>
                <a:ea typeface="Arial" pitchFamily="34" charset="-122"/>
                <a:cs typeface="Arial" pitchFamily="34" charset="-120"/>
              </a:rPr>
              <a:t>VISION TECH AI  /  GARAGES</a:t>
            </a:r>
            <a:endParaRPr lang="en-US" sz="900" dirty="0"/>
          </a:p>
        </p:txBody>
      </p:sp>
      <p:sp>
        <p:nvSpPr>
          <p:cNvPr id="15" name="Text 13"/>
          <p:cNvSpPr/>
          <p:nvPr/>
        </p:nvSpPr>
        <p:spPr>
          <a:xfrm>
            <a:off x="10789920" y="6473952"/>
            <a:ext cx="777240" cy="228600"/>
          </a:xfrm>
          <a:prstGeom prst="rect">
            <a:avLst/>
          </a:prstGeom>
          <a:noFill/>
          <a:ln/>
        </p:spPr>
        <p:txBody>
          <a:bodyPr wrap="square" lIns="0" tIns="0" rIns="0" bIns="0" rtlCol="0" anchor="ctr">
            <a:normAutofit/>
          </a:bodyPr>
          <a:lstStyle/>
          <a:p>
            <a:pPr algn="r" indent="0" marL="0">
              <a:buNone/>
            </a:pPr>
            <a:r>
              <a:rPr lang="en-US" sz="1100" dirty="0">
                <a:solidFill>
                  <a:srgbClr val="56616A"/>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594360" y="365760"/>
            <a:ext cx="10698480" cy="274320"/>
          </a:xfrm>
          <a:prstGeom prst="rect">
            <a:avLst/>
          </a:prstGeom>
          <a:noFill/>
          <a:ln/>
        </p:spPr>
        <p:txBody>
          <a:bodyPr wrap="square" lIns="0" tIns="0" rIns="0" bIns="0" rtlCol="0" anchor="ctr">
            <a:normAutofit/>
          </a:bodyPr>
          <a:lstStyle/>
          <a:p>
            <a:pPr indent="0" marL="0">
              <a:buNone/>
            </a:pPr>
            <a:r>
              <a:rPr lang="en-US" sz="1100" b="1" dirty="0">
                <a:solidFill>
                  <a:srgbClr val="56616A"/>
                </a:solidFill>
                <a:latin typeface="Arial" pitchFamily="34" charset="0"/>
                <a:ea typeface="Arial" pitchFamily="34" charset="-122"/>
                <a:cs typeface="Arial" pitchFamily="34" charset="-120"/>
              </a:rPr>
              <a:t>ANNEXE • PORTÉE ET LIMITES</a:t>
            </a:r>
            <a:endParaRPr lang="en-US" sz="1100" dirty="0"/>
          </a:p>
        </p:txBody>
      </p:sp>
      <p:sp>
        <p:nvSpPr>
          <p:cNvPr id="4" name="Text 2"/>
          <p:cNvSpPr/>
          <p:nvPr/>
        </p:nvSpPr>
        <p:spPr>
          <a:xfrm>
            <a:off x="594360" y="896112"/>
            <a:ext cx="10972800" cy="1143000"/>
          </a:xfrm>
          <a:prstGeom prst="rect">
            <a:avLst/>
          </a:prstGeom>
          <a:noFill/>
          <a:ln/>
        </p:spPr>
        <p:txBody>
          <a:bodyPr wrap="square" lIns="0" tIns="0" rIns="0" bIns="0" rtlCol="0" anchor="ctr">
            <a:normAutofit/>
          </a:bodyPr>
          <a:lstStyle/>
          <a:p>
            <a:pPr indent="0" marL="0">
              <a:buNone/>
            </a:pPr>
            <a:r>
              <a:rPr lang="en-US" sz="3400" b="1" dirty="0">
                <a:solidFill>
                  <a:srgbClr val="171C20"/>
                </a:solidFill>
                <a:latin typeface="Arial" pitchFamily="34" charset="0"/>
                <a:ea typeface="Arial" pitchFamily="34" charset="-122"/>
                <a:cs typeface="Arial" pitchFamily="34" charset="-120"/>
              </a:rPr>
              <a:t>Sources américaines</a:t>
            </a:r>
            <a:endParaRPr lang="en-US" sz="3400" dirty="0"/>
          </a:p>
          <a:p>
            <a:pPr indent="0" marL="0">
              <a:buNone/>
            </a:pPr>
            <a:r>
              <a:rPr lang="en-US" sz="3400" b="1" dirty="0">
                <a:solidFill>
                  <a:srgbClr val="171C20"/>
                </a:solidFill>
                <a:latin typeface="Arial" pitchFamily="34" charset="0"/>
                <a:ea typeface="Arial" pitchFamily="34" charset="-122"/>
                <a:cs typeface="Arial" pitchFamily="34" charset="-120"/>
              </a:rPr>
              <a:t>et règles de lecture</a:t>
            </a:r>
            <a:endParaRPr lang="en-US" sz="3400" dirty="0"/>
          </a:p>
        </p:txBody>
      </p:sp>
      <p:sp>
        <p:nvSpPr>
          <p:cNvPr id="5" name="Text 3"/>
          <p:cNvSpPr/>
          <p:nvPr/>
        </p:nvSpPr>
        <p:spPr>
          <a:xfrm>
            <a:off x="594360" y="2258568"/>
            <a:ext cx="411480" cy="256032"/>
          </a:xfrm>
          <a:prstGeom prst="rect">
            <a:avLst/>
          </a:prstGeom>
          <a:noFill/>
          <a:ln/>
        </p:spPr>
        <p:txBody>
          <a:bodyPr wrap="square" lIns="0" tIns="0" rIns="0" bIns="0" rtlCol="0" anchor="ctr">
            <a:normAutofit/>
          </a:bodyPr>
          <a:lstStyle/>
          <a:p>
            <a:pPr indent="0" marL="0">
              <a:buNone/>
            </a:pPr>
            <a:r>
              <a:rPr lang="en-US" sz="1100" b="1" dirty="0">
                <a:solidFill>
                  <a:srgbClr val="F56B32"/>
                </a:solidFill>
                <a:latin typeface="Arial" pitchFamily="34" charset="0"/>
                <a:ea typeface="Arial" pitchFamily="34" charset="-122"/>
                <a:cs typeface="Arial" pitchFamily="34" charset="-120"/>
              </a:rPr>
              <a:t>01</a:t>
            </a:r>
            <a:endParaRPr lang="en-US" sz="1100" dirty="0"/>
          </a:p>
        </p:txBody>
      </p:sp>
      <p:sp>
        <p:nvSpPr>
          <p:cNvPr id="6" name="Text 4"/>
          <p:cNvSpPr/>
          <p:nvPr/>
        </p:nvSpPr>
        <p:spPr>
          <a:xfrm>
            <a:off x="1133856" y="2258568"/>
            <a:ext cx="10332720" cy="697230"/>
          </a:xfrm>
          <a:prstGeom prst="rect">
            <a:avLst/>
          </a:prstGeom>
          <a:noFill/>
          <a:ln/>
        </p:spPr>
        <p:txBody>
          <a:bodyPr wrap="square" lIns="0" tIns="0" rIns="0" bIns="0" rtlCol="0" anchor="ctr">
            <a:normAutofit/>
          </a:bodyPr>
          <a:lstStyle/>
          <a:p>
            <a:pPr indent="0" marL="0">
              <a:buNone/>
            </a:pPr>
            <a:r>
              <a:rPr lang="en-US" sz="1600" dirty="0">
                <a:solidFill>
                  <a:srgbClr val="171C20"/>
                </a:solidFill>
                <a:latin typeface="Arial" pitchFamily="34" charset="0"/>
                <a:ea typeface="Arial" pitchFamily="34" charset="-122"/>
                <a:cs typeface="Arial" pitchFamily="34" charset="-120"/>
              </a:rPr>
              <a:t>BrightLocal — Local Consumer Review Survey 2026. Panel de 1 002 adultes américains; actions déclarées après avis positifs.</a:t>
            </a:r>
            <a:endParaRPr lang="en-US" sz="1600" dirty="0"/>
          </a:p>
        </p:txBody>
      </p:sp>
      <p:sp>
        <p:nvSpPr>
          <p:cNvPr id="7" name="Text 5">
            <a:hlinkClick r:id="rId1" tooltip=""/>
          </p:cNvPr>
          <p:cNvSpPr/>
          <p:nvPr/>
        </p:nvSpPr>
        <p:spPr>
          <a:xfrm>
            <a:off x="1133856" y="2967228"/>
            <a:ext cx="9144000" cy="182880"/>
          </a:xfrm>
          <a:prstGeom prst="rect">
            <a:avLst/>
          </a:prstGeom>
          <a:noFill/>
          <a:ln/>
        </p:spPr>
        <p:txBody>
          <a:bodyPr wrap="square" lIns="0" tIns="0" rIns="0" bIns="0" rtlCol="0" anchor="ctr">
            <a:normAutofit/>
          </a:bodyPr>
          <a:lstStyle/>
          <a:p>
            <a:pPr indent="0" marL="0">
              <a:buNone/>
            </a:pPr>
            <a:r>
              <a:rPr lang="en-US" sz="1000" b="1" u="sng" dirty="0">
                <a:solidFill>
                  <a:srgbClr val="F56B32"/>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CONSULTER LA SOURCE</a:t>
            </a:r>
            <a:endParaRPr lang="en-US" sz="1000" dirty="0"/>
          </a:p>
        </p:txBody>
      </p:sp>
      <p:sp>
        <p:nvSpPr>
          <p:cNvPr id="8" name="Text 6"/>
          <p:cNvSpPr/>
          <p:nvPr/>
        </p:nvSpPr>
        <p:spPr>
          <a:xfrm>
            <a:off x="594360" y="3161538"/>
            <a:ext cx="411480" cy="256032"/>
          </a:xfrm>
          <a:prstGeom prst="rect">
            <a:avLst/>
          </a:prstGeom>
          <a:noFill/>
          <a:ln/>
        </p:spPr>
        <p:txBody>
          <a:bodyPr wrap="square" lIns="0" tIns="0" rIns="0" bIns="0" rtlCol="0" anchor="ctr">
            <a:normAutofit/>
          </a:bodyPr>
          <a:lstStyle/>
          <a:p>
            <a:pPr indent="0" marL="0">
              <a:buNone/>
            </a:pPr>
            <a:r>
              <a:rPr lang="en-US" sz="1100" b="1" dirty="0">
                <a:solidFill>
                  <a:srgbClr val="F56B32"/>
                </a:solidFill>
                <a:latin typeface="Arial" pitchFamily="34" charset="0"/>
                <a:ea typeface="Arial" pitchFamily="34" charset="-122"/>
                <a:cs typeface="Arial" pitchFamily="34" charset="-120"/>
              </a:rPr>
              <a:t>02</a:t>
            </a:r>
            <a:endParaRPr lang="en-US" sz="1100" dirty="0"/>
          </a:p>
        </p:txBody>
      </p:sp>
      <p:sp>
        <p:nvSpPr>
          <p:cNvPr id="9" name="Text 7"/>
          <p:cNvSpPr/>
          <p:nvPr/>
        </p:nvSpPr>
        <p:spPr>
          <a:xfrm>
            <a:off x="1133856" y="3161538"/>
            <a:ext cx="10332720" cy="697230"/>
          </a:xfrm>
          <a:prstGeom prst="rect">
            <a:avLst/>
          </a:prstGeom>
          <a:noFill/>
          <a:ln/>
        </p:spPr>
        <p:txBody>
          <a:bodyPr wrap="square" lIns="0" tIns="0" rIns="0" bIns="0" rtlCol="0" anchor="ctr">
            <a:normAutofit/>
          </a:bodyPr>
          <a:lstStyle/>
          <a:p>
            <a:pPr indent="0" marL="0">
              <a:buNone/>
            </a:pPr>
            <a:r>
              <a:rPr lang="en-US" sz="1600" dirty="0">
                <a:solidFill>
                  <a:srgbClr val="171C20"/>
                </a:solidFill>
                <a:latin typeface="Arial" pitchFamily="34" charset="0"/>
                <a:ea typeface="Arial" pitchFamily="34" charset="-122"/>
                <a:cs typeface="Arial" pitchFamily="34" charset="-120"/>
              </a:rPr>
              <a:t>CDK — Service Shopper 5.0, 2025, p. 16. 2 051 répondants; réservation par type de prestataire.</a:t>
            </a:r>
            <a:endParaRPr lang="en-US" sz="1600" dirty="0"/>
          </a:p>
        </p:txBody>
      </p:sp>
      <p:sp>
        <p:nvSpPr>
          <p:cNvPr id="10" name="Text 8">
            <a:hlinkClick r:id="rId2" tooltip=""/>
          </p:cNvPr>
          <p:cNvSpPr/>
          <p:nvPr/>
        </p:nvSpPr>
        <p:spPr>
          <a:xfrm>
            <a:off x="1133856" y="3870198"/>
            <a:ext cx="9144000" cy="182880"/>
          </a:xfrm>
          <a:prstGeom prst="rect">
            <a:avLst/>
          </a:prstGeom>
          <a:noFill/>
          <a:ln/>
        </p:spPr>
        <p:txBody>
          <a:bodyPr wrap="square" lIns="0" tIns="0" rIns="0" bIns="0" rtlCol="0" anchor="ctr">
            <a:normAutofit/>
          </a:bodyPr>
          <a:lstStyle/>
          <a:p>
            <a:pPr indent="0" marL="0">
              <a:buNone/>
            </a:pPr>
            <a:r>
              <a:rPr lang="en-US" sz="1000" b="1" u="sng" dirty="0">
                <a:solidFill>
                  <a:srgbClr val="F56B32"/>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CONSULTER LA SOURCE</a:t>
            </a:r>
            <a:endParaRPr lang="en-US" sz="1000" dirty="0"/>
          </a:p>
        </p:txBody>
      </p:sp>
      <p:sp>
        <p:nvSpPr>
          <p:cNvPr id="11" name="Text 9"/>
          <p:cNvSpPr/>
          <p:nvPr/>
        </p:nvSpPr>
        <p:spPr>
          <a:xfrm>
            <a:off x="594360" y="4064508"/>
            <a:ext cx="411480" cy="256032"/>
          </a:xfrm>
          <a:prstGeom prst="rect">
            <a:avLst/>
          </a:prstGeom>
          <a:noFill/>
          <a:ln/>
        </p:spPr>
        <p:txBody>
          <a:bodyPr wrap="square" lIns="0" tIns="0" rIns="0" bIns="0" rtlCol="0" anchor="ctr">
            <a:normAutofit/>
          </a:bodyPr>
          <a:lstStyle/>
          <a:p>
            <a:pPr indent="0" marL="0">
              <a:buNone/>
            </a:pPr>
            <a:r>
              <a:rPr lang="en-US" sz="1100" b="1" dirty="0">
                <a:solidFill>
                  <a:srgbClr val="F56B32"/>
                </a:solidFill>
                <a:latin typeface="Arial" pitchFamily="34" charset="0"/>
                <a:ea typeface="Arial" pitchFamily="34" charset="-122"/>
                <a:cs typeface="Arial" pitchFamily="34" charset="-120"/>
              </a:rPr>
              <a:t>03</a:t>
            </a:r>
            <a:endParaRPr lang="en-US" sz="1100" dirty="0"/>
          </a:p>
        </p:txBody>
      </p:sp>
      <p:sp>
        <p:nvSpPr>
          <p:cNvPr id="12" name="Text 10"/>
          <p:cNvSpPr/>
          <p:nvPr/>
        </p:nvSpPr>
        <p:spPr>
          <a:xfrm>
            <a:off x="1133856" y="4064508"/>
            <a:ext cx="10332720" cy="697230"/>
          </a:xfrm>
          <a:prstGeom prst="rect">
            <a:avLst/>
          </a:prstGeom>
          <a:noFill/>
          <a:ln/>
        </p:spPr>
        <p:txBody>
          <a:bodyPr wrap="square" lIns="0" tIns="0" rIns="0" bIns="0" rtlCol="0" anchor="ctr">
            <a:normAutofit/>
          </a:bodyPr>
          <a:lstStyle/>
          <a:p>
            <a:pPr indent="0" marL="0">
              <a:buNone/>
            </a:pPr>
            <a:r>
              <a:rPr lang="en-US" sz="1600" dirty="0">
                <a:solidFill>
                  <a:srgbClr val="171C20"/>
                </a:solidFill>
                <a:latin typeface="Arial" pitchFamily="34" charset="0"/>
                <a:ea typeface="Arial" pitchFamily="34" charset="-122"/>
                <a:cs typeface="Arial" pitchFamily="34" charset="-120"/>
              </a:rPr>
              <a:t>Les données américaines illustrent des usages. Elles ne sont pas des estimations québécoises.</a:t>
            </a:r>
            <a:endParaRPr lang="en-US" sz="1600" dirty="0"/>
          </a:p>
        </p:txBody>
      </p:sp>
      <p:sp>
        <p:nvSpPr>
          <p:cNvPr id="13" name="Text 11"/>
          <p:cNvSpPr/>
          <p:nvPr/>
        </p:nvSpPr>
        <p:spPr>
          <a:xfrm>
            <a:off x="594360" y="4967478"/>
            <a:ext cx="411480" cy="256032"/>
          </a:xfrm>
          <a:prstGeom prst="rect">
            <a:avLst/>
          </a:prstGeom>
          <a:noFill/>
          <a:ln/>
        </p:spPr>
        <p:txBody>
          <a:bodyPr wrap="square" lIns="0" tIns="0" rIns="0" bIns="0" rtlCol="0" anchor="ctr">
            <a:normAutofit/>
          </a:bodyPr>
          <a:lstStyle/>
          <a:p>
            <a:pPr indent="0" marL="0">
              <a:buNone/>
            </a:pPr>
            <a:r>
              <a:rPr lang="en-US" sz="1100" b="1" dirty="0">
                <a:solidFill>
                  <a:srgbClr val="F56B32"/>
                </a:solidFill>
                <a:latin typeface="Arial" pitchFamily="34" charset="0"/>
                <a:ea typeface="Arial" pitchFamily="34" charset="-122"/>
                <a:cs typeface="Arial" pitchFamily="34" charset="-120"/>
              </a:rPr>
              <a:t>04</a:t>
            </a:r>
            <a:endParaRPr lang="en-US" sz="1100" dirty="0"/>
          </a:p>
        </p:txBody>
      </p:sp>
      <p:sp>
        <p:nvSpPr>
          <p:cNvPr id="14" name="Text 12"/>
          <p:cNvSpPr/>
          <p:nvPr/>
        </p:nvSpPr>
        <p:spPr>
          <a:xfrm>
            <a:off x="1133856" y="4967478"/>
            <a:ext cx="10332720" cy="697230"/>
          </a:xfrm>
          <a:prstGeom prst="rect">
            <a:avLst/>
          </a:prstGeom>
          <a:noFill/>
          <a:ln/>
        </p:spPr>
        <p:txBody>
          <a:bodyPr wrap="square" lIns="0" tIns="0" rIns="0" bIns="0" rtlCol="0" anchor="ctr">
            <a:normAutofit/>
          </a:bodyPr>
          <a:lstStyle/>
          <a:p>
            <a:pPr indent="0" marL="0">
              <a:buNone/>
            </a:pPr>
            <a:r>
              <a:rPr lang="en-US" sz="1600" dirty="0">
                <a:solidFill>
                  <a:srgbClr val="171C20"/>
                </a:solidFill>
                <a:latin typeface="Arial" pitchFamily="34" charset="0"/>
                <a:ea typeface="Arial" pitchFamily="34" charset="-122"/>
                <a:cs typeface="Arial" pitchFamily="34" charset="-120"/>
              </a:rPr>
              <a:t>Aucun gain de revenu garanti. Mise en situation, budget et seuil de rentabilité sont illustratifs.</a:t>
            </a:r>
            <a:endParaRPr lang="en-US" sz="1600" dirty="0"/>
          </a:p>
        </p:txBody>
      </p:sp>
      <p:sp>
        <p:nvSpPr>
          <p:cNvPr id="15" name="Text 13"/>
          <p:cNvSpPr/>
          <p:nvPr/>
        </p:nvSpPr>
        <p:spPr>
          <a:xfrm>
            <a:off x="594360" y="6519672"/>
            <a:ext cx="7315200" cy="182880"/>
          </a:xfrm>
          <a:prstGeom prst="rect">
            <a:avLst/>
          </a:prstGeom>
          <a:noFill/>
          <a:ln/>
        </p:spPr>
        <p:txBody>
          <a:bodyPr wrap="square" lIns="0" tIns="0" rIns="0" bIns="0" rtlCol="0" anchor="ctr">
            <a:normAutofit/>
          </a:bodyPr>
          <a:lstStyle/>
          <a:p>
            <a:pPr indent="0" marL="0">
              <a:buNone/>
            </a:pPr>
            <a:r>
              <a:rPr lang="en-US" sz="900" dirty="0">
                <a:solidFill>
                  <a:srgbClr val="56616A"/>
                </a:solidFill>
                <a:latin typeface="Arial" pitchFamily="34" charset="0"/>
                <a:ea typeface="Arial" pitchFamily="34" charset="-122"/>
                <a:cs typeface="Arial" pitchFamily="34" charset="-120"/>
              </a:rPr>
              <a:t>VISION TECH AI  /  GARAGES</a:t>
            </a:r>
            <a:endParaRPr lang="en-US" sz="900" dirty="0"/>
          </a:p>
        </p:txBody>
      </p:sp>
      <p:sp>
        <p:nvSpPr>
          <p:cNvPr id="16" name="Text 14"/>
          <p:cNvSpPr/>
          <p:nvPr/>
        </p:nvSpPr>
        <p:spPr>
          <a:xfrm>
            <a:off x="10789920" y="6473952"/>
            <a:ext cx="777240" cy="228600"/>
          </a:xfrm>
          <a:prstGeom prst="rect">
            <a:avLst/>
          </a:prstGeom>
          <a:noFill/>
          <a:ln/>
        </p:spPr>
        <p:txBody>
          <a:bodyPr wrap="square" lIns="0" tIns="0" rIns="0" bIns="0" rtlCol="0" anchor="ctr">
            <a:normAutofit/>
          </a:bodyPr>
          <a:lstStyle/>
          <a:p>
            <a:pPr algn="r" indent="0" marL="0">
              <a:buNone/>
            </a:pPr>
            <a:r>
              <a:rPr lang="en-US" sz="1100" dirty="0">
                <a:solidFill>
                  <a:srgbClr val="56616A"/>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Vision Tech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Garages automobiles — Pourquoi un site web en 2026</dc:title>
  <dc:subject>Garages automobiles et présence web en 2026</dc:subject>
  <dc:creator>Vision Tech AI</dc:creator>
  <cp:lastModifiedBy>Vision Tech AI</cp:lastModifiedBy>
  <cp:revision>1</cp:revision>
  <dcterms:created xsi:type="dcterms:W3CDTF">2026-09-24T06:50:04Z</dcterms:created>
  <dcterms:modified xsi:type="dcterms:W3CDTF">2026-09-24T06:50:04Z</dcterms:modified>
</cp:coreProperties>
</file>