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KMD Web accompagne les entreprises de la première idée au lancement. La fondatrice est Mélanie Desrochers, selon le site officiel kmdweb.ca.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page de service communique trois bénéfices lisibles: design, parcours et motion. Les animations sont adaptées à la portée du projet et à l’expérience utilisateur.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sommes sont des dollars canadiens, prix de départ. La proposition précise le périmètre, les fonctionnalités, les frais récurrents applicables et les taxes.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prix de départ correspond à une landing page d’environ 3 à 4 sections. Chaque bloc supplémentaire se situe de 99 à 199 dollars canadiens. Le coût exact est confirmé avant le démarrage.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forfait de départ inclut plusieurs pages, un formulaire de contact complet et une personnalisation à 100 %, comme demandé par KMD Web. Le nombre de pages et les fonctions précises doivent être confirmés au devis. Ne pas présenter le domaine, l’hébergement ou l’entretien comme inclus sauf mention explicite dans le devis.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prix de départ est indicatif et dépend des outils, intégrations, règles métier et niveaux de test. Des frais d’abonnement ou d’usage des plateformes peuvent s’appliquer; ils sont précisés dans la proposition.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motion design est un point fort demandé par KMD Web. Les animations restent adaptées au contexte, à l’accessibilité et aux appareils. Respecter prefers-reduced-motion sur les projets web.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Reprend la méthode de KMD Web affichée en ligne: diagnostic, prototype, construction et lancement.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liens de projets sont les réalisations fournies par KMD Web. Ils restent cliquables dans le PowerPoint et le PDF.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Nom, rôle et plus de huit ans d’expérience sont déclarés sur kmdweb.ca. Formulation personnelle issue du contenu public du site.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Appel à l’action dirige vers le diagnostic de KMD Web.
https://kmdweb.ca/diagnostic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airpurbelzile.ca/" TargetMode="External"/><Relationship Id="rId2" Type="http://schemas.openxmlformats.org/officeDocument/2006/relationships/hyperlink" Target="https://www.airpurbelzile.ca/" TargetMode="External"/><Relationship Id="rId3" Type="http://schemas.openxmlformats.org/officeDocument/2006/relationships/hyperlink" Target="https://nexiorconstruction.com/fr/" TargetMode="External"/><Relationship Id="rId4" Type="http://schemas.openxmlformats.org/officeDocument/2006/relationships/hyperlink" Target="https://nexiorconstruction.com/fr/" TargetMode="External"/><Relationship Id="rId5" Type="http://schemas.openxmlformats.org/officeDocument/2006/relationships/hyperlink" Target="https://htremblay.ca/" TargetMode="External"/><Relationship Id="rId6" Type="http://schemas.openxmlformats.org/officeDocument/2006/relationships/hyperlink" Target="https://htremblay.ca/" TargetMode="External"/><Relationship Id="rId7" Type="http://schemas.openxmlformats.org/officeDocument/2006/relationships/hyperlink" Target="https://chantalcharette.com/" TargetMode="External"/><Relationship Id="rId8" Type="http://schemas.openxmlformats.org/officeDocument/2006/relationships/hyperlink" Target="https://chantalcharette.com/" TargetMode="External"/><Relationship Id="rId9" Type="http://schemas.openxmlformats.org/officeDocument/2006/relationships/hyperlink" Target="https://www.fleurmidable.com/" TargetMode="External"/><Relationship Id="rId10" Type="http://schemas.openxmlformats.org/officeDocument/2006/relationships/hyperlink" Target="https://www.fleurmidable.com/" TargetMode="External"/><Relationship Id="rId11" Type="http://schemas.openxmlformats.org/officeDocument/2006/relationships/hyperlink" Target="https://shinebreath.com/" TargetMode="External"/><Relationship Id="rId12" Type="http://schemas.openxmlformats.org/officeDocument/2006/relationships/hyperlink" Target="https://shinebreath.com/" TargetMode="External"/><Relationship Id="rId13" Type="http://schemas.openxmlformats.org/officeDocument/2006/relationships/hyperlink" Target="https://kmdweb.ca/" TargetMode="External"/><Relationship Id="rId14" Type="http://schemas.openxmlformats.org/officeDocument/2006/relationships/hyperlink" Target="https://kmdweb.ca/" TargetMode="External"/><Relationship Id="rId15" Type="http://schemas.openxmlformats.org/officeDocument/2006/relationships/slideLayout" Target="../slideLayouts/slideLayout1.xml"/><Relationship Id="rId1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kmdweb.ca/diagnostic"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80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080B"/>
          </a:solidFill>
          <a:ln w="12700">
            <a:solidFill>
              <a:srgbClr val="08080B">
                <a:alpha val="0"/>
              </a:srgbClr>
            </a:solidFill>
            <a:prstDash val="solid"/>
          </a:ln>
        </p:spPr>
      </p:sp>
      <p:sp>
        <p:nvSpPr>
          <p:cNvPr id="3" name="Text 1"/>
          <p:cNvSpPr/>
          <p:nvPr/>
        </p:nvSpPr>
        <p:spPr>
          <a:xfrm>
            <a:off x="566928" y="347472"/>
            <a:ext cx="10058400" cy="219456"/>
          </a:xfrm>
          <a:prstGeom prst="rect">
            <a:avLst/>
          </a:prstGeom>
          <a:noFill/>
          <a:ln/>
        </p:spPr>
        <p:txBody>
          <a:bodyPr wrap="square" lIns="0" tIns="0" rIns="0" bIns="0" rtlCol="0" anchor="ctr">
            <a:normAutofit/>
          </a:bodyPr>
          <a:lstStyle/>
          <a:p>
            <a:pPr algn="l" indent="0" marL="0">
              <a:buNone/>
            </a:pPr>
            <a:r>
              <a:rPr lang="en-US" sz="1000" b="1" dirty="0">
                <a:solidFill>
                  <a:srgbClr val="54E1E6"/>
                </a:solidFill>
                <a:latin typeface="Arial" pitchFamily="34" charset="0"/>
                <a:ea typeface="Arial" pitchFamily="34" charset="-122"/>
                <a:cs typeface="Arial" pitchFamily="34" charset="-120"/>
              </a:rPr>
              <a:t>SITES WEB · APPLICATIONS · AUTOMATISATION IA</a:t>
            </a:r>
            <a:endParaRPr lang="en-US" sz="1000" dirty="0"/>
          </a:p>
        </p:txBody>
      </p:sp>
      <p:sp>
        <p:nvSpPr>
          <p:cNvPr id="4" name="Text 2"/>
          <p:cNvSpPr/>
          <p:nvPr/>
        </p:nvSpPr>
        <p:spPr>
          <a:xfrm>
            <a:off x="566928" y="786384"/>
            <a:ext cx="11018520" cy="1097280"/>
          </a:xfrm>
          <a:prstGeom prst="rect">
            <a:avLst/>
          </a:prstGeom>
          <a:noFill/>
          <a:ln/>
        </p:spPr>
        <p:txBody>
          <a:bodyPr wrap="square" lIns="0" tIns="0" rIns="0" bIns="0" rtlCol="0" anchor="ctr">
            <a:normAutofit/>
          </a:bodyPr>
          <a:lstStyle/>
          <a:p>
            <a:pPr algn="l" indent="0" marL="0">
              <a:buNone/>
            </a:pPr>
            <a:r>
              <a:rPr lang="en-US" sz="4400" b="1" dirty="0">
                <a:solidFill>
                  <a:srgbClr val="F7F5FA"/>
                </a:solidFill>
                <a:latin typeface="Arial" pitchFamily="34" charset="0"/>
                <a:ea typeface="Arial" pitchFamily="34" charset="-122"/>
                <a:cs typeface="Arial" pitchFamily="34" charset="-120"/>
              </a:rPr>
              <a:t>KMD WEB</a:t>
            </a:r>
            <a:endParaRPr lang="en-US" sz="4400" dirty="0"/>
          </a:p>
        </p:txBody>
      </p:sp>
      <p:sp>
        <p:nvSpPr>
          <p:cNvPr id="5" name="Shape 3"/>
          <p:cNvSpPr/>
          <p:nvPr/>
        </p:nvSpPr>
        <p:spPr>
          <a:xfrm>
            <a:off x="566928" y="6492240"/>
            <a:ext cx="11018520" cy="10973"/>
          </a:xfrm>
          <a:prstGeom prst="rect">
            <a:avLst/>
          </a:prstGeom>
          <a:solidFill>
            <a:srgbClr val="302A36"/>
          </a:solidFill>
          <a:ln w="12700">
            <a:solidFill>
              <a:srgbClr val="302A36">
                <a:alpha val="0"/>
              </a:srgbClr>
            </a:solidFill>
            <a:prstDash val="solid"/>
          </a:ln>
        </p:spPr>
      </p:sp>
      <p:sp>
        <p:nvSpPr>
          <p:cNvPr id="6" name="Text 4"/>
          <p:cNvSpPr/>
          <p:nvPr/>
        </p:nvSpPr>
        <p:spPr>
          <a:xfrm>
            <a:off x="566928" y="6583680"/>
            <a:ext cx="7315200" cy="164592"/>
          </a:xfrm>
          <a:prstGeom prst="rect">
            <a:avLst/>
          </a:prstGeom>
          <a:noFill/>
          <a:ln/>
        </p:spPr>
        <p:txBody>
          <a:bodyPr wrap="square" lIns="0" tIns="0" rIns="0" bIns="0" rtlCol="0" anchor="ctr">
            <a:normAutofit/>
          </a:bodyPr>
          <a:lstStyle/>
          <a:p>
            <a:pPr algn="l" indent="0" marL="0">
              <a:buNone/>
            </a:pPr>
            <a:r>
              <a:rPr lang="en-US" sz="800" dirty="0">
                <a:solidFill>
                  <a:srgbClr val="898392"/>
                </a:solidFill>
                <a:latin typeface="Arial" pitchFamily="34" charset="0"/>
                <a:ea typeface="Arial" pitchFamily="34" charset="-122"/>
                <a:cs typeface="Arial" pitchFamily="34" charset="-120"/>
              </a:rPr>
              <a:t>KMD WEB  /  SITES · DESIGN · IA</a:t>
            </a:r>
            <a:endParaRPr lang="en-US" sz="800" dirty="0"/>
          </a:p>
        </p:txBody>
      </p:sp>
      <p:sp>
        <p:nvSpPr>
          <p:cNvPr id="7" name="Text 5"/>
          <p:cNvSpPr/>
          <p:nvPr/>
        </p:nvSpPr>
        <p:spPr>
          <a:xfrm>
            <a:off x="10954512" y="6565392"/>
            <a:ext cx="640080" cy="164592"/>
          </a:xfrm>
          <a:prstGeom prst="rect">
            <a:avLst/>
          </a:prstGeom>
          <a:noFill/>
          <a:ln/>
        </p:spPr>
        <p:txBody>
          <a:bodyPr wrap="square" lIns="0" tIns="0" rIns="0" bIns="0" rtlCol="0" anchor="ctr">
            <a:normAutofit/>
          </a:bodyPr>
          <a:lstStyle/>
          <a:p>
            <a:pPr algn="r" indent="0" marL="0">
              <a:buNone/>
            </a:pPr>
            <a:r>
              <a:rPr lang="en-US" sz="900" dirty="0">
                <a:solidFill>
                  <a:srgbClr val="898392"/>
                </a:solidFill>
                <a:latin typeface="Arial" pitchFamily="34" charset="0"/>
                <a:ea typeface="Arial" pitchFamily="34" charset="-122"/>
                <a:cs typeface="Arial" pitchFamily="34" charset="-120"/>
              </a:rPr>
              <a:t>01</a:t>
            </a:r>
            <a:endParaRPr lang="en-US" sz="900" dirty="0"/>
          </a:p>
        </p:txBody>
      </p:sp>
      <p:sp>
        <p:nvSpPr>
          <p:cNvPr id="9" name="Text 6"/>
          <p:cNvSpPr/>
          <p:nvPr/>
        </p:nvSpPr>
        <p:spPr>
          <a:xfrm>
            <a:off x="566928" y="2176272"/>
            <a:ext cx="6949440" cy="914400"/>
          </a:xfrm>
          <a:prstGeom prst="rect">
            <a:avLst/>
          </a:prstGeom>
          <a:noFill/>
          <a:ln/>
        </p:spPr>
        <p:txBody>
          <a:bodyPr wrap="square" lIns="0" tIns="0" rIns="0" bIns="0" rtlCol="0" anchor="ctr">
            <a:normAutofit/>
          </a:bodyPr>
          <a:lstStyle/>
          <a:p>
            <a:pPr algn="l" indent="0" marL="0">
              <a:buNone/>
            </a:pPr>
            <a:r>
              <a:rPr lang="en-US" sz="2700" dirty="0">
                <a:solidFill>
                  <a:srgbClr val="F7F5FA"/>
                </a:solidFill>
                <a:latin typeface="Arial" pitchFamily="34" charset="0"/>
                <a:ea typeface="Arial" pitchFamily="34" charset="-122"/>
                <a:cs typeface="Arial" pitchFamily="34" charset="-120"/>
              </a:rPr>
              <a:t>Des expériences numériques qui font avancer votre entreprise.</a:t>
            </a:r>
            <a:endParaRPr lang="en-US" sz="2700" dirty="0"/>
          </a:p>
        </p:txBody>
      </p:sp>
      <p:sp>
        <p:nvSpPr>
          <p:cNvPr id="10" name="Text 7"/>
          <p:cNvSpPr/>
          <p:nvPr/>
        </p:nvSpPr>
        <p:spPr>
          <a:xfrm>
            <a:off x="566928" y="3310128"/>
            <a:ext cx="6217920" cy="548640"/>
          </a:xfrm>
          <a:prstGeom prst="rect">
            <a:avLst/>
          </a:prstGeom>
          <a:noFill/>
          <a:ln/>
        </p:spPr>
        <p:txBody>
          <a:bodyPr wrap="square" lIns="0" tIns="0" rIns="0" bIns="0" rtlCol="0" anchor="ctr">
            <a:normAutofit/>
          </a:bodyPr>
          <a:lstStyle/>
          <a:p>
            <a:pPr algn="l" indent="0" marL="0">
              <a:buNone/>
            </a:pPr>
            <a:r>
              <a:rPr lang="en-US" sz="1600" dirty="0">
                <a:solidFill>
                  <a:srgbClr val="B6B1BF"/>
                </a:solidFill>
                <a:latin typeface="Arial" pitchFamily="34" charset="0"/>
                <a:ea typeface="Arial" pitchFamily="34" charset="-122"/>
                <a:cs typeface="Arial" pitchFamily="34" charset="-120"/>
              </a:rPr>
              <a:t>Conception sur mesure. Design premium. Technologie utile.</a:t>
            </a:r>
            <a:endParaRPr lang="en-US" sz="1600" dirty="0"/>
          </a:p>
        </p:txBody>
      </p:sp>
      <p:sp>
        <p:nvSpPr>
          <p:cNvPr id="11" name="Shape 8"/>
          <p:cNvSpPr/>
          <p:nvPr/>
        </p:nvSpPr>
        <p:spPr>
          <a:xfrm>
            <a:off x="8229600" y="1143000"/>
            <a:ext cx="2331720" cy="2331720"/>
          </a:xfrm>
          <a:prstGeom prst="ellipse">
            <a:avLst/>
          </a:prstGeom>
          <a:solidFill>
            <a:srgbClr val="111116"/>
          </a:solidFill>
          <a:ln w="12700">
            <a:solidFill>
              <a:srgbClr val="302A36">
                <a:alpha val="0"/>
              </a:srgbClr>
            </a:solidFill>
            <a:prstDash val="solid"/>
          </a:ln>
        </p:spPr>
      </p:sp>
      <p:sp>
        <p:nvSpPr>
          <p:cNvPr id="12" name="Shape 9"/>
          <p:cNvSpPr/>
          <p:nvPr/>
        </p:nvSpPr>
        <p:spPr>
          <a:xfrm>
            <a:off x="8659368" y="1572768"/>
            <a:ext cx="1481328" cy="1481328"/>
          </a:xfrm>
          <a:prstGeom prst="ellipse">
            <a:avLst/>
          </a:prstGeom>
          <a:solidFill>
            <a:srgbClr val="17171E"/>
          </a:solidFill>
          <a:ln w="12700">
            <a:solidFill>
              <a:srgbClr val="302A36">
                <a:alpha val="0"/>
              </a:srgbClr>
            </a:solidFill>
            <a:prstDash val="solid"/>
          </a:ln>
        </p:spPr>
      </p:sp>
      <p:sp>
        <p:nvSpPr>
          <p:cNvPr id="13" name="Shape 10"/>
          <p:cNvSpPr/>
          <p:nvPr/>
        </p:nvSpPr>
        <p:spPr>
          <a:xfrm>
            <a:off x="9089136" y="2002536"/>
            <a:ext cx="621792" cy="621792"/>
          </a:xfrm>
          <a:prstGeom prst="ellipse">
            <a:avLst/>
          </a:prstGeom>
          <a:solidFill>
            <a:srgbClr val="FB1D91"/>
          </a:solidFill>
          <a:ln w="12700">
            <a:solidFill>
              <a:srgbClr val="FB1D91">
                <a:alpha val="0"/>
              </a:srgbClr>
            </a:solidFill>
            <a:prstDash val="solid"/>
          </a:ln>
        </p:spPr>
      </p:sp>
      <p:sp>
        <p:nvSpPr>
          <p:cNvPr id="14" name="Shape 11"/>
          <p:cNvSpPr/>
          <p:nvPr/>
        </p:nvSpPr>
        <p:spPr>
          <a:xfrm>
            <a:off x="9646920" y="4069080"/>
            <a:ext cx="1554480" cy="54864"/>
          </a:xfrm>
          <a:prstGeom prst="roundRect">
            <a:avLst>
              <a:gd name="adj" fmla="val 33333"/>
            </a:avLst>
          </a:prstGeom>
          <a:solidFill>
            <a:srgbClr val="54E1E6"/>
          </a:solidFill>
          <a:ln w="12700">
            <a:solidFill>
              <a:srgbClr val="54E1E6">
                <a:alpha val="0"/>
              </a:srgbClr>
            </a:solidFill>
            <a:prstDash val="solid"/>
          </a:ln>
        </p:spPr>
      </p:sp>
      <p:sp>
        <p:nvSpPr>
          <p:cNvPr id="15" name="Text 12"/>
          <p:cNvSpPr/>
          <p:nvPr/>
        </p:nvSpPr>
        <p:spPr>
          <a:xfrm>
            <a:off x="8412480" y="4297680"/>
            <a:ext cx="2560320" cy="292608"/>
          </a:xfrm>
          <a:prstGeom prst="rect">
            <a:avLst/>
          </a:prstGeom>
          <a:noFill/>
          <a:ln/>
        </p:spPr>
        <p:txBody>
          <a:bodyPr wrap="square" lIns="0" tIns="0" rIns="0" bIns="0" rtlCol="0" anchor="ctr">
            <a:normAutofit/>
          </a:bodyPr>
          <a:lstStyle/>
          <a:p>
            <a:pPr algn="ctr" indent="0" marL="0">
              <a:buNone/>
            </a:pPr>
            <a:r>
              <a:rPr lang="en-US" sz="1300" b="1" dirty="0">
                <a:solidFill>
                  <a:srgbClr val="54E1E6"/>
                </a:solidFill>
                <a:latin typeface="Arial" pitchFamily="34" charset="0"/>
                <a:ea typeface="Arial" pitchFamily="34" charset="-122"/>
                <a:cs typeface="Arial" pitchFamily="34" charset="-120"/>
              </a:rPr>
              <a:t>WEB + IA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80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080B"/>
          </a:solidFill>
          <a:ln w="12700">
            <a:solidFill>
              <a:srgbClr val="08080B">
                <a:alpha val="0"/>
              </a:srgbClr>
            </a:solidFill>
            <a:prstDash val="solid"/>
          </a:ln>
        </p:spPr>
      </p:sp>
      <p:sp>
        <p:nvSpPr>
          <p:cNvPr id="3" name="Text 1"/>
          <p:cNvSpPr/>
          <p:nvPr/>
        </p:nvSpPr>
        <p:spPr>
          <a:xfrm>
            <a:off x="566928" y="347472"/>
            <a:ext cx="10058400" cy="219456"/>
          </a:xfrm>
          <a:prstGeom prst="rect">
            <a:avLst/>
          </a:prstGeom>
          <a:noFill/>
          <a:ln/>
        </p:spPr>
        <p:txBody>
          <a:bodyPr wrap="square" lIns="0" tIns="0" rIns="0" bIns="0" rtlCol="0" anchor="ctr">
            <a:normAutofit/>
          </a:bodyPr>
          <a:lstStyle/>
          <a:p>
            <a:pPr algn="l" indent="0" marL="0">
              <a:buNone/>
            </a:pPr>
            <a:r>
              <a:rPr lang="en-US" sz="1000" b="1" dirty="0">
                <a:solidFill>
                  <a:srgbClr val="54E1E6"/>
                </a:solidFill>
                <a:latin typeface="Arial" pitchFamily="34" charset="0"/>
                <a:ea typeface="Arial" pitchFamily="34" charset="-122"/>
                <a:cs typeface="Arial" pitchFamily="34" charset="-120"/>
              </a:rPr>
              <a:t>UNE EXPÉRIENCE À VOTRE IMAGE</a:t>
            </a:r>
            <a:endParaRPr lang="en-US" sz="1000" dirty="0"/>
          </a:p>
        </p:txBody>
      </p:sp>
      <p:sp>
        <p:nvSpPr>
          <p:cNvPr id="4" name="Text 2"/>
          <p:cNvSpPr/>
          <p:nvPr/>
        </p:nvSpPr>
        <p:spPr>
          <a:xfrm>
            <a:off x="566928" y="786384"/>
            <a:ext cx="11018520" cy="1097280"/>
          </a:xfrm>
          <a:prstGeom prst="rect">
            <a:avLst/>
          </a:prstGeom>
          <a:noFill/>
          <a:ln/>
        </p:spPr>
        <p:txBody>
          <a:bodyPr wrap="square" lIns="0" tIns="0" rIns="0" bIns="0" rtlCol="0" anchor="ctr">
            <a:normAutofit/>
          </a:bodyPr>
          <a:lstStyle/>
          <a:p>
            <a:pPr algn="l" indent="0" marL="0">
              <a:buNone/>
            </a:pPr>
            <a:r>
              <a:rPr lang="en-US" sz="3500" b="1" dirty="0">
                <a:solidFill>
                  <a:srgbClr val="F7F5FA"/>
                </a:solidFill>
                <a:latin typeface="Arial" pitchFamily="34" charset="0"/>
                <a:ea typeface="Arial" pitchFamily="34" charset="-122"/>
                <a:cs typeface="Arial" pitchFamily="34" charset="-120"/>
              </a:rPr>
              <a:t>Un site qui fait plus que bien paraître.</a:t>
            </a:r>
            <a:endParaRPr lang="en-US" sz="3500" dirty="0"/>
          </a:p>
        </p:txBody>
      </p:sp>
      <p:sp>
        <p:nvSpPr>
          <p:cNvPr id="5" name="Shape 3"/>
          <p:cNvSpPr/>
          <p:nvPr/>
        </p:nvSpPr>
        <p:spPr>
          <a:xfrm>
            <a:off x="566928" y="6492240"/>
            <a:ext cx="11018520" cy="10973"/>
          </a:xfrm>
          <a:prstGeom prst="rect">
            <a:avLst/>
          </a:prstGeom>
          <a:solidFill>
            <a:srgbClr val="302A36"/>
          </a:solidFill>
          <a:ln w="12700">
            <a:solidFill>
              <a:srgbClr val="302A36">
                <a:alpha val="0"/>
              </a:srgbClr>
            </a:solidFill>
            <a:prstDash val="solid"/>
          </a:ln>
        </p:spPr>
      </p:sp>
      <p:sp>
        <p:nvSpPr>
          <p:cNvPr id="6" name="Text 4"/>
          <p:cNvSpPr/>
          <p:nvPr/>
        </p:nvSpPr>
        <p:spPr>
          <a:xfrm>
            <a:off x="566928" y="6583680"/>
            <a:ext cx="7315200" cy="164592"/>
          </a:xfrm>
          <a:prstGeom prst="rect">
            <a:avLst/>
          </a:prstGeom>
          <a:noFill/>
          <a:ln/>
        </p:spPr>
        <p:txBody>
          <a:bodyPr wrap="square" lIns="0" tIns="0" rIns="0" bIns="0" rtlCol="0" anchor="ctr">
            <a:normAutofit/>
          </a:bodyPr>
          <a:lstStyle/>
          <a:p>
            <a:pPr algn="l" indent="0" marL="0">
              <a:buNone/>
            </a:pPr>
            <a:r>
              <a:rPr lang="en-US" sz="800" dirty="0">
                <a:solidFill>
                  <a:srgbClr val="898392"/>
                </a:solidFill>
                <a:latin typeface="Arial" pitchFamily="34" charset="0"/>
                <a:ea typeface="Arial" pitchFamily="34" charset="-122"/>
                <a:cs typeface="Arial" pitchFamily="34" charset="-120"/>
              </a:rPr>
              <a:t>KMD WEB  /  SITES · DESIGN · IA</a:t>
            </a:r>
            <a:endParaRPr lang="en-US" sz="800" dirty="0"/>
          </a:p>
        </p:txBody>
      </p:sp>
      <p:sp>
        <p:nvSpPr>
          <p:cNvPr id="7" name="Text 5"/>
          <p:cNvSpPr/>
          <p:nvPr/>
        </p:nvSpPr>
        <p:spPr>
          <a:xfrm>
            <a:off x="10954512" y="6565392"/>
            <a:ext cx="640080" cy="164592"/>
          </a:xfrm>
          <a:prstGeom prst="rect">
            <a:avLst/>
          </a:prstGeom>
          <a:noFill/>
          <a:ln/>
        </p:spPr>
        <p:txBody>
          <a:bodyPr wrap="square" lIns="0" tIns="0" rIns="0" bIns="0" rtlCol="0" anchor="ctr">
            <a:normAutofit/>
          </a:bodyPr>
          <a:lstStyle/>
          <a:p>
            <a:pPr algn="r" indent="0" marL="0">
              <a:buNone/>
            </a:pPr>
            <a:r>
              <a:rPr lang="en-US" sz="900" dirty="0">
                <a:solidFill>
                  <a:srgbClr val="898392"/>
                </a:solidFill>
                <a:latin typeface="Arial" pitchFamily="34" charset="0"/>
                <a:ea typeface="Arial" pitchFamily="34" charset="-122"/>
                <a:cs typeface="Arial" pitchFamily="34" charset="-120"/>
              </a:rPr>
              <a:t>02</a:t>
            </a:r>
            <a:endParaRPr lang="en-US" sz="900" dirty="0"/>
          </a:p>
        </p:txBody>
      </p:sp>
      <p:sp>
        <p:nvSpPr>
          <p:cNvPr id="9" name="Text 6"/>
          <p:cNvSpPr/>
          <p:nvPr/>
        </p:nvSpPr>
        <p:spPr>
          <a:xfrm>
            <a:off x="566928" y="1965960"/>
            <a:ext cx="9784080" cy="685800"/>
          </a:xfrm>
          <a:prstGeom prst="rect">
            <a:avLst/>
          </a:prstGeom>
          <a:noFill/>
          <a:ln/>
        </p:spPr>
        <p:txBody>
          <a:bodyPr wrap="square" lIns="0" tIns="0" rIns="0" bIns="0" rtlCol="0" anchor="ctr">
            <a:normAutofit/>
          </a:bodyPr>
          <a:lstStyle/>
          <a:p>
            <a:pPr algn="l" indent="0" marL="0">
              <a:buNone/>
            </a:pPr>
            <a:r>
              <a:rPr lang="en-US" sz="1900" dirty="0">
                <a:solidFill>
                  <a:srgbClr val="B6B1BF"/>
                </a:solidFill>
                <a:latin typeface="Arial" pitchFamily="34" charset="0"/>
                <a:ea typeface="Arial" pitchFamily="34" charset="-122"/>
                <a:cs typeface="Arial" pitchFamily="34" charset="-120"/>
              </a:rPr>
              <a:t>Une présence web haut de gamme, conçue pour présenter votre valeur et guider les visiteurs vers la prochaine étape.</a:t>
            </a:r>
            <a:endParaRPr lang="en-US" sz="1900" dirty="0"/>
          </a:p>
        </p:txBody>
      </p:sp>
      <p:sp>
        <p:nvSpPr>
          <p:cNvPr id="10" name="Shape 7"/>
          <p:cNvSpPr/>
          <p:nvPr/>
        </p:nvSpPr>
        <p:spPr>
          <a:xfrm>
            <a:off x="566928" y="3154680"/>
            <a:ext cx="3493008" cy="2194560"/>
          </a:xfrm>
          <a:prstGeom prst="roundRect">
            <a:avLst>
              <a:gd name="adj" fmla="val 5000"/>
            </a:avLst>
          </a:prstGeom>
          <a:solidFill>
            <a:srgbClr val="111116"/>
          </a:solidFill>
          <a:ln w="12700">
            <a:solidFill>
              <a:srgbClr val="302A36">
                <a:alpha val="0"/>
              </a:srgbClr>
            </a:solidFill>
            <a:prstDash val="solid"/>
          </a:ln>
        </p:spPr>
      </p:sp>
      <p:sp>
        <p:nvSpPr>
          <p:cNvPr id="11" name="Shape 8"/>
          <p:cNvSpPr/>
          <p:nvPr/>
        </p:nvSpPr>
        <p:spPr>
          <a:xfrm>
            <a:off x="795528" y="3410712"/>
            <a:ext cx="109728" cy="109728"/>
          </a:xfrm>
          <a:prstGeom prst="ellipse">
            <a:avLst/>
          </a:prstGeom>
          <a:solidFill>
            <a:srgbClr val="FB1D91"/>
          </a:solidFill>
          <a:ln w="12700">
            <a:solidFill>
              <a:srgbClr val="FB1D91">
                <a:alpha val="0"/>
              </a:srgbClr>
            </a:solidFill>
            <a:prstDash val="solid"/>
          </a:ln>
        </p:spPr>
      </p:sp>
      <p:sp>
        <p:nvSpPr>
          <p:cNvPr id="12" name="Text 9"/>
          <p:cNvSpPr/>
          <p:nvPr/>
        </p:nvSpPr>
        <p:spPr>
          <a:xfrm>
            <a:off x="795528" y="3712464"/>
            <a:ext cx="3017520" cy="228600"/>
          </a:xfrm>
          <a:prstGeom prst="rect">
            <a:avLst/>
          </a:prstGeom>
          <a:noFill/>
          <a:ln/>
        </p:spPr>
        <p:txBody>
          <a:bodyPr wrap="square" lIns="0" tIns="0" rIns="0" bIns="0" rtlCol="0" anchor="ctr">
            <a:normAutofit/>
          </a:bodyPr>
          <a:lstStyle/>
          <a:p>
            <a:pPr algn="l" indent="0" marL="0">
              <a:buNone/>
            </a:pPr>
            <a:r>
              <a:rPr lang="en-US" sz="1100" b="1" dirty="0">
                <a:solidFill>
                  <a:srgbClr val="FB1D91"/>
                </a:solidFill>
                <a:latin typeface="Arial" pitchFamily="34" charset="0"/>
                <a:ea typeface="Arial" pitchFamily="34" charset="-122"/>
                <a:cs typeface="Arial" pitchFamily="34" charset="-120"/>
              </a:rPr>
              <a:t>DESIGN</a:t>
            </a:r>
            <a:endParaRPr lang="en-US" sz="1100" dirty="0"/>
          </a:p>
        </p:txBody>
      </p:sp>
      <p:sp>
        <p:nvSpPr>
          <p:cNvPr id="13" name="Text 10"/>
          <p:cNvSpPr/>
          <p:nvPr/>
        </p:nvSpPr>
        <p:spPr>
          <a:xfrm>
            <a:off x="795528" y="4096512"/>
            <a:ext cx="2999232" cy="822960"/>
          </a:xfrm>
          <a:prstGeom prst="rect">
            <a:avLst/>
          </a:prstGeom>
          <a:noFill/>
          <a:ln/>
        </p:spPr>
        <p:txBody>
          <a:bodyPr wrap="square" lIns="0" tIns="0" rIns="0" bIns="0" rtlCol="0" anchor="ctr">
            <a:normAutofit/>
          </a:bodyPr>
          <a:lstStyle/>
          <a:p>
            <a:pPr algn="l" indent="0" marL="0">
              <a:buNone/>
            </a:pPr>
            <a:r>
              <a:rPr lang="en-US" sz="1700" b="1" dirty="0">
                <a:solidFill>
                  <a:srgbClr val="F7F5FA"/>
                </a:solidFill>
                <a:latin typeface="Arial" pitchFamily="34" charset="0"/>
                <a:ea typeface="Arial" pitchFamily="34" charset="-122"/>
                <a:cs typeface="Arial" pitchFamily="34" charset="-120"/>
              </a:rPr>
              <a:t>Une direction visuelle distinctive, alignée sur votre identité.</a:t>
            </a:r>
            <a:endParaRPr lang="en-US" sz="1700" dirty="0"/>
          </a:p>
        </p:txBody>
      </p:sp>
      <p:sp>
        <p:nvSpPr>
          <p:cNvPr id="14" name="Shape 11"/>
          <p:cNvSpPr/>
          <p:nvPr/>
        </p:nvSpPr>
        <p:spPr>
          <a:xfrm>
            <a:off x="4297680" y="3154680"/>
            <a:ext cx="3493008" cy="2194560"/>
          </a:xfrm>
          <a:prstGeom prst="roundRect">
            <a:avLst>
              <a:gd name="adj" fmla="val 5000"/>
            </a:avLst>
          </a:prstGeom>
          <a:solidFill>
            <a:srgbClr val="111116"/>
          </a:solidFill>
          <a:ln w="12700">
            <a:solidFill>
              <a:srgbClr val="302A36">
                <a:alpha val="0"/>
              </a:srgbClr>
            </a:solidFill>
            <a:prstDash val="solid"/>
          </a:ln>
        </p:spPr>
      </p:sp>
      <p:sp>
        <p:nvSpPr>
          <p:cNvPr id="15" name="Shape 12"/>
          <p:cNvSpPr/>
          <p:nvPr/>
        </p:nvSpPr>
        <p:spPr>
          <a:xfrm>
            <a:off x="4526280" y="3410712"/>
            <a:ext cx="109728" cy="109728"/>
          </a:xfrm>
          <a:prstGeom prst="ellipse">
            <a:avLst/>
          </a:prstGeom>
          <a:solidFill>
            <a:srgbClr val="54E1E6"/>
          </a:solidFill>
          <a:ln w="12700">
            <a:solidFill>
              <a:srgbClr val="54E1E6">
                <a:alpha val="0"/>
              </a:srgbClr>
            </a:solidFill>
            <a:prstDash val="solid"/>
          </a:ln>
        </p:spPr>
      </p:sp>
      <p:sp>
        <p:nvSpPr>
          <p:cNvPr id="16" name="Text 13"/>
          <p:cNvSpPr/>
          <p:nvPr/>
        </p:nvSpPr>
        <p:spPr>
          <a:xfrm>
            <a:off x="4526280" y="3712464"/>
            <a:ext cx="3017520" cy="228600"/>
          </a:xfrm>
          <a:prstGeom prst="rect">
            <a:avLst/>
          </a:prstGeom>
          <a:noFill/>
          <a:ln/>
        </p:spPr>
        <p:txBody>
          <a:bodyPr wrap="square" lIns="0" tIns="0" rIns="0" bIns="0" rtlCol="0" anchor="ctr">
            <a:normAutofit/>
          </a:bodyPr>
          <a:lstStyle/>
          <a:p>
            <a:pPr algn="l" indent="0" marL="0">
              <a:buNone/>
            </a:pPr>
            <a:r>
              <a:rPr lang="en-US" sz="1100" b="1" dirty="0">
                <a:solidFill>
                  <a:srgbClr val="54E1E6"/>
                </a:solidFill>
                <a:latin typeface="Arial" pitchFamily="34" charset="0"/>
                <a:ea typeface="Arial" pitchFamily="34" charset="-122"/>
                <a:cs typeface="Arial" pitchFamily="34" charset="-120"/>
              </a:rPr>
              <a:t>PARCOURS</a:t>
            </a:r>
            <a:endParaRPr lang="en-US" sz="1100" dirty="0"/>
          </a:p>
        </p:txBody>
      </p:sp>
      <p:sp>
        <p:nvSpPr>
          <p:cNvPr id="17" name="Text 14"/>
          <p:cNvSpPr/>
          <p:nvPr/>
        </p:nvSpPr>
        <p:spPr>
          <a:xfrm>
            <a:off x="4526280" y="4096512"/>
            <a:ext cx="2999232" cy="822960"/>
          </a:xfrm>
          <a:prstGeom prst="rect">
            <a:avLst/>
          </a:prstGeom>
          <a:noFill/>
          <a:ln/>
        </p:spPr>
        <p:txBody>
          <a:bodyPr wrap="square" lIns="0" tIns="0" rIns="0" bIns="0" rtlCol="0" anchor="ctr">
            <a:normAutofit/>
          </a:bodyPr>
          <a:lstStyle/>
          <a:p>
            <a:pPr algn="l" indent="0" marL="0">
              <a:buNone/>
            </a:pPr>
            <a:r>
              <a:rPr lang="en-US" sz="1700" b="1" dirty="0">
                <a:solidFill>
                  <a:srgbClr val="F7F5FA"/>
                </a:solidFill>
                <a:latin typeface="Arial" pitchFamily="34" charset="0"/>
                <a:ea typeface="Arial" pitchFamily="34" charset="-122"/>
                <a:cs typeface="Arial" pitchFamily="34" charset="-120"/>
              </a:rPr>
              <a:t>Une structure claire qui met vos services en valeur.</a:t>
            </a:r>
            <a:endParaRPr lang="en-US" sz="1700" dirty="0"/>
          </a:p>
        </p:txBody>
      </p:sp>
      <p:sp>
        <p:nvSpPr>
          <p:cNvPr id="18" name="Shape 15"/>
          <p:cNvSpPr/>
          <p:nvPr/>
        </p:nvSpPr>
        <p:spPr>
          <a:xfrm>
            <a:off x="8028432" y="3154680"/>
            <a:ext cx="3493008" cy="2194560"/>
          </a:xfrm>
          <a:prstGeom prst="roundRect">
            <a:avLst>
              <a:gd name="adj" fmla="val 5000"/>
            </a:avLst>
          </a:prstGeom>
          <a:solidFill>
            <a:srgbClr val="111116"/>
          </a:solidFill>
          <a:ln w="12700">
            <a:solidFill>
              <a:srgbClr val="302A36">
                <a:alpha val="0"/>
              </a:srgbClr>
            </a:solidFill>
            <a:prstDash val="solid"/>
          </a:ln>
        </p:spPr>
      </p:sp>
      <p:sp>
        <p:nvSpPr>
          <p:cNvPr id="19" name="Shape 16"/>
          <p:cNvSpPr/>
          <p:nvPr/>
        </p:nvSpPr>
        <p:spPr>
          <a:xfrm>
            <a:off x="8257032" y="3410712"/>
            <a:ext cx="109728" cy="109728"/>
          </a:xfrm>
          <a:prstGeom prst="ellipse">
            <a:avLst/>
          </a:prstGeom>
          <a:solidFill>
            <a:srgbClr val="FB1D91"/>
          </a:solidFill>
          <a:ln w="12700">
            <a:solidFill>
              <a:srgbClr val="FB1D91">
                <a:alpha val="0"/>
              </a:srgbClr>
            </a:solidFill>
            <a:prstDash val="solid"/>
          </a:ln>
        </p:spPr>
      </p:sp>
      <p:sp>
        <p:nvSpPr>
          <p:cNvPr id="20" name="Text 17"/>
          <p:cNvSpPr/>
          <p:nvPr/>
        </p:nvSpPr>
        <p:spPr>
          <a:xfrm>
            <a:off x="8257032" y="3712464"/>
            <a:ext cx="3017520" cy="228600"/>
          </a:xfrm>
          <a:prstGeom prst="rect">
            <a:avLst/>
          </a:prstGeom>
          <a:noFill/>
          <a:ln/>
        </p:spPr>
        <p:txBody>
          <a:bodyPr wrap="square" lIns="0" tIns="0" rIns="0" bIns="0" rtlCol="0" anchor="ctr">
            <a:normAutofit/>
          </a:bodyPr>
          <a:lstStyle/>
          <a:p>
            <a:pPr algn="l" indent="0" marL="0">
              <a:buNone/>
            </a:pPr>
            <a:r>
              <a:rPr lang="en-US" sz="1100" b="1" dirty="0">
                <a:solidFill>
                  <a:srgbClr val="FB1D91"/>
                </a:solidFill>
                <a:latin typeface="Arial" pitchFamily="34" charset="0"/>
                <a:ea typeface="Arial" pitchFamily="34" charset="-122"/>
                <a:cs typeface="Arial" pitchFamily="34" charset="-120"/>
              </a:rPr>
              <a:t>MOUVEMENT</a:t>
            </a:r>
            <a:endParaRPr lang="en-US" sz="1100" dirty="0"/>
          </a:p>
        </p:txBody>
      </p:sp>
      <p:sp>
        <p:nvSpPr>
          <p:cNvPr id="21" name="Text 18"/>
          <p:cNvSpPr/>
          <p:nvPr/>
        </p:nvSpPr>
        <p:spPr>
          <a:xfrm>
            <a:off x="8257032" y="4096512"/>
            <a:ext cx="2999232" cy="822960"/>
          </a:xfrm>
          <a:prstGeom prst="rect">
            <a:avLst/>
          </a:prstGeom>
          <a:noFill/>
          <a:ln/>
        </p:spPr>
        <p:txBody>
          <a:bodyPr wrap="square" lIns="0" tIns="0" rIns="0" bIns="0" rtlCol="0" anchor="ctr">
            <a:normAutofit/>
          </a:bodyPr>
          <a:lstStyle/>
          <a:p>
            <a:pPr algn="l" indent="0" marL="0">
              <a:buNone/>
            </a:pPr>
            <a:r>
              <a:rPr lang="en-US" sz="1700" b="1" dirty="0">
                <a:solidFill>
                  <a:srgbClr val="F7F5FA"/>
                </a:solidFill>
                <a:latin typeface="Arial" pitchFamily="34" charset="0"/>
                <a:ea typeface="Arial" pitchFamily="34" charset="-122"/>
                <a:cs typeface="Arial" pitchFamily="34" charset="-120"/>
              </a:rPr>
              <a:t>Des animations fluides au service de l’expérience.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80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080B"/>
          </a:solidFill>
          <a:ln w="12700">
            <a:solidFill>
              <a:srgbClr val="08080B">
                <a:alpha val="0"/>
              </a:srgbClr>
            </a:solidFill>
            <a:prstDash val="solid"/>
          </a:ln>
        </p:spPr>
      </p:sp>
      <p:sp>
        <p:nvSpPr>
          <p:cNvPr id="3" name="Text 1"/>
          <p:cNvSpPr/>
          <p:nvPr/>
        </p:nvSpPr>
        <p:spPr>
          <a:xfrm>
            <a:off x="566928" y="347472"/>
            <a:ext cx="10058400" cy="219456"/>
          </a:xfrm>
          <a:prstGeom prst="rect">
            <a:avLst/>
          </a:prstGeom>
          <a:noFill/>
          <a:ln/>
        </p:spPr>
        <p:txBody>
          <a:bodyPr wrap="square" lIns="0" tIns="0" rIns="0" bIns="0" rtlCol="0" anchor="ctr">
            <a:normAutofit/>
          </a:bodyPr>
          <a:lstStyle/>
          <a:p>
            <a:pPr algn="l" indent="0" marL="0">
              <a:buNone/>
            </a:pPr>
            <a:r>
              <a:rPr lang="en-US" sz="1000" b="1" dirty="0">
                <a:solidFill>
                  <a:srgbClr val="54E1E6"/>
                </a:solidFill>
                <a:latin typeface="Arial" pitchFamily="34" charset="0"/>
                <a:ea typeface="Arial" pitchFamily="34" charset="-122"/>
                <a:cs typeface="Arial" pitchFamily="34" charset="-120"/>
              </a:rPr>
              <a:t>TROIS FAÇONS DE COMMENCER</a:t>
            </a:r>
            <a:endParaRPr lang="en-US" sz="1000" dirty="0"/>
          </a:p>
        </p:txBody>
      </p:sp>
      <p:sp>
        <p:nvSpPr>
          <p:cNvPr id="4" name="Text 2"/>
          <p:cNvSpPr/>
          <p:nvPr/>
        </p:nvSpPr>
        <p:spPr>
          <a:xfrm>
            <a:off x="566928" y="786384"/>
            <a:ext cx="11018520" cy="1097280"/>
          </a:xfrm>
          <a:prstGeom prst="rect">
            <a:avLst/>
          </a:prstGeom>
          <a:noFill/>
          <a:ln/>
        </p:spPr>
        <p:txBody>
          <a:bodyPr wrap="square" lIns="0" tIns="0" rIns="0" bIns="0" rtlCol="0" anchor="ctr">
            <a:normAutofit/>
          </a:bodyPr>
          <a:lstStyle/>
          <a:p>
            <a:pPr algn="l" indent="0" marL="0">
              <a:buNone/>
            </a:pPr>
            <a:r>
              <a:rPr lang="en-US" sz="3500" b="1" dirty="0">
                <a:solidFill>
                  <a:srgbClr val="F7F5FA"/>
                </a:solidFill>
                <a:latin typeface="Arial" pitchFamily="34" charset="0"/>
                <a:ea typeface="Arial" pitchFamily="34" charset="-122"/>
                <a:cs typeface="Arial" pitchFamily="34" charset="-120"/>
              </a:rPr>
              <a:t>Votre prochain projet, au bon format.</a:t>
            </a:r>
            <a:endParaRPr lang="en-US" sz="3500" dirty="0"/>
          </a:p>
        </p:txBody>
      </p:sp>
      <p:sp>
        <p:nvSpPr>
          <p:cNvPr id="5" name="Shape 3"/>
          <p:cNvSpPr/>
          <p:nvPr/>
        </p:nvSpPr>
        <p:spPr>
          <a:xfrm>
            <a:off x="566928" y="6492240"/>
            <a:ext cx="11018520" cy="10973"/>
          </a:xfrm>
          <a:prstGeom prst="rect">
            <a:avLst/>
          </a:prstGeom>
          <a:solidFill>
            <a:srgbClr val="302A36"/>
          </a:solidFill>
          <a:ln w="12700">
            <a:solidFill>
              <a:srgbClr val="302A36">
                <a:alpha val="0"/>
              </a:srgbClr>
            </a:solidFill>
            <a:prstDash val="solid"/>
          </a:ln>
        </p:spPr>
      </p:sp>
      <p:sp>
        <p:nvSpPr>
          <p:cNvPr id="6" name="Text 4"/>
          <p:cNvSpPr/>
          <p:nvPr/>
        </p:nvSpPr>
        <p:spPr>
          <a:xfrm>
            <a:off x="566928" y="6583680"/>
            <a:ext cx="7315200" cy="164592"/>
          </a:xfrm>
          <a:prstGeom prst="rect">
            <a:avLst/>
          </a:prstGeom>
          <a:noFill/>
          <a:ln/>
        </p:spPr>
        <p:txBody>
          <a:bodyPr wrap="square" lIns="0" tIns="0" rIns="0" bIns="0" rtlCol="0" anchor="ctr">
            <a:normAutofit/>
          </a:bodyPr>
          <a:lstStyle/>
          <a:p>
            <a:pPr algn="l" indent="0" marL="0">
              <a:buNone/>
            </a:pPr>
            <a:r>
              <a:rPr lang="en-US" sz="800" dirty="0">
                <a:solidFill>
                  <a:srgbClr val="898392"/>
                </a:solidFill>
                <a:latin typeface="Arial" pitchFamily="34" charset="0"/>
                <a:ea typeface="Arial" pitchFamily="34" charset="-122"/>
                <a:cs typeface="Arial" pitchFamily="34" charset="-120"/>
              </a:rPr>
              <a:t>KMD WEB  /  SITES · DESIGN · IA</a:t>
            </a:r>
            <a:endParaRPr lang="en-US" sz="800" dirty="0"/>
          </a:p>
        </p:txBody>
      </p:sp>
      <p:sp>
        <p:nvSpPr>
          <p:cNvPr id="7" name="Text 5"/>
          <p:cNvSpPr/>
          <p:nvPr/>
        </p:nvSpPr>
        <p:spPr>
          <a:xfrm>
            <a:off x="10954512" y="6565392"/>
            <a:ext cx="640080" cy="164592"/>
          </a:xfrm>
          <a:prstGeom prst="rect">
            <a:avLst/>
          </a:prstGeom>
          <a:noFill/>
          <a:ln/>
        </p:spPr>
        <p:txBody>
          <a:bodyPr wrap="square" lIns="0" tIns="0" rIns="0" bIns="0" rtlCol="0" anchor="ctr">
            <a:normAutofit/>
          </a:bodyPr>
          <a:lstStyle/>
          <a:p>
            <a:pPr algn="r" indent="0" marL="0">
              <a:buNone/>
            </a:pPr>
            <a:r>
              <a:rPr lang="en-US" sz="900" dirty="0">
                <a:solidFill>
                  <a:srgbClr val="898392"/>
                </a:solidFill>
                <a:latin typeface="Arial" pitchFamily="34" charset="0"/>
                <a:ea typeface="Arial" pitchFamily="34" charset="-122"/>
                <a:cs typeface="Arial" pitchFamily="34" charset="-120"/>
              </a:rPr>
              <a:t>03</a:t>
            </a:r>
            <a:endParaRPr lang="en-US" sz="900" dirty="0"/>
          </a:p>
        </p:txBody>
      </p:sp>
      <p:sp>
        <p:nvSpPr>
          <p:cNvPr id="9" name="Shape 6"/>
          <p:cNvSpPr/>
          <p:nvPr/>
        </p:nvSpPr>
        <p:spPr>
          <a:xfrm>
            <a:off x="566928" y="2103120"/>
            <a:ext cx="3493008" cy="3520440"/>
          </a:xfrm>
          <a:prstGeom prst="roundRect">
            <a:avLst>
              <a:gd name="adj" fmla="val 3141"/>
            </a:avLst>
          </a:prstGeom>
          <a:solidFill>
            <a:srgbClr val="111116"/>
          </a:solidFill>
          <a:ln w="12700">
            <a:solidFill>
              <a:srgbClr val="302A36">
                <a:alpha val="0"/>
              </a:srgbClr>
            </a:solidFill>
            <a:prstDash val="solid"/>
          </a:ln>
        </p:spPr>
      </p:sp>
      <p:sp>
        <p:nvSpPr>
          <p:cNvPr id="10" name="Text 7"/>
          <p:cNvSpPr/>
          <p:nvPr/>
        </p:nvSpPr>
        <p:spPr>
          <a:xfrm>
            <a:off x="795528" y="2395728"/>
            <a:ext cx="3017520" cy="274320"/>
          </a:xfrm>
          <a:prstGeom prst="rect">
            <a:avLst/>
          </a:prstGeom>
          <a:noFill/>
          <a:ln/>
        </p:spPr>
        <p:txBody>
          <a:bodyPr wrap="square" lIns="0" tIns="0" rIns="0" bIns="0" rtlCol="0" anchor="ctr">
            <a:normAutofit/>
          </a:bodyPr>
          <a:lstStyle/>
          <a:p>
            <a:pPr algn="l" indent="0" marL="0">
              <a:buNone/>
            </a:pPr>
            <a:r>
              <a:rPr lang="en-US" sz="1000" b="1" dirty="0">
                <a:solidFill>
                  <a:srgbClr val="54E1E6"/>
                </a:solidFill>
                <a:latin typeface="Arial" pitchFamily="34" charset="0"/>
                <a:ea typeface="Arial" pitchFamily="34" charset="-122"/>
                <a:cs typeface="Arial" pitchFamily="34" charset="-120"/>
              </a:rPr>
              <a:t>01 · LANDING PAGE</a:t>
            </a:r>
            <a:endParaRPr lang="en-US" sz="1000" dirty="0"/>
          </a:p>
        </p:txBody>
      </p:sp>
      <p:sp>
        <p:nvSpPr>
          <p:cNvPr id="11" name="Text 8"/>
          <p:cNvSpPr/>
          <p:nvPr/>
        </p:nvSpPr>
        <p:spPr>
          <a:xfrm>
            <a:off x="795528" y="2907792"/>
            <a:ext cx="2999232" cy="566928"/>
          </a:xfrm>
          <a:prstGeom prst="rect">
            <a:avLst/>
          </a:prstGeom>
          <a:noFill/>
          <a:ln/>
        </p:spPr>
        <p:txBody>
          <a:bodyPr wrap="square" lIns="0" tIns="0" rIns="0" bIns="0" rtlCol="0" anchor="ctr">
            <a:normAutofit/>
          </a:bodyPr>
          <a:lstStyle/>
          <a:p>
            <a:pPr algn="l" indent="0" marL="0">
              <a:buNone/>
            </a:pPr>
            <a:r>
              <a:rPr lang="en-US" sz="3300" b="1" dirty="0">
                <a:solidFill>
                  <a:srgbClr val="F7F5FA"/>
                </a:solidFill>
                <a:latin typeface="Arial" pitchFamily="34" charset="0"/>
                <a:ea typeface="Arial" pitchFamily="34" charset="-122"/>
                <a:cs typeface="Arial" pitchFamily="34" charset="-120"/>
              </a:rPr>
              <a:t>499 $+</a:t>
            </a:r>
            <a:endParaRPr lang="en-US" sz="3300" dirty="0"/>
          </a:p>
        </p:txBody>
      </p:sp>
      <p:sp>
        <p:nvSpPr>
          <p:cNvPr id="12" name="Shape 9"/>
          <p:cNvSpPr/>
          <p:nvPr/>
        </p:nvSpPr>
        <p:spPr>
          <a:xfrm>
            <a:off x="795528" y="3639312"/>
            <a:ext cx="457200" cy="32004"/>
          </a:xfrm>
          <a:prstGeom prst="roundRect">
            <a:avLst>
              <a:gd name="adj" fmla="val 28571"/>
            </a:avLst>
          </a:prstGeom>
          <a:solidFill>
            <a:srgbClr val="FB1D91"/>
          </a:solidFill>
          <a:ln w="12700">
            <a:solidFill>
              <a:srgbClr val="FB1D91">
                <a:alpha val="0"/>
              </a:srgbClr>
            </a:solidFill>
            <a:prstDash val="solid"/>
          </a:ln>
        </p:spPr>
      </p:sp>
      <p:sp>
        <p:nvSpPr>
          <p:cNvPr id="13" name="Text 10"/>
          <p:cNvSpPr/>
          <p:nvPr/>
        </p:nvSpPr>
        <p:spPr>
          <a:xfrm>
            <a:off x="795528" y="3886200"/>
            <a:ext cx="2971800" cy="1143000"/>
          </a:xfrm>
          <a:prstGeom prst="rect">
            <a:avLst/>
          </a:prstGeom>
          <a:noFill/>
          <a:ln/>
        </p:spPr>
        <p:txBody>
          <a:bodyPr wrap="square" lIns="0" tIns="0" rIns="0" bIns="0" rtlCol="0" anchor="ctr">
            <a:normAutofit/>
          </a:bodyPr>
          <a:lstStyle/>
          <a:p>
            <a:pPr algn="l" indent="0" marL="0">
              <a:buNone/>
            </a:pPr>
            <a:r>
              <a:rPr lang="en-US" sz="1600" dirty="0">
                <a:solidFill>
                  <a:srgbClr val="B6B1BF"/>
                </a:solidFill>
                <a:latin typeface="Arial" pitchFamily="34" charset="0"/>
                <a:ea typeface="Arial" pitchFamily="34" charset="-122"/>
                <a:cs typeface="Arial" pitchFamily="34" charset="-120"/>
              </a:rPr>
              <a:t>Environ 3 à 4 sections pour présenter une offre et encourager les demandes.</a:t>
            </a:r>
            <a:endParaRPr lang="en-US" sz="1600" dirty="0"/>
          </a:p>
        </p:txBody>
      </p:sp>
      <p:sp>
        <p:nvSpPr>
          <p:cNvPr id="14" name="Shape 11"/>
          <p:cNvSpPr/>
          <p:nvPr/>
        </p:nvSpPr>
        <p:spPr>
          <a:xfrm>
            <a:off x="4297680" y="2103120"/>
            <a:ext cx="3493008" cy="3520440"/>
          </a:xfrm>
          <a:prstGeom prst="roundRect">
            <a:avLst>
              <a:gd name="adj" fmla="val 3141"/>
            </a:avLst>
          </a:prstGeom>
          <a:solidFill>
            <a:srgbClr val="111116"/>
          </a:solidFill>
          <a:ln w="12700">
            <a:solidFill>
              <a:srgbClr val="713252">
                <a:alpha val="0"/>
              </a:srgbClr>
            </a:solidFill>
            <a:prstDash val="solid"/>
          </a:ln>
        </p:spPr>
      </p:sp>
      <p:sp>
        <p:nvSpPr>
          <p:cNvPr id="15" name="Text 12"/>
          <p:cNvSpPr/>
          <p:nvPr/>
        </p:nvSpPr>
        <p:spPr>
          <a:xfrm>
            <a:off x="4526280" y="2395728"/>
            <a:ext cx="3017520" cy="274320"/>
          </a:xfrm>
          <a:prstGeom prst="rect">
            <a:avLst/>
          </a:prstGeom>
          <a:noFill/>
          <a:ln/>
        </p:spPr>
        <p:txBody>
          <a:bodyPr wrap="square" lIns="0" tIns="0" rIns="0" bIns="0" rtlCol="0" anchor="ctr">
            <a:normAutofit/>
          </a:bodyPr>
          <a:lstStyle/>
          <a:p>
            <a:pPr algn="l" indent="0" marL="0">
              <a:buNone/>
            </a:pPr>
            <a:r>
              <a:rPr lang="en-US" sz="1000" b="1" dirty="0">
                <a:solidFill>
                  <a:srgbClr val="FB1D91"/>
                </a:solidFill>
                <a:latin typeface="Arial" pitchFamily="34" charset="0"/>
                <a:ea typeface="Arial" pitchFamily="34" charset="-122"/>
                <a:cs typeface="Arial" pitchFamily="34" charset="-120"/>
              </a:rPr>
              <a:t>02 · SITE WEB COMPLET</a:t>
            </a:r>
            <a:endParaRPr lang="en-US" sz="1000" dirty="0"/>
          </a:p>
        </p:txBody>
      </p:sp>
      <p:sp>
        <p:nvSpPr>
          <p:cNvPr id="16" name="Text 13"/>
          <p:cNvSpPr/>
          <p:nvPr/>
        </p:nvSpPr>
        <p:spPr>
          <a:xfrm>
            <a:off x="4526280" y="2907792"/>
            <a:ext cx="2999232" cy="566928"/>
          </a:xfrm>
          <a:prstGeom prst="rect">
            <a:avLst/>
          </a:prstGeom>
          <a:noFill/>
          <a:ln/>
        </p:spPr>
        <p:txBody>
          <a:bodyPr wrap="square" lIns="0" tIns="0" rIns="0" bIns="0" rtlCol="0" anchor="ctr">
            <a:normAutofit/>
          </a:bodyPr>
          <a:lstStyle/>
          <a:p>
            <a:pPr algn="l" indent="0" marL="0">
              <a:buNone/>
            </a:pPr>
            <a:r>
              <a:rPr lang="en-US" sz="3300" b="1" dirty="0">
                <a:solidFill>
                  <a:srgbClr val="F7F5FA"/>
                </a:solidFill>
                <a:latin typeface="Arial" pitchFamily="34" charset="0"/>
                <a:ea typeface="Arial" pitchFamily="34" charset="-122"/>
                <a:cs typeface="Arial" pitchFamily="34" charset="-120"/>
              </a:rPr>
              <a:t>999 $+</a:t>
            </a:r>
            <a:endParaRPr lang="en-US" sz="3300" dirty="0"/>
          </a:p>
        </p:txBody>
      </p:sp>
      <p:sp>
        <p:nvSpPr>
          <p:cNvPr id="17" name="Shape 14"/>
          <p:cNvSpPr/>
          <p:nvPr/>
        </p:nvSpPr>
        <p:spPr>
          <a:xfrm>
            <a:off x="4526280" y="3639312"/>
            <a:ext cx="457200" cy="32004"/>
          </a:xfrm>
          <a:prstGeom prst="roundRect">
            <a:avLst>
              <a:gd name="adj" fmla="val 28571"/>
            </a:avLst>
          </a:prstGeom>
          <a:solidFill>
            <a:srgbClr val="FB1D91"/>
          </a:solidFill>
          <a:ln w="12700">
            <a:solidFill>
              <a:srgbClr val="FB1D91">
                <a:alpha val="0"/>
              </a:srgbClr>
            </a:solidFill>
            <a:prstDash val="solid"/>
          </a:ln>
        </p:spPr>
      </p:sp>
      <p:sp>
        <p:nvSpPr>
          <p:cNvPr id="18" name="Text 15"/>
          <p:cNvSpPr/>
          <p:nvPr/>
        </p:nvSpPr>
        <p:spPr>
          <a:xfrm>
            <a:off x="4526280" y="3886200"/>
            <a:ext cx="2971800" cy="1143000"/>
          </a:xfrm>
          <a:prstGeom prst="rect">
            <a:avLst/>
          </a:prstGeom>
          <a:noFill/>
          <a:ln/>
        </p:spPr>
        <p:txBody>
          <a:bodyPr wrap="square" lIns="0" tIns="0" rIns="0" bIns="0" rtlCol="0" anchor="ctr">
            <a:normAutofit/>
          </a:bodyPr>
          <a:lstStyle/>
          <a:p>
            <a:pPr algn="l" indent="0" marL="0">
              <a:buNone/>
            </a:pPr>
            <a:r>
              <a:rPr lang="en-US" sz="1600" dirty="0">
                <a:solidFill>
                  <a:srgbClr val="B6B1BF"/>
                </a:solidFill>
                <a:latin typeface="Arial" pitchFamily="34" charset="0"/>
                <a:ea typeface="Arial" pitchFamily="34" charset="-122"/>
                <a:cs typeface="Arial" pitchFamily="34" charset="-120"/>
              </a:rPr>
              <a:t>Plusieurs pages, formulaire de contact complet et conception personnalisée à 100 %.</a:t>
            </a:r>
            <a:endParaRPr lang="en-US" sz="1600" dirty="0"/>
          </a:p>
        </p:txBody>
      </p:sp>
      <p:sp>
        <p:nvSpPr>
          <p:cNvPr id="19" name="Shape 16"/>
          <p:cNvSpPr/>
          <p:nvPr/>
        </p:nvSpPr>
        <p:spPr>
          <a:xfrm>
            <a:off x="8028432" y="2103120"/>
            <a:ext cx="3493008" cy="3520440"/>
          </a:xfrm>
          <a:prstGeom prst="roundRect">
            <a:avLst>
              <a:gd name="adj" fmla="val 3141"/>
            </a:avLst>
          </a:prstGeom>
          <a:solidFill>
            <a:srgbClr val="111116"/>
          </a:solidFill>
          <a:ln w="12700">
            <a:solidFill>
              <a:srgbClr val="302A36">
                <a:alpha val="0"/>
              </a:srgbClr>
            </a:solidFill>
            <a:prstDash val="solid"/>
          </a:ln>
        </p:spPr>
      </p:sp>
      <p:sp>
        <p:nvSpPr>
          <p:cNvPr id="20" name="Text 17"/>
          <p:cNvSpPr/>
          <p:nvPr/>
        </p:nvSpPr>
        <p:spPr>
          <a:xfrm>
            <a:off x="8257032" y="2395728"/>
            <a:ext cx="3017520" cy="274320"/>
          </a:xfrm>
          <a:prstGeom prst="rect">
            <a:avLst/>
          </a:prstGeom>
          <a:noFill/>
          <a:ln/>
        </p:spPr>
        <p:txBody>
          <a:bodyPr wrap="square" lIns="0" tIns="0" rIns="0" bIns="0" rtlCol="0" anchor="ctr">
            <a:normAutofit/>
          </a:bodyPr>
          <a:lstStyle/>
          <a:p>
            <a:pPr algn="l" indent="0" marL="0">
              <a:buNone/>
            </a:pPr>
            <a:r>
              <a:rPr lang="en-US" sz="1000" b="1" dirty="0">
                <a:solidFill>
                  <a:srgbClr val="54E1E6"/>
                </a:solidFill>
                <a:latin typeface="Arial" pitchFamily="34" charset="0"/>
                <a:ea typeface="Arial" pitchFamily="34" charset="-122"/>
                <a:cs typeface="Arial" pitchFamily="34" charset="-120"/>
              </a:rPr>
              <a:t>03 · IA &amp; AUTOMATISATION</a:t>
            </a:r>
            <a:endParaRPr lang="en-US" sz="1000" dirty="0"/>
          </a:p>
        </p:txBody>
      </p:sp>
      <p:sp>
        <p:nvSpPr>
          <p:cNvPr id="21" name="Text 18"/>
          <p:cNvSpPr/>
          <p:nvPr/>
        </p:nvSpPr>
        <p:spPr>
          <a:xfrm>
            <a:off x="8257032" y="2907792"/>
            <a:ext cx="2999232" cy="566928"/>
          </a:xfrm>
          <a:prstGeom prst="rect">
            <a:avLst/>
          </a:prstGeom>
          <a:noFill/>
          <a:ln/>
        </p:spPr>
        <p:txBody>
          <a:bodyPr wrap="square" lIns="0" tIns="0" rIns="0" bIns="0" rtlCol="0" anchor="ctr">
            <a:normAutofit/>
          </a:bodyPr>
          <a:lstStyle/>
          <a:p>
            <a:pPr algn="l" indent="0" marL="0">
              <a:buNone/>
            </a:pPr>
            <a:r>
              <a:rPr lang="en-US" sz="3300" b="1" dirty="0">
                <a:solidFill>
                  <a:srgbClr val="F7F5FA"/>
                </a:solidFill>
                <a:latin typeface="Arial" pitchFamily="34" charset="0"/>
                <a:ea typeface="Arial" pitchFamily="34" charset="-122"/>
                <a:cs typeface="Arial" pitchFamily="34" charset="-120"/>
              </a:rPr>
              <a:t>199 $+</a:t>
            </a:r>
            <a:endParaRPr lang="en-US" sz="3300" dirty="0"/>
          </a:p>
        </p:txBody>
      </p:sp>
      <p:sp>
        <p:nvSpPr>
          <p:cNvPr id="22" name="Shape 19"/>
          <p:cNvSpPr/>
          <p:nvPr/>
        </p:nvSpPr>
        <p:spPr>
          <a:xfrm>
            <a:off x="8257032" y="3639312"/>
            <a:ext cx="457200" cy="32004"/>
          </a:xfrm>
          <a:prstGeom prst="roundRect">
            <a:avLst>
              <a:gd name="adj" fmla="val 28571"/>
            </a:avLst>
          </a:prstGeom>
          <a:solidFill>
            <a:srgbClr val="FB1D91"/>
          </a:solidFill>
          <a:ln w="12700">
            <a:solidFill>
              <a:srgbClr val="FB1D91">
                <a:alpha val="0"/>
              </a:srgbClr>
            </a:solidFill>
            <a:prstDash val="solid"/>
          </a:ln>
        </p:spPr>
      </p:sp>
      <p:sp>
        <p:nvSpPr>
          <p:cNvPr id="23" name="Text 20"/>
          <p:cNvSpPr/>
          <p:nvPr/>
        </p:nvSpPr>
        <p:spPr>
          <a:xfrm>
            <a:off x="8257032" y="3886200"/>
            <a:ext cx="2971800" cy="1143000"/>
          </a:xfrm>
          <a:prstGeom prst="rect">
            <a:avLst/>
          </a:prstGeom>
          <a:noFill/>
          <a:ln/>
        </p:spPr>
        <p:txBody>
          <a:bodyPr wrap="square" lIns="0" tIns="0" rIns="0" bIns="0" rtlCol="0" anchor="ctr">
            <a:normAutofit/>
          </a:bodyPr>
          <a:lstStyle/>
          <a:p>
            <a:pPr algn="l" indent="0" marL="0">
              <a:buNone/>
            </a:pPr>
            <a:r>
              <a:rPr lang="en-US" sz="1600" dirty="0">
                <a:solidFill>
                  <a:srgbClr val="B6B1BF"/>
                </a:solidFill>
                <a:latin typeface="Arial" pitchFamily="34" charset="0"/>
                <a:ea typeface="Arial" pitchFamily="34" charset="-122"/>
                <a:cs typeface="Arial" pitchFamily="34" charset="-120"/>
              </a:rPr>
              <a:t>Chatbots, assistants vocaux et automatisations conçues selon votre besoin.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80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080B"/>
          </a:solidFill>
          <a:ln w="12700">
            <a:solidFill>
              <a:srgbClr val="08080B">
                <a:alpha val="0"/>
              </a:srgbClr>
            </a:solidFill>
            <a:prstDash val="solid"/>
          </a:ln>
        </p:spPr>
      </p:sp>
      <p:sp>
        <p:nvSpPr>
          <p:cNvPr id="3" name="Text 1"/>
          <p:cNvSpPr/>
          <p:nvPr/>
        </p:nvSpPr>
        <p:spPr>
          <a:xfrm>
            <a:off x="566928" y="347472"/>
            <a:ext cx="10058400" cy="219456"/>
          </a:xfrm>
          <a:prstGeom prst="rect">
            <a:avLst/>
          </a:prstGeom>
          <a:noFill/>
          <a:ln/>
        </p:spPr>
        <p:txBody>
          <a:bodyPr wrap="square" lIns="0" tIns="0" rIns="0" bIns="0" rtlCol="0" anchor="ctr">
            <a:normAutofit/>
          </a:bodyPr>
          <a:lstStyle/>
          <a:p>
            <a:pPr algn="l" indent="0" marL="0">
              <a:buNone/>
            </a:pPr>
            <a:r>
              <a:rPr lang="en-US" sz="1000" b="1" dirty="0">
                <a:solidFill>
                  <a:srgbClr val="54E1E6"/>
                </a:solidFill>
                <a:latin typeface="Arial" pitchFamily="34" charset="0"/>
                <a:ea typeface="Arial" pitchFamily="34" charset="-122"/>
                <a:cs typeface="Arial" pitchFamily="34" charset="-120"/>
              </a:rPr>
              <a:t>01 · PRÉSENCE CIBLÉE</a:t>
            </a:r>
            <a:endParaRPr lang="en-US" sz="1000" dirty="0"/>
          </a:p>
        </p:txBody>
      </p:sp>
      <p:sp>
        <p:nvSpPr>
          <p:cNvPr id="4" name="Text 2"/>
          <p:cNvSpPr/>
          <p:nvPr/>
        </p:nvSpPr>
        <p:spPr>
          <a:xfrm>
            <a:off x="566928" y="786384"/>
            <a:ext cx="11018520" cy="1097280"/>
          </a:xfrm>
          <a:prstGeom prst="rect">
            <a:avLst/>
          </a:prstGeom>
          <a:noFill/>
          <a:ln/>
        </p:spPr>
        <p:txBody>
          <a:bodyPr wrap="square" lIns="0" tIns="0" rIns="0" bIns="0" rtlCol="0" anchor="ctr">
            <a:normAutofit/>
          </a:bodyPr>
          <a:lstStyle/>
          <a:p>
            <a:pPr algn="l" indent="0" marL="0">
              <a:buNone/>
            </a:pPr>
            <a:r>
              <a:rPr lang="en-US" sz="3500" b="1" dirty="0">
                <a:solidFill>
                  <a:srgbClr val="F7F5FA"/>
                </a:solidFill>
                <a:latin typeface="Arial" pitchFamily="34" charset="0"/>
                <a:ea typeface="Arial" pitchFamily="34" charset="-122"/>
                <a:cs typeface="Arial" pitchFamily="34" charset="-120"/>
              </a:rPr>
              <a:t>Landing page</a:t>
            </a:r>
            <a:endParaRPr lang="en-US" sz="3500" dirty="0"/>
          </a:p>
        </p:txBody>
      </p:sp>
      <p:sp>
        <p:nvSpPr>
          <p:cNvPr id="5" name="Shape 3"/>
          <p:cNvSpPr/>
          <p:nvPr/>
        </p:nvSpPr>
        <p:spPr>
          <a:xfrm>
            <a:off x="566928" y="6492240"/>
            <a:ext cx="11018520" cy="10973"/>
          </a:xfrm>
          <a:prstGeom prst="rect">
            <a:avLst/>
          </a:prstGeom>
          <a:solidFill>
            <a:srgbClr val="302A36"/>
          </a:solidFill>
          <a:ln w="12700">
            <a:solidFill>
              <a:srgbClr val="302A36">
                <a:alpha val="0"/>
              </a:srgbClr>
            </a:solidFill>
            <a:prstDash val="solid"/>
          </a:ln>
        </p:spPr>
      </p:sp>
      <p:sp>
        <p:nvSpPr>
          <p:cNvPr id="6" name="Text 4"/>
          <p:cNvSpPr/>
          <p:nvPr/>
        </p:nvSpPr>
        <p:spPr>
          <a:xfrm>
            <a:off x="566928" y="6583680"/>
            <a:ext cx="7315200" cy="164592"/>
          </a:xfrm>
          <a:prstGeom prst="rect">
            <a:avLst/>
          </a:prstGeom>
          <a:noFill/>
          <a:ln/>
        </p:spPr>
        <p:txBody>
          <a:bodyPr wrap="square" lIns="0" tIns="0" rIns="0" bIns="0" rtlCol="0" anchor="ctr">
            <a:normAutofit/>
          </a:bodyPr>
          <a:lstStyle/>
          <a:p>
            <a:pPr algn="l" indent="0" marL="0">
              <a:buNone/>
            </a:pPr>
            <a:r>
              <a:rPr lang="en-US" sz="800" dirty="0">
                <a:solidFill>
                  <a:srgbClr val="898392"/>
                </a:solidFill>
                <a:latin typeface="Arial" pitchFamily="34" charset="0"/>
                <a:ea typeface="Arial" pitchFamily="34" charset="-122"/>
                <a:cs typeface="Arial" pitchFamily="34" charset="-120"/>
              </a:rPr>
              <a:t>KMD WEB  /  SITES · DESIGN · IA</a:t>
            </a:r>
            <a:endParaRPr lang="en-US" sz="800" dirty="0"/>
          </a:p>
        </p:txBody>
      </p:sp>
      <p:sp>
        <p:nvSpPr>
          <p:cNvPr id="7" name="Text 5"/>
          <p:cNvSpPr/>
          <p:nvPr/>
        </p:nvSpPr>
        <p:spPr>
          <a:xfrm>
            <a:off x="10954512" y="6565392"/>
            <a:ext cx="640080" cy="164592"/>
          </a:xfrm>
          <a:prstGeom prst="rect">
            <a:avLst/>
          </a:prstGeom>
          <a:noFill/>
          <a:ln/>
        </p:spPr>
        <p:txBody>
          <a:bodyPr wrap="square" lIns="0" tIns="0" rIns="0" bIns="0" rtlCol="0" anchor="ctr">
            <a:normAutofit/>
          </a:bodyPr>
          <a:lstStyle/>
          <a:p>
            <a:pPr algn="r" indent="0" marL="0">
              <a:buNone/>
            </a:pPr>
            <a:r>
              <a:rPr lang="en-US" sz="900" dirty="0">
                <a:solidFill>
                  <a:srgbClr val="898392"/>
                </a:solidFill>
                <a:latin typeface="Arial" pitchFamily="34" charset="0"/>
                <a:ea typeface="Arial" pitchFamily="34" charset="-122"/>
                <a:cs typeface="Arial" pitchFamily="34" charset="-120"/>
              </a:rPr>
              <a:t>04</a:t>
            </a:r>
            <a:endParaRPr lang="en-US" sz="900" dirty="0"/>
          </a:p>
        </p:txBody>
      </p:sp>
      <p:sp>
        <p:nvSpPr>
          <p:cNvPr id="9" name="Shape 6"/>
          <p:cNvSpPr/>
          <p:nvPr/>
        </p:nvSpPr>
        <p:spPr>
          <a:xfrm>
            <a:off x="566928" y="2057400"/>
            <a:ext cx="3931920" cy="3611880"/>
          </a:xfrm>
          <a:prstGeom prst="roundRect">
            <a:avLst>
              <a:gd name="adj" fmla="val 3038"/>
            </a:avLst>
          </a:prstGeom>
          <a:solidFill>
            <a:srgbClr val="111116"/>
          </a:solidFill>
          <a:ln w="12700">
            <a:solidFill>
              <a:srgbClr val="302A36">
                <a:alpha val="0"/>
              </a:srgbClr>
            </a:solidFill>
            <a:prstDash val="solid"/>
          </a:ln>
        </p:spPr>
      </p:sp>
      <p:sp>
        <p:nvSpPr>
          <p:cNvPr id="10" name="Text 7"/>
          <p:cNvSpPr/>
          <p:nvPr/>
        </p:nvSpPr>
        <p:spPr>
          <a:xfrm>
            <a:off x="841248" y="2514600"/>
            <a:ext cx="3383280" cy="640080"/>
          </a:xfrm>
          <a:prstGeom prst="rect">
            <a:avLst/>
          </a:prstGeom>
          <a:noFill/>
          <a:ln/>
        </p:spPr>
        <p:txBody>
          <a:bodyPr wrap="square" lIns="0" tIns="0" rIns="0" bIns="0" rtlCol="0" anchor="ctr">
            <a:normAutofit/>
          </a:bodyPr>
          <a:lstStyle/>
          <a:p>
            <a:pPr algn="l" indent="0" marL="0">
              <a:buNone/>
            </a:pPr>
            <a:r>
              <a:rPr lang="en-US" sz="2700" b="1" dirty="0">
                <a:solidFill>
                  <a:srgbClr val="FB1D91"/>
                </a:solidFill>
                <a:latin typeface="Arial" pitchFamily="34" charset="0"/>
                <a:ea typeface="Arial" pitchFamily="34" charset="-122"/>
                <a:cs typeface="Arial" pitchFamily="34" charset="-120"/>
              </a:rPr>
              <a:t>À partir de 499 $</a:t>
            </a:r>
            <a:endParaRPr lang="en-US" sz="2700" dirty="0"/>
          </a:p>
        </p:txBody>
      </p:sp>
      <p:sp>
        <p:nvSpPr>
          <p:cNvPr id="11" name="Text 8"/>
          <p:cNvSpPr/>
          <p:nvPr/>
        </p:nvSpPr>
        <p:spPr>
          <a:xfrm>
            <a:off x="841248" y="3337560"/>
            <a:ext cx="3246120" cy="1143000"/>
          </a:xfrm>
          <a:prstGeom prst="rect">
            <a:avLst/>
          </a:prstGeom>
          <a:noFill/>
          <a:ln/>
        </p:spPr>
        <p:txBody>
          <a:bodyPr wrap="square" lIns="0" tIns="0" rIns="0" bIns="0" rtlCol="0" anchor="ctr">
            <a:normAutofit/>
          </a:bodyPr>
          <a:lstStyle/>
          <a:p>
            <a:pPr algn="l" indent="0" marL="0">
              <a:buNone/>
            </a:pPr>
            <a:r>
              <a:rPr lang="en-US" sz="1700" dirty="0">
                <a:solidFill>
                  <a:srgbClr val="B6B1BF"/>
                </a:solidFill>
                <a:latin typeface="Arial" pitchFamily="34" charset="0"/>
                <a:ea typeface="Arial" pitchFamily="34" charset="-122"/>
                <a:cs typeface="Arial" pitchFamily="34" charset="-120"/>
              </a:rPr>
              <a:t>Une page stratégique avec environ 3 à 4 sections.</a:t>
            </a:r>
            <a:endParaRPr lang="en-US" sz="1700" dirty="0"/>
          </a:p>
        </p:txBody>
      </p:sp>
      <p:sp>
        <p:nvSpPr>
          <p:cNvPr id="12" name="Text 9"/>
          <p:cNvSpPr/>
          <p:nvPr/>
        </p:nvSpPr>
        <p:spPr>
          <a:xfrm>
            <a:off x="841248" y="5074920"/>
            <a:ext cx="3383280" cy="219456"/>
          </a:xfrm>
          <a:prstGeom prst="rect">
            <a:avLst/>
          </a:prstGeom>
          <a:noFill/>
          <a:ln/>
        </p:spPr>
        <p:txBody>
          <a:bodyPr wrap="square" lIns="0" tIns="0" rIns="0" bIns="0" rtlCol="0" anchor="ctr">
            <a:normAutofit/>
          </a:bodyPr>
          <a:lstStyle/>
          <a:p>
            <a:pPr algn="l" indent="0" marL="0">
              <a:buNone/>
            </a:pPr>
            <a:r>
              <a:rPr lang="en-US" sz="900" b="1" dirty="0">
                <a:solidFill>
                  <a:srgbClr val="54E1E6"/>
                </a:solidFill>
                <a:latin typeface="Arial" pitchFamily="34" charset="0"/>
                <a:ea typeface="Arial" pitchFamily="34" charset="-122"/>
                <a:cs typeface="Arial" pitchFamily="34" charset="-120"/>
              </a:rPr>
              <a:t>PORTÉE DÉFINIE AVANT LE DÉMARRAGE</a:t>
            </a:r>
            <a:endParaRPr lang="en-US" sz="900" dirty="0"/>
          </a:p>
        </p:txBody>
      </p:sp>
      <p:sp>
        <p:nvSpPr>
          <p:cNvPr id="13" name="Shape 10"/>
          <p:cNvSpPr/>
          <p:nvPr/>
        </p:nvSpPr>
        <p:spPr>
          <a:xfrm>
            <a:off x="5074920" y="2267712"/>
            <a:ext cx="118872" cy="118872"/>
          </a:xfrm>
          <a:prstGeom prst="ellipse">
            <a:avLst/>
          </a:prstGeom>
          <a:solidFill>
            <a:srgbClr val="FB1D91"/>
          </a:solidFill>
          <a:ln w="12700">
            <a:solidFill>
              <a:srgbClr val="FB1D91">
                <a:alpha val="0"/>
              </a:srgbClr>
            </a:solidFill>
            <a:prstDash val="solid"/>
          </a:ln>
        </p:spPr>
      </p:sp>
      <p:sp>
        <p:nvSpPr>
          <p:cNvPr id="14" name="Text 11"/>
          <p:cNvSpPr/>
          <p:nvPr/>
        </p:nvSpPr>
        <p:spPr>
          <a:xfrm>
            <a:off x="5376672" y="2167128"/>
            <a:ext cx="5897880" cy="402336"/>
          </a:xfrm>
          <a:prstGeom prst="rect">
            <a:avLst/>
          </a:prstGeom>
          <a:noFill/>
          <a:ln/>
        </p:spPr>
        <p:txBody>
          <a:bodyPr wrap="square" lIns="0" tIns="0" rIns="0" bIns="0" rtlCol="0" anchor="ctr">
            <a:normAutofit/>
          </a:bodyPr>
          <a:lstStyle/>
          <a:p>
            <a:pPr algn="l" indent="0" marL="0">
              <a:buNone/>
            </a:pPr>
            <a:r>
              <a:rPr lang="en-US" sz="1700" b="1" dirty="0">
                <a:solidFill>
                  <a:srgbClr val="F7F5FA"/>
                </a:solidFill>
                <a:latin typeface="Arial" pitchFamily="34" charset="0"/>
                <a:ea typeface="Arial" pitchFamily="34" charset="-122"/>
                <a:cs typeface="Arial" pitchFamily="34" charset="-120"/>
              </a:rPr>
              <a:t>Design adapté à votre marque</a:t>
            </a:r>
            <a:endParaRPr lang="en-US" sz="1700" dirty="0"/>
          </a:p>
        </p:txBody>
      </p:sp>
      <p:sp>
        <p:nvSpPr>
          <p:cNvPr id="15" name="Shape 12"/>
          <p:cNvSpPr/>
          <p:nvPr/>
        </p:nvSpPr>
        <p:spPr>
          <a:xfrm>
            <a:off x="5074920" y="2953512"/>
            <a:ext cx="118872" cy="118872"/>
          </a:xfrm>
          <a:prstGeom prst="ellipse">
            <a:avLst/>
          </a:prstGeom>
          <a:solidFill>
            <a:srgbClr val="FB1D91"/>
          </a:solidFill>
          <a:ln w="12700">
            <a:solidFill>
              <a:srgbClr val="FB1D91">
                <a:alpha val="0"/>
              </a:srgbClr>
            </a:solidFill>
            <a:prstDash val="solid"/>
          </a:ln>
        </p:spPr>
      </p:sp>
      <p:sp>
        <p:nvSpPr>
          <p:cNvPr id="16" name="Text 13"/>
          <p:cNvSpPr/>
          <p:nvPr/>
        </p:nvSpPr>
        <p:spPr>
          <a:xfrm>
            <a:off x="5376672" y="2852928"/>
            <a:ext cx="5897880" cy="402336"/>
          </a:xfrm>
          <a:prstGeom prst="rect">
            <a:avLst/>
          </a:prstGeom>
          <a:noFill/>
          <a:ln/>
        </p:spPr>
        <p:txBody>
          <a:bodyPr wrap="square" lIns="0" tIns="0" rIns="0" bIns="0" rtlCol="0" anchor="ctr">
            <a:normAutofit/>
          </a:bodyPr>
          <a:lstStyle/>
          <a:p>
            <a:pPr algn="l" indent="0" marL="0">
              <a:buNone/>
            </a:pPr>
            <a:r>
              <a:rPr lang="en-US" sz="1700" dirty="0">
                <a:solidFill>
                  <a:srgbClr val="F7F5FA"/>
                </a:solidFill>
                <a:latin typeface="Arial" pitchFamily="34" charset="0"/>
                <a:ea typeface="Arial" pitchFamily="34" charset="-122"/>
                <a:cs typeface="Arial" pitchFamily="34" charset="-120"/>
              </a:rPr>
              <a:t>Contenu organisé pour guider le visiteur</a:t>
            </a:r>
            <a:endParaRPr lang="en-US" sz="1700" dirty="0"/>
          </a:p>
        </p:txBody>
      </p:sp>
      <p:sp>
        <p:nvSpPr>
          <p:cNvPr id="17" name="Shape 14"/>
          <p:cNvSpPr/>
          <p:nvPr/>
        </p:nvSpPr>
        <p:spPr>
          <a:xfrm>
            <a:off x="5074920" y="3639312"/>
            <a:ext cx="118872" cy="118872"/>
          </a:xfrm>
          <a:prstGeom prst="ellipse">
            <a:avLst/>
          </a:prstGeom>
          <a:solidFill>
            <a:srgbClr val="54E1E6"/>
          </a:solidFill>
          <a:ln w="12700">
            <a:solidFill>
              <a:srgbClr val="54E1E6">
                <a:alpha val="0"/>
              </a:srgbClr>
            </a:solidFill>
            <a:prstDash val="solid"/>
          </a:ln>
        </p:spPr>
      </p:sp>
      <p:sp>
        <p:nvSpPr>
          <p:cNvPr id="18" name="Text 15"/>
          <p:cNvSpPr/>
          <p:nvPr/>
        </p:nvSpPr>
        <p:spPr>
          <a:xfrm>
            <a:off x="5376672" y="3538728"/>
            <a:ext cx="5897880" cy="402336"/>
          </a:xfrm>
          <a:prstGeom prst="rect">
            <a:avLst/>
          </a:prstGeom>
          <a:noFill/>
          <a:ln/>
        </p:spPr>
        <p:txBody>
          <a:bodyPr wrap="square" lIns="0" tIns="0" rIns="0" bIns="0" rtlCol="0" anchor="ctr">
            <a:normAutofit/>
          </a:bodyPr>
          <a:lstStyle/>
          <a:p>
            <a:pPr algn="l" indent="0" marL="0">
              <a:buNone/>
            </a:pPr>
            <a:r>
              <a:rPr lang="en-US" sz="1700" dirty="0">
                <a:solidFill>
                  <a:srgbClr val="F7F5FA"/>
                </a:solidFill>
                <a:latin typeface="Arial" pitchFamily="34" charset="0"/>
                <a:ea typeface="Arial" pitchFamily="34" charset="-122"/>
                <a:cs typeface="Arial" pitchFamily="34" charset="-120"/>
              </a:rPr>
              <a:t>Responsive sur mobile, tablette et ordinateur</a:t>
            </a:r>
            <a:endParaRPr lang="en-US" sz="1700" dirty="0"/>
          </a:p>
        </p:txBody>
      </p:sp>
      <p:sp>
        <p:nvSpPr>
          <p:cNvPr id="19" name="Shape 16"/>
          <p:cNvSpPr/>
          <p:nvPr/>
        </p:nvSpPr>
        <p:spPr>
          <a:xfrm>
            <a:off x="5074920" y="4325112"/>
            <a:ext cx="118872" cy="118872"/>
          </a:xfrm>
          <a:prstGeom prst="ellipse">
            <a:avLst/>
          </a:prstGeom>
          <a:solidFill>
            <a:srgbClr val="FB1D91"/>
          </a:solidFill>
          <a:ln w="12700">
            <a:solidFill>
              <a:srgbClr val="FB1D91">
                <a:alpha val="0"/>
              </a:srgbClr>
            </a:solidFill>
            <a:prstDash val="solid"/>
          </a:ln>
        </p:spPr>
      </p:sp>
      <p:sp>
        <p:nvSpPr>
          <p:cNvPr id="20" name="Text 17"/>
          <p:cNvSpPr/>
          <p:nvPr/>
        </p:nvSpPr>
        <p:spPr>
          <a:xfrm>
            <a:off x="5376672" y="4224528"/>
            <a:ext cx="5897880" cy="402336"/>
          </a:xfrm>
          <a:prstGeom prst="rect">
            <a:avLst/>
          </a:prstGeom>
          <a:noFill/>
          <a:ln/>
        </p:spPr>
        <p:txBody>
          <a:bodyPr wrap="square" lIns="0" tIns="0" rIns="0" bIns="0" rtlCol="0" anchor="ctr">
            <a:normAutofit/>
          </a:bodyPr>
          <a:lstStyle/>
          <a:p>
            <a:pPr algn="l" indent="0" marL="0">
              <a:buNone/>
            </a:pPr>
            <a:r>
              <a:rPr lang="en-US" sz="1700" dirty="0">
                <a:solidFill>
                  <a:srgbClr val="F7F5FA"/>
                </a:solidFill>
                <a:latin typeface="Arial" pitchFamily="34" charset="0"/>
                <a:ea typeface="Arial" pitchFamily="34" charset="-122"/>
                <a:cs typeface="Arial" pitchFamily="34" charset="-120"/>
              </a:rPr>
              <a:t>Animations et appels à l’action intégrés</a:t>
            </a:r>
            <a:endParaRPr lang="en-US" sz="1700" dirty="0"/>
          </a:p>
        </p:txBody>
      </p:sp>
      <p:sp>
        <p:nvSpPr>
          <p:cNvPr id="21" name="Shape 18"/>
          <p:cNvSpPr/>
          <p:nvPr/>
        </p:nvSpPr>
        <p:spPr>
          <a:xfrm>
            <a:off x="5074920" y="5257800"/>
            <a:ext cx="6126480" cy="438912"/>
          </a:xfrm>
          <a:prstGeom prst="roundRect">
            <a:avLst>
              <a:gd name="adj" fmla="val 16667"/>
            </a:avLst>
          </a:prstGeom>
          <a:solidFill>
            <a:srgbClr val="17171E"/>
          </a:solidFill>
          <a:ln w="12700">
            <a:solidFill>
              <a:srgbClr val="17171E">
                <a:alpha val="0"/>
              </a:srgbClr>
            </a:solidFill>
            <a:prstDash val="solid"/>
          </a:ln>
        </p:spPr>
      </p:sp>
      <p:sp>
        <p:nvSpPr>
          <p:cNvPr id="22" name="Text 19"/>
          <p:cNvSpPr/>
          <p:nvPr/>
        </p:nvSpPr>
        <p:spPr>
          <a:xfrm>
            <a:off x="5303520" y="5330952"/>
            <a:ext cx="5669280" cy="219456"/>
          </a:xfrm>
          <a:prstGeom prst="rect">
            <a:avLst/>
          </a:prstGeom>
          <a:noFill/>
          <a:ln/>
        </p:spPr>
        <p:txBody>
          <a:bodyPr wrap="square" lIns="0" tIns="0" rIns="0" bIns="0" rtlCol="0" anchor="ctr">
            <a:normAutofit/>
          </a:bodyPr>
          <a:lstStyle/>
          <a:p>
            <a:pPr algn="l" indent="0" marL="0">
              <a:buNone/>
            </a:pPr>
            <a:r>
              <a:rPr lang="en-US" sz="1200" b="1" dirty="0">
                <a:solidFill>
                  <a:srgbClr val="54E1E6"/>
                </a:solidFill>
                <a:latin typeface="Arial" pitchFamily="34" charset="0"/>
                <a:ea typeface="Arial" pitchFamily="34" charset="-122"/>
                <a:cs typeface="Arial" pitchFamily="34" charset="-120"/>
              </a:rPr>
              <a:t>Section additionnelle : 99 $ à 199 $ selon le contenu et la complexité.</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80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080B"/>
          </a:solidFill>
          <a:ln w="12700">
            <a:solidFill>
              <a:srgbClr val="08080B">
                <a:alpha val="0"/>
              </a:srgbClr>
            </a:solidFill>
            <a:prstDash val="solid"/>
          </a:ln>
        </p:spPr>
      </p:sp>
      <p:sp>
        <p:nvSpPr>
          <p:cNvPr id="3" name="Text 1"/>
          <p:cNvSpPr/>
          <p:nvPr/>
        </p:nvSpPr>
        <p:spPr>
          <a:xfrm>
            <a:off x="566928" y="347472"/>
            <a:ext cx="10058400" cy="219456"/>
          </a:xfrm>
          <a:prstGeom prst="rect">
            <a:avLst/>
          </a:prstGeom>
          <a:noFill/>
          <a:ln/>
        </p:spPr>
        <p:txBody>
          <a:bodyPr wrap="square" lIns="0" tIns="0" rIns="0" bIns="0" rtlCol="0" anchor="ctr">
            <a:normAutofit/>
          </a:bodyPr>
          <a:lstStyle/>
          <a:p>
            <a:pPr algn="l" indent="0" marL="0">
              <a:buNone/>
            </a:pPr>
            <a:r>
              <a:rPr lang="en-US" sz="1000" b="1" dirty="0">
                <a:solidFill>
                  <a:srgbClr val="54E1E6"/>
                </a:solidFill>
                <a:latin typeface="Arial" pitchFamily="34" charset="0"/>
                <a:ea typeface="Arial" pitchFamily="34" charset="-122"/>
                <a:cs typeface="Arial" pitchFamily="34" charset="-120"/>
              </a:rPr>
              <a:t>02 · UNE PRÉSENCE COMPLÈTE</a:t>
            </a:r>
            <a:endParaRPr lang="en-US" sz="1000" dirty="0"/>
          </a:p>
        </p:txBody>
      </p:sp>
      <p:sp>
        <p:nvSpPr>
          <p:cNvPr id="4" name="Text 2"/>
          <p:cNvSpPr/>
          <p:nvPr/>
        </p:nvSpPr>
        <p:spPr>
          <a:xfrm>
            <a:off x="566928" y="786384"/>
            <a:ext cx="11018520" cy="1097280"/>
          </a:xfrm>
          <a:prstGeom prst="rect">
            <a:avLst/>
          </a:prstGeom>
          <a:noFill/>
          <a:ln/>
        </p:spPr>
        <p:txBody>
          <a:bodyPr wrap="square" lIns="0" tIns="0" rIns="0" bIns="0" rtlCol="0" anchor="ctr">
            <a:normAutofit/>
          </a:bodyPr>
          <a:lstStyle/>
          <a:p>
            <a:pPr algn="l" indent="0" marL="0">
              <a:buNone/>
            </a:pPr>
            <a:r>
              <a:rPr lang="en-US" sz="3500" b="1" dirty="0">
                <a:solidFill>
                  <a:srgbClr val="F7F5FA"/>
                </a:solidFill>
                <a:latin typeface="Arial" pitchFamily="34" charset="0"/>
                <a:ea typeface="Arial" pitchFamily="34" charset="-122"/>
                <a:cs typeface="Arial" pitchFamily="34" charset="-120"/>
              </a:rPr>
              <a:t>Site web multipage</a:t>
            </a:r>
            <a:endParaRPr lang="en-US" sz="3500" dirty="0"/>
          </a:p>
        </p:txBody>
      </p:sp>
      <p:sp>
        <p:nvSpPr>
          <p:cNvPr id="5" name="Shape 3"/>
          <p:cNvSpPr/>
          <p:nvPr/>
        </p:nvSpPr>
        <p:spPr>
          <a:xfrm>
            <a:off x="566928" y="6492240"/>
            <a:ext cx="11018520" cy="10973"/>
          </a:xfrm>
          <a:prstGeom prst="rect">
            <a:avLst/>
          </a:prstGeom>
          <a:solidFill>
            <a:srgbClr val="302A36"/>
          </a:solidFill>
          <a:ln w="12700">
            <a:solidFill>
              <a:srgbClr val="302A36">
                <a:alpha val="0"/>
              </a:srgbClr>
            </a:solidFill>
            <a:prstDash val="solid"/>
          </a:ln>
        </p:spPr>
      </p:sp>
      <p:sp>
        <p:nvSpPr>
          <p:cNvPr id="6" name="Text 4"/>
          <p:cNvSpPr/>
          <p:nvPr/>
        </p:nvSpPr>
        <p:spPr>
          <a:xfrm>
            <a:off x="566928" y="6583680"/>
            <a:ext cx="7315200" cy="164592"/>
          </a:xfrm>
          <a:prstGeom prst="rect">
            <a:avLst/>
          </a:prstGeom>
          <a:noFill/>
          <a:ln/>
        </p:spPr>
        <p:txBody>
          <a:bodyPr wrap="square" lIns="0" tIns="0" rIns="0" bIns="0" rtlCol="0" anchor="ctr">
            <a:normAutofit/>
          </a:bodyPr>
          <a:lstStyle/>
          <a:p>
            <a:pPr algn="l" indent="0" marL="0">
              <a:buNone/>
            </a:pPr>
            <a:r>
              <a:rPr lang="en-US" sz="800" dirty="0">
                <a:solidFill>
                  <a:srgbClr val="898392"/>
                </a:solidFill>
                <a:latin typeface="Arial" pitchFamily="34" charset="0"/>
                <a:ea typeface="Arial" pitchFamily="34" charset="-122"/>
                <a:cs typeface="Arial" pitchFamily="34" charset="-120"/>
              </a:rPr>
              <a:t>KMD WEB  /  SITES · DESIGN · IA</a:t>
            </a:r>
            <a:endParaRPr lang="en-US" sz="800" dirty="0"/>
          </a:p>
        </p:txBody>
      </p:sp>
      <p:sp>
        <p:nvSpPr>
          <p:cNvPr id="7" name="Text 5"/>
          <p:cNvSpPr/>
          <p:nvPr/>
        </p:nvSpPr>
        <p:spPr>
          <a:xfrm>
            <a:off x="10954512" y="6565392"/>
            <a:ext cx="640080" cy="164592"/>
          </a:xfrm>
          <a:prstGeom prst="rect">
            <a:avLst/>
          </a:prstGeom>
          <a:noFill/>
          <a:ln/>
        </p:spPr>
        <p:txBody>
          <a:bodyPr wrap="square" lIns="0" tIns="0" rIns="0" bIns="0" rtlCol="0" anchor="ctr">
            <a:normAutofit/>
          </a:bodyPr>
          <a:lstStyle/>
          <a:p>
            <a:pPr algn="r" indent="0" marL="0">
              <a:buNone/>
            </a:pPr>
            <a:r>
              <a:rPr lang="en-US" sz="900" dirty="0">
                <a:solidFill>
                  <a:srgbClr val="898392"/>
                </a:solidFill>
                <a:latin typeface="Arial" pitchFamily="34" charset="0"/>
                <a:ea typeface="Arial" pitchFamily="34" charset="-122"/>
                <a:cs typeface="Arial" pitchFamily="34" charset="-120"/>
              </a:rPr>
              <a:t>05</a:t>
            </a:r>
            <a:endParaRPr lang="en-US" sz="900" dirty="0"/>
          </a:p>
        </p:txBody>
      </p:sp>
      <p:sp>
        <p:nvSpPr>
          <p:cNvPr id="9" name="Shape 6"/>
          <p:cNvSpPr/>
          <p:nvPr/>
        </p:nvSpPr>
        <p:spPr>
          <a:xfrm>
            <a:off x="566928" y="2057400"/>
            <a:ext cx="3931920" cy="3611880"/>
          </a:xfrm>
          <a:prstGeom prst="roundRect">
            <a:avLst>
              <a:gd name="adj" fmla="val 3038"/>
            </a:avLst>
          </a:prstGeom>
          <a:solidFill>
            <a:srgbClr val="111116"/>
          </a:solidFill>
          <a:ln w="12700">
            <a:solidFill>
              <a:srgbClr val="302A36">
                <a:alpha val="0"/>
              </a:srgbClr>
            </a:solidFill>
            <a:prstDash val="solid"/>
          </a:ln>
        </p:spPr>
      </p:sp>
      <p:sp>
        <p:nvSpPr>
          <p:cNvPr id="10" name="Text 7"/>
          <p:cNvSpPr/>
          <p:nvPr/>
        </p:nvSpPr>
        <p:spPr>
          <a:xfrm>
            <a:off x="841248" y="2514600"/>
            <a:ext cx="3383280" cy="640080"/>
          </a:xfrm>
          <a:prstGeom prst="rect">
            <a:avLst/>
          </a:prstGeom>
          <a:noFill/>
          <a:ln/>
        </p:spPr>
        <p:txBody>
          <a:bodyPr wrap="square" lIns="0" tIns="0" rIns="0" bIns="0" rtlCol="0" anchor="ctr">
            <a:normAutofit/>
          </a:bodyPr>
          <a:lstStyle/>
          <a:p>
            <a:pPr algn="l" indent="0" marL="0">
              <a:buNone/>
            </a:pPr>
            <a:r>
              <a:rPr lang="en-US" sz="2700" b="1" dirty="0">
                <a:solidFill>
                  <a:srgbClr val="FB1D91"/>
                </a:solidFill>
                <a:latin typeface="Arial" pitchFamily="34" charset="0"/>
                <a:ea typeface="Arial" pitchFamily="34" charset="-122"/>
                <a:cs typeface="Arial" pitchFamily="34" charset="-120"/>
              </a:rPr>
              <a:t>À partir de 999 $</a:t>
            </a:r>
            <a:endParaRPr lang="en-US" sz="2700" dirty="0"/>
          </a:p>
        </p:txBody>
      </p:sp>
      <p:sp>
        <p:nvSpPr>
          <p:cNvPr id="11" name="Text 8"/>
          <p:cNvSpPr/>
          <p:nvPr/>
        </p:nvSpPr>
        <p:spPr>
          <a:xfrm>
            <a:off x="841248" y="3337560"/>
            <a:ext cx="3246120" cy="1143000"/>
          </a:xfrm>
          <a:prstGeom prst="rect">
            <a:avLst/>
          </a:prstGeom>
          <a:noFill/>
          <a:ln/>
        </p:spPr>
        <p:txBody>
          <a:bodyPr wrap="square" lIns="0" tIns="0" rIns="0" bIns="0" rtlCol="0" anchor="ctr">
            <a:normAutofit/>
          </a:bodyPr>
          <a:lstStyle/>
          <a:p>
            <a:pPr algn="l" indent="0" marL="0">
              <a:buNone/>
            </a:pPr>
            <a:r>
              <a:rPr lang="en-US" sz="1700" dirty="0">
                <a:solidFill>
                  <a:srgbClr val="B6B1BF"/>
                </a:solidFill>
                <a:latin typeface="Arial" pitchFamily="34" charset="0"/>
                <a:ea typeface="Arial" pitchFamily="34" charset="-122"/>
                <a:cs typeface="Arial" pitchFamily="34" charset="-120"/>
              </a:rPr>
              <a:t>Un site complet conçu pour représenter votre entreprise avec justesse.</a:t>
            </a:r>
            <a:endParaRPr lang="en-US" sz="1700" dirty="0"/>
          </a:p>
        </p:txBody>
      </p:sp>
      <p:sp>
        <p:nvSpPr>
          <p:cNvPr id="12" name="Text 9"/>
          <p:cNvSpPr/>
          <p:nvPr/>
        </p:nvSpPr>
        <p:spPr>
          <a:xfrm>
            <a:off x="841248" y="5074920"/>
            <a:ext cx="3383280" cy="219456"/>
          </a:xfrm>
          <a:prstGeom prst="rect">
            <a:avLst/>
          </a:prstGeom>
          <a:noFill/>
          <a:ln/>
        </p:spPr>
        <p:txBody>
          <a:bodyPr wrap="square" lIns="0" tIns="0" rIns="0" bIns="0" rtlCol="0" anchor="ctr">
            <a:normAutofit/>
          </a:bodyPr>
          <a:lstStyle/>
          <a:p>
            <a:pPr algn="l" indent="0" marL="0">
              <a:buNone/>
            </a:pPr>
            <a:r>
              <a:rPr lang="en-US" sz="900" b="1" dirty="0">
                <a:solidFill>
                  <a:srgbClr val="54E1E6"/>
                </a:solidFill>
                <a:latin typeface="Arial" pitchFamily="34" charset="0"/>
                <a:ea typeface="Arial" pitchFamily="34" charset="-122"/>
                <a:cs typeface="Arial" pitchFamily="34" charset="-120"/>
              </a:rPr>
              <a:t>PORTÉE DÉFINIE AVANT LE DÉMARRAGE</a:t>
            </a:r>
            <a:endParaRPr lang="en-US" sz="900" dirty="0"/>
          </a:p>
        </p:txBody>
      </p:sp>
      <p:sp>
        <p:nvSpPr>
          <p:cNvPr id="13" name="Shape 10"/>
          <p:cNvSpPr/>
          <p:nvPr/>
        </p:nvSpPr>
        <p:spPr>
          <a:xfrm>
            <a:off x="5074920" y="2267712"/>
            <a:ext cx="118872" cy="118872"/>
          </a:xfrm>
          <a:prstGeom prst="ellipse">
            <a:avLst/>
          </a:prstGeom>
          <a:solidFill>
            <a:srgbClr val="FB1D91"/>
          </a:solidFill>
          <a:ln w="12700">
            <a:solidFill>
              <a:srgbClr val="FB1D91">
                <a:alpha val="0"/>
              </a:srgbClr>
            </a:solidFill>
            <a:prstDash val="solid"/>
          </a:ln>
        </p:spPr>
      </p:sp>
      <p:sp>
        <p:nvSpPr>
          <p:cNvPr id="14" name="Text 11"/>
          <p:cNvSpPr/>
          <p:nvPr/>
        </p:nvSpPr>
        <p:spPr>
          <a:xfrm>
            <a:off x="5376672" y="2167128"/>
            <a:ext cx="5897880" cy="402336"/>
          </a:xfrm>
          <a:prstGeom prst="rect">
            <a:avLst/>
          </a:prstGeom>
          <a:noFill/>
          <a:ln/>
        </p:spPr>
        <p:txBody>
          <a:bodyPr wrap="square" lIns="0" tIns="0" rIns="0" bIns="0" rtlCol="0" anchor="ctr">
            <a:normAutofit/>
          </a:bodyPr>
          <a:lstStyle/>
          <a:p>
            <a:pPr algn="l" indent="0" marL="0">
              <a:buNone/>
            </a:pPr>
            <a:r>
              <a:rPr lang="en-US" sz="1700" b="1" dirty="0">
                <a:solidFill>
                  <a:srgbClr val="F7F5FA"/>
                </a:solidFill>
                <a:latin typeface="Arial" pitchFamily="34" charset="0"/>
                <a:ea typeface="Arial" pitchFamily="34" charset="-122"/>
                <a:cs typeface="Arial" pitchFamily="34" charset="-120"/>
              </a:rPr>
              <a:t>Plusieurs pages distinctes</a:t>
            </a:r>
            <a:endParaRPr lang="en-US" sz="1700" dirty="0"/>
          </a:p>
        </p:txBody>
      </p:sp>
      <p:sp>
        <p:nvSpPr>
          <p:cNvPr id="15" name="Shape 12"/>
          <p:cNvSpPr/>
          <p:nvPr/>
        </p:nvSpPr>
        <p:spPr>
          <a:xfrm>
            <a:off x="5074920" y="2953512"/>
            <a:ext cx="118872" cy="118872"/>
          </a:xfrm>
          <a:prstGeom prst="ellipse">
            <a:avLst/>
          </a:prstGeom>
          <a:solidFill>
            <a:srgbClr val="FB1D91"/>
          </a:solidFill>
          <a:ln w="12700">
            <a:solidFill>
              <a:srgbClr val="FB1D91">
                <a:alpha val="0"/>
              </a:srgbClr>
            </a:solidFill>
            <a:prstDash val="solid"/>
          </a:ln>
        </p:spPr>
      </p:sp>
      <p:sp>
        <p:nvSpPr>
          <p:cNvPr id="16" name="Text 13"/>
          <p:cNvSpPr/>
          <p:nvPr/>
        </p:nvSpPr>
        <p:spPr>
          <a:xfrm>
            <a:off x="5376672" y="2852928"/>
            <a:ext cx="5897880" cy="402336"/>
          </a:xfrm>
          <a:prstGeom prst="rect">
            <a:avLst/>
          </a:prstGeom>
          <a:noFill/>
          <a:ln/>
        </p:spPr>
        <p:txBody>
          <a:bodyPr wrap="square" lIns="0" tIns="0" rIns="0" bIns="0" rtlCol="0" anchor="ctr">
            <a:normAutofit/>
          </a:bodyPr>
          <a:lstStyle/>
          <a:p>
            <a:pPr algn="l" indent="0" marL="0">
              <a:buNone/>
            </a:pPr>
            <a:r>
              <a:rPr lang="en-US" sz="1700" dirty="0">
                <a:solidFill>
                  <a:srgbClr val="F7F5FA"/>
                </a:solidFill>
                <a:latin typeface="Arial" pitchFamily="34" charset="0"/>
                <a:ea typeface="Arial" pitchFamily="34" charset="-122"/>
                <a:cs typeface="Arial" pitchFamily="34" charset="-120"/>
              </a:rPr>
              <a:t>Formulaire de contact complet</a:t>
            </a:r>
            <a:endParaRPr lang="en-US" sz="1700" dirty="0"/>
          </a:p>
        </p:txBody>
      </p:sp>
      <p:sp>
        <p:nvSpPr>
          <p:cNvPr id="17" name="Shape 14"/>
          <p:cNvSpPr/>
          <p:nvPr/>
        </p:nvSpPr>
        <p:spPr>
          <a:xfrm>
            <a:off x="5074920" y="3639312"/>
            <a:ext cx="118872" cy="118872"/>
          </a:xfrm>
          <a:prstGeom prst="ellipse">
            <a:avLst/>
          </a:prstGeom>
          <a:solidFill>
            <a:srgbClr val="54E1E6"/>
          </a:solidFill>
          <a:ln w="12700">
            <a:solidFill>
              <a:srgbClr val="54E1E6">
                <a:alpha val="0"/>
              </a:srgbClr>
            </a:solidFill>
            <a:prstDash val="solid"/>
          </a:ln>
        </p:spPr>
      </p:sp>
      <p:sp>
        <p:nvSpPr>
          <p:cNvPr id="18" name="Text 15"/>
          <p:cNvSpPr/>
          <p:nvPr/>
        </p:nvSpPr>
        <p:spPr>
          <a:xfrm>
            <a:off x="5376672" y="3538728"/>
            <a:ext cx="5897880" cy="402336"/>
          </a:xfrm>
          <a:prstGeom prst="rect">
            <a:avLst/>
          </a:prstGeom>
          <a:noFill/>
          <a:ln/>
        </p:spPr>
        <p:txBody>
          <a:bodyPr wrap="square" lIns="0" tIns="0" rIns="0" bIns="0" rtlCol="0" anchor="ctr">
            <a:normAutofit/>
          </a:bodyPr>
          <a:lstStyle/>
          <a:p>
            <a:pPr algn="l" indent="0" marL="0">
              <a:buNone/>
            </a:pPr>
            <a:r>
              <a:rPr lang="en-US" sz="1700" dirty="0">
                <a:solidFill>
                  <a:srgbClr val="F7F5FA"/>
                </a:solidFill>
                <a:latin typeface="Arial" pitchFamily="34" charset="0"/>
                <a:ea typeface="Arial" pitchFamily="34" charset="-122"/>
                <a:cs typeface="Arial" pitchFamily="34" charset="-120"/>
              </a:rPr>
              <a:t>Personnalisation à 100 % selon votre marque</a:t>
            </a:r>
            <a:endParaRPr lang="en-US" sz="1700" dirty="0"/>
          </a:p>
        </p:txBody>
      </p:sp>
      <p:sp>
        <p:nvSpPr>
          <p:cNvPr id="19" name="Shape 16"/>
          <p:cNvSpPr/>
          <p:nvPr/>
        </p:nvSpPr>
        <p:spPr>
          <a:xfrm>
            <a:off x="5074920" y="4325112"/>
            <a:ext cx="118872" cy="118872"/>
          </a:xfrm>
          <a:prstGeom prst="ellipse">
            <a:avLst/>
          </a:prstGeom>
          <a:solidFill>
            <a:srgbClr val="FB1D91"/>
          </a:solidFill>
          <a:ln w="12700">
            <a:solidFill>
              <a:srgbClr val="FB1D91">
                <a:alpha val="0"/>
              </a:srgbClr>
            </a:solidFill>
            <a:prstDash val="solid"/>
          </a:ln>
        </p:spPr>
      </p:sp>
      <p:sp>
        <p:nvSpPr>
          <p:cNvPr id="20" name="Text 17"/>
          <p:cNvSpPr/>
          <p:nvPr/>
        </p:nvSpPr>
        <p:spPr>
          <a:xfrm>
            <a:off x="5376672" y="4224528"/>
            <a:ext cx="5897880" cy="402336"/>
          </a:xfrm>
          <a:prstGeom prst="rect">
            <a:avLst/>
          </a:prstGeom>
          <a:noFill/>
          <a:ln/>
        </p:spPr>
        <p:txBody>
          <a:bodyPr wrap="square" lIns="0" tIns="0" rIns="0" bIns="0" rtlCol="0" anchor="ctr">
            <a:normAutofit/>
          </a:bodyPr>
          <a:lstStyle/>
          <a:p>
            <a:pPr algn="l" indent="0" marL="0">
              <a:buNone/>
            </a:pPr>
            <a:r>
              <a:rPr lang="en-US" sz="1700" dirty="0">
                <a:solidFill>
                  <a:srgbClr val="F7F5FA"/>
                </a:solidFill>
                <a:latin typeface="Arial" pitchFamily="34" charset="0"/>
                <a:ea typeface="Arial" pitchFamily="34" charset="-122"/>
                <a:cs typeface="Arial" pitchFamily="34" charset="-120"/>
              </a:rPr>
              <a:t>Animations et interactions personnalisées partout sur le site, avec finitions premium</a:t>
            </a:r>
            <a:endParaRPr lang="en-US" sz="1700" dirty="0"/>
          </a:p>
        </p:txBody>
      </p:sp>
      <p:sp>
        <p:nvSpPr>
          <p:cNvPr id="21" name="Shape 18"/>
          <p:cNvSpPr/>
          <p:nvPr/>
        </p:nvSpPr>
        <p:spPr>
          <a:xfrm>
            <a:off x="5074920" y="5257800"/>
            <a:ext cx="6126480" cy="438912"/>
          </a:xfrm>
          <a:prstGeom prst="roundRect">
            <a:avLst>
              <a:gd name="adj" fmla="val 16667"/>
            </a:avLst>
          </a:prstGeom>
          <a:solidFill>
            <a:srgbClr val="17171E"/>
          </a:solidFill>
          <a:ln w="12700">
            <a:solidFill>
              <a:srgbClr val="17171E">
                <a:alpha val="0"/>
              </a:srgbClr>
            </a:solidFill>
            <a:prstDash val="solid"/>
          </a:ln>
        </p:spPr>
      </p:sp>
      <p:sp>
        <p:nvSpPr>
          <p:cNvPr id="22" name="Text 19"/>
          <p:cNvSpPr/>
          <p:nvPr/>
        </p:nvSpPr>
        <p:spPr>
          <a:xfrm>
            <a:off x="5303520" y="5330952"/>
            <a:ext cx="5669280" cy="219456"/>
          </a:xfrm>
          <a:prstGeom prst="rect">
            <a:avLst/>
          </a:prstGeom>
          <a:noFill/>
          <a:ln/>
        </p:spPr>
        <p:txBody>
          <a:bodyPr wrap="square" lIns="0" tIns="0" rIns="0" bIns="0" rtlCol="0" anchor="ctr">
            <a:normAutofit/>
          </a:bodyPr>
          <a:lstStyle/>
          <a:p>
            <a:pPr algn="l" indent="0" marL="0">
              <a:buNone/>
            </a:pPr>
            <a:r>
              <a:rPr lang="en-US" sz="1200" b="1" dirty="0">
                <a:solidFill>
                  <a:srgbClr val="54E1E6"/>
                </a:solidFill>
                <a:latin typeface="Arial" pitchFamily="34" charset="0"/>
                <a:ea typeface="Arial" pitchFamily="34" charset="-122"/>
                <a:cs typeface="Arial" pitchFamily="34" charset="-120"/>
              </a:rPr>
              <a:t>Chaque projet est défini selon le nombre de pages et les fonctionnalités.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80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080B"/>
          </a:solidFill>
          <a:ln w="12700">
            <a:solidFill>
              <a:srgbClr val="08080B">
                <a:alpha val="0"/>
              </a:srgbClr>
            </a:solidFill>
            <a:prstDash val="solid"/>
          </a:ln>
        </p:spPr>
      </p:sp>
      <p:sp>
        <p:nvSpPr>
          <p:cNvPr id="3" name="Text 1"/>
          <p:cNvSpPr/>
          <p:nvPr/>
        </p:nvSpPr>
        <p:spPr>
          <a:xfrm>
            <a:off x="566928" y="347472"/>
            <a:ext cx="10058400" cy="219456"/>
          </a:xfrm>
          <a:prstGeom prst="rect">
            <a:avLst/>
          </a:prstGeom>
          <a:noFill/>
          <a:ln/>
        </p:spPr>
        <p:txBody>
          <a:bodyPr wrap="square" lIns="0" tIns="0" rIns="0" bIns="0" rtlCol="0" anchor="ctr">
            <a:normAutofit/>
          </a:bodyPr>
          <a:lstStyle/>
          <a:p>
            <a:pPr algn="l" indent="0" marL="0">
              <a:buNone/>
            </a:pPr>
            <a:r>
              <a:rPr lang="en-US" sz="1000" b="1" dirty="0">
                <a:solidFill>
                  <a:srgbClr val="54E1E6"/>
                </a:solidFill>
                <a:latin typeface="Arial" pitchFamily="34" charset="0"/>
                <a:ea typeface="Arial" pitchFamily="34" charset="-122"/>
                <a:cs typeface="Arial" pitchFamily="34" charset="-120"/>
              </a:rPr>
              <a:t>03 · TEMPS RÉCUPÉRÉ</a:t>
            </a:r>
            <a:endParaRPr lang="en-US" sz="1000" dirty="0"/>
          </a:p>
        </p:txBody>
      </p:sp>
      <p:sp>
        <p:nvSpPr>
          <p:cNvPr id="4" name="Text 2"/>
          <p:cNvSpPr/>
          <p:nvPr/>
        </p:nvSpPr>
        <p:spPr>
          <a:xfrm>
            <a:off x="566928" y="786384"/>
            <a:ext cx="11018520" cy="1097280"/>
          </a:xfrm>
          <a:prstGeom prst="rect">
            <a:avLst/>
          </a:prstGeom>
          <a:noFill/>
          <a:ln/>
        </p:spPr>
        <p:txBody>
          <a:bodyPr wrap="square" lIns="0" tIns="0" rIns="0" bIns="0" rtlCol="0" anchor="ctr">
            <a:normAutofit/>
          </a:bodyPr>
          <a:lstStyle/>
          <a:p>
            <a:pPr algn="l" indent="0" marL="0">
              <a:buNone/>
            </a:pPr>
            <a:r>
              <a:rPr lang="en-US" sz="3500" b="1" dirty="0">
                <a:solidFill>
                  <a:srgbClr val="F7F5FA"/>
                </a:solidFill>
                <a:latin typeface="Arial" pitchFamily="34" charset="0"/>
                <a:ea typeface="Arial" pitchFamily="34" charset="-122"/>
                <a:cs typeface="Arial" pitchFamily="34" charset="-120"/>
              </a:rPr>
              <a:t>L’IA qui s’intègre à votre façon de travailler.</a:t>
            </a:r>
            <a:endParaRPr lang="en-US" sz="3500" dirty="0"/>
          </a:p>
        </p:txBody>
      </p:sp>
      <p:sp>
        <p:nvSpPr>
          <p:cNvPr id="5" name="Shape 3"/>
          <p:cNvSpPr/>
          <p:nvPr/>
        </p:nvSpPr>
        <p:spPr>
          <a:xfrm>
            <a:off x="566928" y="6492240"/>
            <a:ext cx="11018520" cy="10973"/>
          </a:xfrm>
          <a:prstGeom prst="rect">
            <a:avLst/>
          </a:prstGeom>
          <a:solidFill>
            <a:srgbClr val="302A36"/>
          </a:solidFill>
          <a:ln w="12700">
            <a:solidFill>
              <a:srgbClr val="302A36">
                <a:alpha val="0"/>
              </a:srgbClr>
            </a:solidFill>
            <a:prstDash val="solid"/>
          </a:ln>
        </p:spPr>
      </p:sp>
      <p:sp>
        <p:nvSpPr>
          <p:cNvPr id="6" name="Text 4"/>
          <p:cNvSpPr/>
          <p:nvPr/>
        </p:nvSpPr>
        <p:spPr>
          <a:xfrm>
            <a:off x="566928" y="6583680"/>
            <a:ext cx="7315200" cy="164592"/>
          </a:xfrm>
          <a:prstGeom prst="rect">
            <a:avLst/>
          </a:prstGeom>
          <a:noFill/>
          <a:ln/>
        </p:spPr>
        <p:txBody>
          <a:bodyPr wrap="square" lIns="0" tIns="0" rIns="0" bIns="0" rtlCol="0" anchor="ctr">
            <a:normAutofit/>
          </a:bodyPr>
          <a:lstStyle/>
          <a:p>
            <a:pPr algn="l" indent="0" marL="0">
              <a:buNone/>
            </a:pPr>
            <a:r>
              <a:rPr lang="en-US" sz="800" dirty="0">
                <a:solidFill>
                  <a:srgbClr val="898392"/>
                </a:solidFill>
                <a:latin typeface="Arial" pitchFamily="34" charset="0"/>
                <a:ea typeface="Arial" pitchFamily="34" charset="-122"/>
                <a:cs typeface="Arial" pitchFamily="34" charset="-120"/>
              </a:rPr>
              <a:t>KMD WEB  /  SITES · DESIGN · IA</a:t>
            </a:r>
            <a:endParaRPr lang="en-US" sz="800" dirty="0"/>
          </a:p>
        </p:txBody>
      </p:sp>
      <p:sp>
        <p:nvSpPr>
          <p:cNvPr id="7" name="Text 5"/>
          <p:cNvSpPr/>
          <p:nvPr/>
        </p:nvSpPr>
        <p:spPr>
          <a:xfrm>
            <a:off x="10954512" y="6565392"/>
            <a:ext cx="640080" cy="164592"/>
          </a:xfrm>
          <a:prstGeom prst="rect">
            <a:avLst/>
          </a:prstGeom>
          <a:noFill/>
          <a:ln/>
        </p:spPr>
        <p:txBody>
          <a:bodyPr wrap="square" lIns="0" tIns="0" rIns="0" bIns="0" rtlCol="0" anchor="ctr">
            <a:normAutofit/>
          </a:bodyPr>
          <a:lstStyle/>
          <a:p>
            <a:pPr algn="r" indent="0" marL="0">
              <a:buNone/>
            </a:pPr>
            <a:r>
              <a:rPr lang="en-US" sz="900" dirty="0">
                <a:solidFill>
                  <a:srgbClr val="898392"/>
                </a:solidFill>
                <a:latin typeface="Arial" pitchFamily="34" charset="0"/>
                <a:ea typeface="Arial" pitchFamily="34" charset="-122"/>
                <a:cs typeface="Arial" pitchFamily="34" charset="-120"/>
              </a:rPr>
              <a:t>06</a:t>
            </a:r>
            <a:endParaRPr lang="en-US" sz="900" dirty="0"/>
          </a:p>
        </p:txBody>
      </p:sp>
      <p:sp>
        <p:nvSpPr>
          <p:cNvPr id="9" name="Text 6"/>
          <p:cNvSpPr/>
          <p:nvPr/>
        </p:nvSpPr>
        <p:spPr>
          <a:xfrm>
            <a:off x="566928" y="1874520"/>
            <a:ext cx="7406640" cy="685800"/>
          </a:xfrm>
          <a:prstGeom prst="rect">
            <a:avLst/>
          </a:prstGeom>
          <a:noFill/>
          <a:ln/>
        </p:spPr>
        <p:txBody>
          <a:bodyPr wrap="square" lIns="0" tIns="0" rIns="0" bIns="0" rtlCol="0" anchor="ctr">
            <a:normAutofit/>
          </a:bodyPr>
          <a:lstStyle/>
          <a:p>
            <a:pPr algn="l" indent="0" marL="0">
              <a:buNone/>
            </a:pPr>
            <a:r>
              <a:rPr lang="en-US" sz="1800" dirty="0">
                <a:solidFill>
                  <a:srgbClr val="B6B1BF"/>
                </a:solidFill>
                <a:latin typeface="Arial" pitchFamily="34" charset="0"/>
                <a:ea typeface="Arial" pitchFamily="34" charset="-122"/>
                <a:cs typeface="Arial" pitchFamily="34" charset="-120"/>
              </a:rPr>
              <a:t>Des solutions ciblées pour répondre, organiser ou exécuter des tâches.</a:t>
            </a:r>
            <a:endParaRPr lang="en-US" sz="1800" dirty="0"/>
          </a:p>
        </p:txBody>
      </p:sp>
      <p:sp>
        <p:nvSpPr>
          <p:cNvPr id="10" name="Shape 7"/>
          <p:cNvSpPr/>
          <p:nvPr/>
        </p:nvSpPr>
        <p:spPr>
          <a:xfrm>
            <a:off x="8549640" y="1874520"/>
            <a:ext cx="2788920" cy="621792"/>
          </a:xfrm>
          <a:prstGeom prst="roundRect">
            <a:avLst>
              <a:gd name="adj" fmla="val 14706"/>
            </a:avLst>
          </a:prstGeom>
          <a:solidFill>
            <a:srgbClr val="17171E"/>
          </a:solidFill>
          <a:ln w="12700">
            <a:solidFill>
              <a:srgbClr val="59304D">
                <a:alpha val="0"/>
              </a:srgbClr>
            </a:solidFill>
            <a:prstDash val="solid"/>
          </a:ln>
        </p:spPr>
      </p:sp>
      <p:sp>
        <p:nvSpPr>
          <p:cNvPr id="11" name="Text 8"/>
          <p:cNvSpPr/>
          <p:nvPr/>
        </p:nvSpPr>
        <p:spPr>
          <a:xfrm>
            <a:off x="8732520" y="2039112"/>
            <a:ext cx="2468880" cy="256032"/>
          </a:xfrm>
          <a:prstGeom prst="rect">
            <a:avLst/>
          </a:prstGeom>
          <a:noFill/>
          <a:ln/>
        </p:spPr>
        <p:txBody>
          <a:bodyPr wrap="square" lIns="0" tIns="0" rIns="0" bIns="0" rtlCol="0" anchor="ctr">
            <a:normAutofit/>
          </a:bodyPr>
          <a:lstStyle/>
          <a:p>
            <a:pPr algn="ctr" indent="0" marL="0">
              <a:buNone/>
            </a:pPr>
            <a:r>
              <a:rPr lang="en-US" sz="1500" b="1" dirty="0">
                <a:solidFill>
                  <a:srgbClr val="FB1D91"/>
                </a:solidFill>
                <a:latin typeface="Arial" pitchFamily="34" charset="0"/>
                <a:ea typeface="Arial" pitchFamily="34" charset="-122"/>
                <a:cs typeface="Arial" pitchFamily="34" charset="-120"/>
              </a:rPr>
              <a:t>Projets dès 199 $</a:t>
            </a:r>
            <a:endParaRPr lang="en-US" sz="1500" dirty="0"/>
          </a:p>
        </p:txBody>
      </p:sp>
      <p:sp>
        <p:nvSpPr>
          <p:cNvPr id="12" name="Shape 9"/>
          <p:cNvSpPr/>
          <p:nvPr/>
        </p:nvSpPr>
        <p:spPr>
          <a:xfrm>
            <a:off x="566928" y="3035808"/>
            <a:ext cx="3493008" cy="2212848"/>
          </a:xfrm>
          <a:prstGeom prst="roundRect">
            <a:avLst>
              <a:gd name="adj" fmla="val 4959"/>
            </a:avLst>
          </a:prstGeom>
          <a:solidFill>
            <a:srgbClr val="111116"/>
          </a:solidFill>
          <a:ln w="12700">
            <a:solidFill>
              <a:srgbClr val="302A36">
                <a:alpha val="0"/>
              </a:srgbClr>
            </a:solidFill>
            <a:prstDash val="solid"/>
          </a:ln>
        </p:spPr>
      </p:sp>
      <p:sp>
        <p:nvSpPr>
          <p:cNvPr id="13" name="Text 10"/>
          <p:cNvSpPr/>
          <p:nvPr/>
        </p:nvSpPr>
        <p:spPr>
          <a:xfrm>
            <a:off x="795528" y="3310128"/>
            <a:ext cx="457200" cy="274320"/>
          </a:xfrm>
          <a:prstGeom prst="rect">
            <a:avLst/>
          </a:prstGeom>
          <a:noFill/>
          <a:ln/>
        </p:spPr>
        <p:txBody>
          <a:bodyPr wrap="square" lIns="0" tIns="0" rIns="0" bIns="0" rtlCol="0" anchor="ctr">
            <a:normAutofit/>
          </a:bodyPr>
          <a:lstStyle/>
          <a:p>
            <a:pPr algn="l" indent="0" marL="0">
              <a:buNone/>
            </a:pPr>
            <a:r>
              <a:rPr lang="en-US" sz="1100" b="1" dirty="0">
                <a:solidFill>
                  <a:srgbClr val="FB1D91"/>
                </a:solidFill>
                <a:latin typeface="Arial" pitchFamily="34" charset="0"/>
                <a:ea typeface="Arial" pitchFamily="34" charset="-122"/>
                <a:cs typeface="Arial" pitchFamily="34" charset="-120"/>
              </a:rPr>
              <a:t>01</a:t>
            </a:r>
            <a:endParaRPr lang="en-US" sz="1100" dirty="0"/>
          </a:p>
        </p:txBody>
      </p:sp>
      <p:sp>
        <p:nvSpPr>
          <p:cNvPr id="14" name="Text 11"/>
          <p:cNvSpPr/>
          <p:nvPr/>
        </p:nvSpPr>
        <p:spPr>
          <a:xfrm>
            <a:off x="795528" y="3730752"/>
            <a:ext cx="3017520" cy="274320"/>
          </a:xfrm>
          <a:prstGeom prst="rect">
            <a:avLst/>
          </a:prstGeom>
          <a:noFill/>
          <a:ln/>
        </p:spPr>
        <p:txBody>
          <a:bodyPr wrap="square" lIns="0" tIns="0" rIns="0" bIns="0" rtlCol="0" anchor="ctr">
            <a:normAutofit/>
          </a:bodyPr>
          <a:lstStyle/>
          <a:p>
            <a:pPr algn="l" indent="0" marL="0">
              <a:buNone/>
            </a:pPr>
            <a:r>
              <a:rPr lang="en-US" sz="1200" b="1" dirty="0">
                <a:solidFill>
                  <a:srgbClr val="54E1E6"/>
                </a:solidFill>
                <a:latin typeface="Arial" pitchFamily="34" charset="0"/>
                <a:ea typeface="Arial" pitchFamily="34" charset="-122"/>
                <a:cs typeface="Arial" pitchFamily="34" charset="-120"/>
              </a:rPr>
              <a:t>CHATBOTS</a:t>
            </a:r>
            <a:endParaRPr lang="en-US" sz="1200" dirty="0"/>
          </a:p>
        </p:txBody>
      </p:sp>
      <p:sp>
        <p:nvSpPr>
          <p:cNvPr id="15" name="Text 12"/>
          <p:cNvSpPr/>
          <p:nvPr/>
        </p:nvSpPr>
        <p:spPr>
          <a:xfrm>
            <a:off x="795528" y="4187952"/>
            <a:ext cx="3017520" cy="777240"/>
          </a:xfrm>
          <a:prstGeom prst="rect">
            <a:avLst/>
          </a:prstGeom>
          <a:noFill/>
          <a:ln/>
        </p:spPr>
        <p:txBody>
          <a:bodyPr wrap="square" lIns="0" tIns="0" rIns="0" bIns="0" rtlCol="0" anchor="ctr">
            <a:normAutofit/>
          </a:bodyPr>
          <a:lstStyle/>
          <a:p>
            <a:pPr algn="l" indent="0" marL="0">
              <a:buNone/>
            </a:pPr>
            <a:r>
              <a:rPr lang="en-US" sz="1600" b="1" dirty="0">
                <a:solidFill>
                  <a:srgbClr val="F7F5FA"/>
                </a:solidFill>
                <a:latin typeface="Arial" pitchFamily="34" charset="0"/>
                <a:ea typeface="Arial" pitchFamily="34" charset="-122"/>
                <a:cs typeface="Arial" pitchFamily="34" charset="-120"/>
              </a:rPr>
              <a:t>Questions fréquentes et orientation des demandes.</a:t>
            </a:r>
            <a:endParaRPr lang="en-US" sz="1600" dirty="0"/>
          </a:p>
        </p:txBody>
      </p:sp>
      <p:sp>
        <p:nvSpPr>
          <p:cNvPr id="16" name="Shape 13"/>
          <p:cNvSpPr/>
          <p:nvPr/>
        </p:nvSpPr>
        <p:spPr>
          <a:xfrm>
            <a:off x="4297680" y="3035808"/>
            <a:ext cx="3493008" cy="2212848"/>
          </a:xfrm>
          <a:prstGeom prst="roundRect">
            <a:avLst>
              <a:gd name="adj" fmla="val 4959"/>
            </a:avLst>
          </a:prstGeom>
          <a:solidFill>
            <a:srgbClr val="111116"/>
          </a:solidFill>
          <a:ln w="12700">
            <a:solidFill>
              <a:srgbClr val="302A36">
                <a:alpha val="0"/>
              </a:srgbClr>
            </a:solidFill>
            <a:prstDash val="solid"/>
          </a:ln>
        </p:spPr>
      </p:sp>
      <p:sp>
        <p:nvSpPr>
          <p:cNvPr id="17" name="Text 14"/>
          <p:cNvSpPr/>
          <p:nvPr/>
        </p:nvSpPr>
        <p:spPr>
          <a:xfrm>
            <a:off x="4526280" y="3310128"/>
            <a:ext cx="457200" cy="274320"/>
          </a:xfrm>
          <a:prstGeom prst="rect">
            <a:avLst/>
          </a:prstGeom>
          <a:noFill/>
          <a:ln/>
        </p:spPr>
        <p:txBody>
          <a:bodyPr wrap="square" lIns="0" tIns="0" rIns="0" bIns="0" rtlCol="0" anchor="ctr">
            <a:normAutofit/>
          </a:bodyPr>
          <a:lstStyle/>
          <a:p>
            <a:pPr algn="l" indent="0" marL="0">
              <a:buNone/>
            </a:pPr>
            <a:r>
              <a:rPr lang="en-US" sz="1100" b="1" dirty="0">
                <a:solidFill>
                  <a:srgbClr val="FB1D91"/>
                </a:solidFill>
                <a:latin typeface="Arial" pitchFamily="34" charset="0"/>
                <a:ea typeface="Arial" pitchFamily="34" charset="-122"/>
                <a:cs typeface="Arial" pitchFamily="34" charset="-120"/>
              </a:rPr>
              <a:t>02</a:t>
            </a:r>
            <a:endParaRPr lang="en-US" sz="1100" dirty="0"/>
          </a:p>
        </p:txBody>
      </p:sp>
      <p:sp>
        <p:nvSpPr>
          <p:cNvPr id="18" name="Text 15"/>
          <p:cNvSpPr/>
          <p:nvPr/>
        </p:nvSpPr>
        <p:spPr>
          <a:xfrm>
            <a:off x="4526280" y="3730752"/>
            <a:ext cx="3017520" cy="274320"/>
          </a:xfrm>
          <a:prstGeom prst="rect">
            <a:avLst/>
          </a:prstGeom>
          <a:noFill/>
          <a:ln/>
        </p:spPr>
        <p:txBody>
          <a:bodyPr wrap="square" lIns="0" tIns="0" rIns="0" bIns="0" rtlCol="0" anchor="ctr">
            <a:normAutofit/>
          </a:bodyPr>
          <a:lstStyle/>
          <a:p>
            <a:pPr algn="l" indent="0" marL="0">
              <a:buNone/>
            </a:pPr>
            <a:r>
              <a:rPr lang="en-US" sz="1200" b="1" dirty="0">
                <a:solidFill>
                  <a:srgbClr val="54E1E6"/>
                </a:solidFill>
                <a:latin typeface="Arial" pitchFamily="34" charset="0"/>
                <a:ea typeface="Arial" pitchFamily="34" charset="-122"/>
                <a:cs typeface="Arial" pitchFamily="34" charset="-120"/>
              </a:rPr>
              <a:t>ASSISTANTS VOCAUX</a:t>
            </a:r>
            <a:endParaRPr lang="en-US" sz="1200" dirty="0"/>
          </a:p>
        </p:txBody>
      </p:sp>
      <p:sp>
        <p:nvSpPr>
          <p:cNvPr id="19" name="Text 16"/>
          <p:cNvSpPr/>
          <p:nvPr/>
        </p:nvSpPr>
        <p:spPr>
          <a:xfrm>
            <a:off x="4526280" y="4187952"/>
            <a:ext cx="3017520" cy="777240"/>
          </a:xfrm>
          <a:prstGeom prst="rect">
            <a:avLst/>
          </a:prstGeom>
          <a:noFill/>
          <a:ln/>
        </p:spPr>
        <p:txBody>
          <a:bodyPr wrap="square" lIns="0" tIns="0" rIns="0" bIns="0" rtlCol="0" anchor="ctr">
            <a:normAutofit/>
          </a:bodyPr>
          <a:lstStyle/>
          <a:p>
            <a:pPr algn="l" indent="0" marL="0">
              <a:buNone/>
            </a:pPr>
            <a:r>
              <a:rPr lang="en-US" sz="1600" b="1" dirty="0">
                <a:solidFill>
                  <a:srgbClr val="F7F5FA"/>
                </a:solidFill>
                <a:latin typeface="Arial" pitchFamily="34" charset="0"/>
                <a:ea typeface="Arial" pitchFamily="34" charset="-122"/>
                <a:cs typeface="Arial" pitchFamily="34" charset="-120"/>
              </a:rPr>
              <a:t>Une interaction parlée adaptée à votre service.</a:t>
            </a:r>
            <a:endParaRPr lang="en-US" sz="1600" dirty="0"/>
          </a:p>
        </p:txBody>
      </p:sp>
      <p:sp>
        <p:nvSpPr>
          <p:cNvPr id="20" name="Shape 17"/>
          <p:cNvSpPr/>
          <p:nvPr/>
        </p:nvSpPr>
        <p:spPr>
          <a:xfrm>
            <a:off x="8028432" y="3035808"/>
            <a:ext cx="3493008" cy="2212848"/>
          </a:xfrm>
          <a:prstGeom prst="roundRect">
            <a:avLst>
              <a:gd name="adj" fmla="val 4959"/>
            </a:avLst>
          </a:prstGeom>
          <a:solidFill>
            <a:srgbClr val="111116"/>
          </a:solidFill>
          <a:ln w="12700">
            <a:solidFill>
              <a:srgbClr val="302A36">
                <a:alpha val="0"/>
              </a:srgbClr>
            </a:solidFill>
            <a:prstDash val="solid"/>
          </a:ln>
        </p:spPr>
      </p:sp>
      <p:sp>
        <p:nvSpPr>
          <p:cNvPr id="21" name="Text 18"/>
          <p:cNvSpPr/>
          <p:nvPr/>
        </p:nvSpPr>
        <p:spPr>
          <a:xfrm>
            <a:off x="8257032" y="3310128"/>
            <a:ext cx="457200" cy="274320"/>
          </a:xfrm>
          <a:prstGeom prst="rect">
            <a:avLst/>
          </a:prstGeom>
          <a:noFill/>
          <a:ln/>
        </p:spPr>
        <p:txBody>
          <a:bodyPr wrap="square" lIns="0" tIns="0" rIns="0" bIns="0" rtlCol="0" anchor="ctr">
            <a:normAutofit/>
          </a:bodyPr>
          <a:lstStyle/>
          <a:p>
            <a:pPr algn="l" indent="0" marL="0">
              <a:buNone/>
            </a:pPr>
            <a:r>
              <a:rPr lang="en-US" sz="1100" b="1" dirty="0">
                <a:solidFill>
                  <a:srgbClr val="FB1D91"/>
                </a:solidFill>
                <a:latin typeface="Arial" pitchFamily="34" charset="0"/>
                <a:ea typeface="Arial" pitchFamily="34" charset="-122"/>
                <a:cs typeface="Arial" pitchFamily="34" charset="-120"/>
              </a:rPr>
              <a:t>03</a:t>
            </a:r>
            <a:endParaRPr lang="en-US" sz="1100" dirty="0"/>
          </a:p>
        </p:txBody>
      </p:sp>
      <p:sp>
        <p:nvSpPr>
          <p:cNvPr id="22" name="Text 19"/>
          <p:cNvSpPr/>
          <p:nvPr/>
        </p:nvSpPr>
        <p:spPr>
          <a:xfrm>
            <a:off x="8257032" y="3730752"/>
            <a:ext cx="3017520" cy="274320"/>
          </a:xfrm>
          <a:prstGeom prst="rect">
            <a:avLst/>
          </a:prstGeom>
          <a:noFill/>
          <a:ln/>
        </p:spPr>
        <p:txBody>
          <a:bodyPr wrap="square" lIns="0" tIns="0" rIns="0" bIns="0" rtlCol="0" anchor="ctr">
            <a:normAutofit/>
          </a:bodyPr>
          <a:lstStyle/>
          <a:p>
            <a:pPr algn="l" indent="0" marL="0">
              <a:buNone/>
            </a:pPr>
            <a:r>
              <a:rPr lang="en-US" sz="1200" b="1" dirty="0">
                <a:solidFill>
                  <a:srgbClr val="54E1E6"/>
                </a:solidFill>
                <a:latin typeface="Arial" pitchFamily="34" charset="0"/>
                <a:ea typeface="Arial" pitchFamily="34" charset="-122"/>
                <a:cs typeface="Arial" pitchFamily="34" charset="-120"/>
              </a:rPr>
              <a:t>AUTOMATISATIONS</a:t>
            </a:r>
            <a:endParaRPr lang="en-US" sz="1200" dirty="0"/>
          </a:p>
        </p:txBody>
      </p:sp>
      <p:sp>
        <p:nvSpPr>
          <p:cNvPr id="23" name="Text 20"/>
          <p:cNvSpPr/>
          <p:nvPr/>
        </p:nvSpPr>
        <p:spPr>
          <a:xfrm>
            <a:off x="8257032" y="4187952"/>
            <a:ext cx="3017520" cy="777240"/>
          </a:xfrm>
          <a:prstGeom prst="rect">
            <a:avLst/>
          </a:prstGeom>
          <a:noFill/>
          <a:ln/>
        </p:spPr>
        <p:txBody>
          <a:bodyPr wrap="square" lIns="0" tIns="0" rIns="0" bIns="0" rtlCol="0" anchor="ctr">
            <a:normAutofit/>
          </a:bodyPr>
          <a:lstStyle/>
          <a:p>
            <a:pPr algn="l" indent="0" marL="0">
              <a:buNone/>
            </a:pPr>
            <a:r>
              <a:rPr lang="en-US" sz="1600" b="1" dirty="0">
                <a:solidFill>
                  <a:srgbClr val="F7F5FA"/>
                </a:solidFill>
                <a:latin typeface="Arial" pitchFamily="34" charset="0"/>
                <a:ea typeface="Arial" pitchFamily="34" charset="-122"/>
                <a:cs typeface="Arial" pitchFamily="34" charset="-120"/>
              </a:rPr>
              <a:t>Des tâches répétitives exécutées automatiquement.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80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080B"/>
          </a:solidFill>
          <a:ln w="12700">
            <a:solidFill>
              <a:srgbClr val="08080B">
                <a:alpha val="0"/>
              </a:srgbClr>
            </a:solidFill>
            <a:prstDash val="solid"/>
          </a:ln>
        </p:spPr>
      </p:sp>
      <p:sp>
        <p:nvSpPr>
          <p:cNvPr id="3" name="Text 1"/>
          <p:cNvSpPr/>
          <p:nvPr/>
        </p:nvSpPr>
        <p:spPr>
          <a:xfrm>
            <a:off x="566928" y="347472"/>
            <a:ext cx="10058400" cy="219456"/>
          </a:xfrm>
          <a:prstGeom prst="rect">
            <a:avLst/>
          </a:prstGeom>
          <a:noFill/>
          <a:ln/>
        </p:spPr>
        <p:txBody>
          <a:bodyPr wrap="square" lIns="0" tIns="0" rIns="0" bIns="0" rtlCol="0" anchor="ctr">
            <a:normAutofit/>
          </a:bodyPr>
          <a:lstStyle/>
          <a:p>
            <a:pPr algn="l" indent="0" marL="0">
              <a:buNone/>
            </a:pPr>
            <a:r>
              <a:rPr lang="en-US" sz="1000" b="1" dirty="0">
                <a:solidFill>
                  <a:srgbClr val="54E1E6"/>
                </a:solidFill>
                <a:latin typeface="Arial" pitchFamily="34" charset="0"/>
                <a:ea typeface="Arial" pitchFamily="34" charset="-122"/>
                <a:cs typeface="Arial" pitchFamily="34" charset="-120"/>
              </a:rPr>
              <a:t>QUALITÉ PREMIUM, DU DÉTAIL À L’ENSEMBLE</a:t>
            </a:r>
            <a:endParaRPr lang="en-US" sz="1000" dirty="0"/>
          </a:p>
        </p:txBody>
      </p:sp>
      <p:sp>
        <p:nvSpPr>
          <p:cNvPr id="4" name="Text 2"/>
          <p:cNvSpPr/>
          <p:nvPr/>
        </p:nvSpPr>
        <p:spPr>
          <a:xfrm>
            <a:off x="566928" y="786384"/>
            <a:ext cx="11018520" cy="1097280"/>
          </a:xfrm>
          <a:prstGeom prst="rect">
            <a:avLst/>
          </a:prstGeom>
          <a:noFill/>
          <a:ln/>
        </p:spPr>
        <p:txBody>
          <a:bodyPr wrap="square" lIns="0" tIns="0" rIns="0" bIns="0" rtlCol="0" anchor="ctr">
            <a:normAutofit/>
          </a:bodyPr>
          <a:lstStyle/>
          <a:p>
            <a:pPr algn="l" indent="0" marL="0">
              <a:buNone/>
            </a:pPr>
            <a:r>
              <a:rPr lang="en-US" sz="3500" b="1" dirty="0">
                <a:solidFill>
                  <a:srgbClr val="F7F5FA"/>
                </a:solidFill>
                <a:latin typeface="Arial" pitchFamily="34" charset="0"/>
                <a:ea typeface="Arial" pitchFamily="34" charset="-122"/>
                <a:cs typeface="Arial" pitchFamily="34" charset="-120"/>
              </a:rPr>
              <a:t>Du premier regard au dernier détail.</a:t>
            </a:r>
            <a:endParaRPr lang="en-US" sz="3500" dirty="0"/>
          </a:p>
        </p:txBody>
      </p:sp>
      <p:sp>
        <p:nvSpPr>
          <p:cNvPr id="5" name="Shape 3"/>
          <p:cNvSpPr/>
          <p:nvPr/>
        </p:nvSpPr>
        <p:spPr>
          <a:xfrm>
            <a:off x="566928" y="6492240"/>
            <a:ext cx="11018520" cy="10973"/>
          </a:xfrm>
          <a:prstGeom prst="rect">
            <a:avLst/>
          </a:prstGeom>
          <a:solidFill>
            <a:srgbClr val="302A36"/>
          </a:solidFill>
          <a:ln w="12700">
            <a:solidFill>
              <a:srgbClr val="302A36">
                <a:alpha val="0"/>
              </a:srgbClr>
            </a:solidFill>
            <a:prstDash val="solid"/>
          </a:ln>
        </p:spPr>
      </p:sp>
      <p:sp>
        <p:nvSpPr>
          <p:cNvPr id="6" name="Text 4"/>
          <p:cNvSpPr/>
          <p:nvPr/>
        </p:nvSpPr>
        <p:spPr>
          <a:xfrm>
            <a:off x="566928" y="6583680"/>
            <a:ext cx="7315200" cy="164592"/>
          </a:xfrm>
          <a:prstGeom prst="rect">
            <a:avLst/>
          </a:prstGeom>
          <a:noFill/>
          <a:ln/>
        </p:spPr>
        <p:txBody>
          <a:bodyPr wrap="square" lIns="0" tIns="0" rIns="0" bIns="0" rtlCol="0" anchor="ctr">
            <a:normAutofit/>
          </a:bodyPr>
          <a:lstStyle/>
          <a:p>
            <a:pPr algn="l" indent="0" marL="0">
              <a:buNone/>
            </a:pPr>
            <a:r>
              <a:rPr lang="en-US" sz="800" dirty="0">
                <a:solidFill>
                  <a:srgbClr val="898392"/>
                </a:solidFill>
                <a:latin typeface="Arial" pitchFamily="34" charset="0"/>
                <a:ea typeface="Arial" pitchFamily="34" charset="-122"/>
                <a:cs typeface="Arial" pitchFamily="34" charset="-120"/>
              </a:rPr>
              <a:t>KMD WEB  /  SITES · DESIGN · IA</a:t>
            </a:r>
            <a:endParaRPr lang="en-US" sz="800" dirty="0"/>
          </a:p>
        </p:txBody>
      </p:sp>
      <p:sp>
        <p:nvSpPr>
          <p:cNvPr id="7" name="Text 5"/>
          <p:cNvSpPr/>
          <p:nvPr/>
        </p:nvSpPr>
        <p:spPr>
          <a:xfrm>
            <a:off x="10954512" y="6565392"/>
            <a:ext cx="640080" cy="164592"/>
          </a:xfrm>
          <a:prstGeom prst="rect">
            <a:avLst/>
          </a:prstGeom>
          <a:noFill/>
          <a:ln/>
        </p:spPr>
        <p:txBody>
          <a:bodyPr wrap="square" lIns="0" tIns="0" rIns="0" bIns="0" rtlCol="0" anchor="ctr">
            <a:normAutofit/>
          </a:bodyPr>
          <a:lstStyle/>
          <a:p>
            <a:pPr algn="r" indent="0" marL="0">
              <a:buNone/>
            </a:pPr>
            <a:r>
              <a:rPr lang="en-US" sz="900" dirty="0">
                <a:solidFill>
                  <a:srgbClr val="898392"/>
                </a:solidFill>
                <a:latin typeface="Arial" pitchFamily="34" charset="0"/>
                <a:ea typeface="Arial" pitchFamily="34" charset="-122"/>
                <a:cs typeface="Arial" pitchFamily="34" charset="-120"/>
              </a:rPr>
              <a:t>07</a:t>
            </a:r>
            <a:endParaRPr lang="en-US" sz="900" dirty="0"/>
          </a:p>
        </p:txBody>
      </p:sp>
      <p:sp>
        <p:nvSpPr>
          <p:cNvPr id="9" name="Text 6"/>
          <p:cNvSpPr/>
          <p:nvPr/>
        </p:nvSpPr>
        <p:spPr>
          <a:xfrm>
            <a:off x="566928" y="1874520"/>
            <a:ext cx="9326880" cy="777240"/>
          </a:xfrm>
          <a:prstGeom prst="rect">
            <a:avLst/>
          </a:prstGeom>
          <a:noFill/>
          <a:ln/>
        </p:spPr>
        <p:txBody>
          <a:bodyPr wrap="square" lIns="0" tIns="0" rIns="0" bIns="0" rtlCol="0" anchor="ctr">
            <a:normAutofit/>
          </a:bodyPr>
          <a:lstStyle/>
          <a:p>
            <a:pPr algn="l" indent="0" marL="0">
              <a:buNone/>
            </a:pPr>
            <a:r>
              <a:rPr lang="en-US" sz="1900" dirty="0">
                <a:solidFill>
                  <a:srgbClr val="B6B1BF"/>
                </a:solidFill>
                <a:latin typeface="Arial" pitchFamily="34" charset="0"/>
                <a:ea typeface="Arial" pitchFamily="34" charset="-122"/>
                <a:cs typeface="Arial" pitchFamily="34" charset="-120"/>
              </a:rPr>
              <a:t>Le design, le contenu et les interactions travaillent ensemble pour créer une expérience claire, fluide et fidèle à votre marque.</a:t>
            </a:r>
            <a:endParaRPr lang="en-US" sz="1900" dirty="0"/>
          </a:p>
        </p:txBody>
      </p:sp>
      <p:sp>
        <p:nvSpPr>
          <p:cNvPr id="10" name="Shape 7"/>
          <p:cNvSpPr/>
          <p:nvPr/>
        </p:nvSpPr>
        <p:spPr>
          <a:xfrm>
            <a:off x="566928" y="3246120"/>
            <a:ext cx="5303520" cy="804672"/>
          </a:xfrm>
          <a:prstGeom prst="roundRect">
            <a:avLst>
              <a:gd name="adj" fmla="val 10227"/>
            </a:avLst>
          </a:prstGeom>
          <a:solidFill>
            <a:srgbClr val="111116"/>
          </a:solidFill>
          <a:ln w="12700">
            <a:solidFill>
              <a:srgbClr val="302A36">
                <a:alpha val="0"/>
              </a:srgbClr>
            </a:solidFill>
            <a:prstDash val="solid"/>
          </a:ln>
        </p:spPr>
      </p:sp>
      <p:sp>
        <p:nvSpPr>
          <p:cNvPr id="11" name="Text 8"/>
          <p:cNvSpPr/>
          <p:nvPr/>
        </p:nvSpPr>
        <p:spPr>
          <a:xfrm>
            <a:off x="768096" y="3392424"/>
            <a:ext cx="1417320" cy="228600"/>
          </a:xfrm>
          <a:prstGeom prst="rect">
            <a:avLst/>
          </a:prstGeom>
          <a:noFill/>
          <a:ln/>
        </p:spPr>
        <p:txBody>
          <a:bodyPr wrap="square" lIns="0" tIns="0" rIns="0" bIns="0" rtlCol="0" anchor="ctr">
            <a:normAutofit/>
          </a:bodyPr>
          <a:lstStyle/>
          <a:p>
            <a:pPr algn="l" indent="0" marL="0">
              <a:buNone/>
            </a:pPr>
            <a:r>
              <a:rPr lang="en-US" sz="1000" b="1" dirty="0">
                <a:solidFill>
                  <a:srgbClr val="FB1D91"/>
                </a:solidFill>
                <a:latin typeface="Arial" pitchFamily="34" charset="0"/>
                <a:ea typeface="Arial" pitchFamily="34" charset="-122"/>
                <a:cs typeface="Arial" pitchFamily="34" charset="-120"/>
              </a:rPr>
              <a:t>SUR MESURE</a:t>
            </a:r>
            <a:endParaRPr lang="en-US" sz="1000" dirty="0"/>
          </a:p>
        </p:txBody>
      </p:sp>
      <p:sp>
        <p:nvSpPr>
          <p:cNvPr id="12" name="Text 9"/>
          <p:cNvSpPr/>
          <p:nvPr/>
        </p:nvSpPr>
        <p:spPr>
          <a:xfrm>
            <a:off x="2258568" y="3364992"/>
            <a:ext cx="3337560" cy="310896"/>
          </a:xfrm>
          <a:prstGeom prst="rect">
            <a:avLst/>
          </a:prstGeom>
          <a:noFill/>
          <a:ln/>
        </p:spPr>
        <p:txBody>
          <a:bodyPr wrap="square" lIns="0" tIns="0" rIns="0" bIns="0" rtlCol="0" anchor="ctr">
            <a:normAutofit/>
          </a:bodyPr>
          <a:lstStyle/>
          <a:p>
            <a:pPr algn="l" indent="0" marL="0">
              <a:buNone/>
            </a:pPr>
            <a:r>
              <a:rPr lang="en-US" sz="1600" b="1" dirty="0">
                <a:solidFill>
                  <a:srgbClr val="F7F5FA"/>
                </a:solidFill>
                <a:latin typeface="Arial" pitchFamily="34" charset="0"/>
                <a:ea typeface="Arial" pitchFamily="34" charset="-122"/>
                <a:cs typeface="Arial" pitchFamily="34" charset="-120"/>
              </a:rPr>
              <a:t>Direction visuelle unique</a:t>
            </a:r>
            <a:endParaRPr lang="en-US" sz="1600" dirty="0"/>
          </a:p>
        </p:txBody>
      </p:sp>
      <p:sp>
        <p:nvSpPr>
          <p:cNvPr id="13" name="Shape 10"/>
          <p:cNvSpPr/>
          <p:nvPr/>
        </p:nvSpPr>
        <p:spPr>
          <a:xfrm>
            <a:off x="6163056" y="3246120"/>
            <a:ext cx="5303520" cy="804672"/>
          </a:xfrm>
          <a:prstGeom prst="roundRect">
            <a:avLst>
              <a:gd name="adj" fmla="val 10227"/>
            </a:avLst>
          </a:prstGeom>
          <a:solidFill>
            <a:srgbClr val="111116"/>
          </a:solidFill>
          <a:ln w="12700">
            <a:solidFill>
              <a:srgbClr val="302A36">
                <a:alpha val="0"/>
              </a:srgbClr>
            </a:solidFill>
            <a:prstDash val="solid"/>
          </a:ln>
        </p:spPr>
      </p:sp>
      <p:sp>
        <p:nvSpPr>
          <p:cNvPr id="14" name="Text 11"/>
          <p:cNvSpPr/>
          <p:nvPr/>
        </p:nvSpPr>
        <p:spPr>
          <a:xfrm>
            <a:off x="6364224" y="3392424"/>
            <a:ext cx="1417320" cy="228600"/>
          </a:xfrm>
          <a:prstGeom prst="rect">
            <a:avLst/>
          </a:prstGeom>
          <a:noFill/>
          <a:ln/>
        </p:spPr>
        <p:txBody>
          <a:bodyPr wrap="square" lIns="0" tIns="0" rIns="0" bIns="0" rtlCol="0" anchor="ctr">
            <a:normAutofit/>
          </a:bodyPr>
          <a:lstStyle/>
          <a:p>
            <a:pPr algn="l" indent="0" marL="0">
              <a:buNone/>
            </a:pPr>
            <a:r>
              <a:rPr lang="en-US" sz="1000" b="1" dirty="0">
                <a:solidFill>
                  <a:srgbClr val="54E1E6"/>
                </a:solidFill>
                <a:latin typeface="Arial" pitchFamily="34" charset="0"/>
                <a:ea typeface="Arial" pitchFamily="34" charset="-122"/>
                <a:cs typeface="Arial" pitchFamily="34" charset="-120"/>
              </a:rPr>
              <a:t>FLUIDE</a:t>
            </a:r>
            <a:endParaRPr lang="en-US" sz="1000" dirty="0"/>
          </a:p>
        </p:txBody>
      </p:sp>
      <p:sp>
        <p:nvSpPr>
          <p:cNvPr id="15" name="Text 12"/>
          <p:cNvSpPr/>
          <p:nvPr/>
        </p:nvSpPr>
        <p:spPr>
          <a:xfrm>
            <a:off x="7854696" y="3364992"/>
            <a:ext cx="3337560" cy="310896"/>
          </a:xfrm>
          <a:prstGeom prst="rect">
            <a:avLst/>
          </a:prstGeom>
          <a:noFill/>
          <a:ln/>
        </p:spPr>
        <p:txBody>
          <a:bodyPr wrap="square" lIns="0" tIns="0" rIns="0" bIns="0" rtlCol="0" anchor="ctr">
            <a:normAutofit/>
          </a:bodyPr>
          <a:lstStyle/>
          <a:p>
            <a:pPr algn="l" indent="0" marL="0">
              <a:buNone/>
            </a:pPr>
            <a:r>
              <a:rPr lang="en-US" sz="1600" b="1" dirty="0">
                <a:solidFill>
                  <a:srgbClr val="F7F5FA"/>
                </a:solidFill>
                <a:latin typeface="Arial" pitchFamily="34" charset="0"/>
                <a:ea typeface="Arial" pitchFamily="34" charset="-122"/>
                <a:cs typeface="Arial" pitchFamily="34" charset="-120"/>
              </a:rPr>
              <a:t>Mouvement maîtrisé</a:t>
            </a:r>
            <a:endParaRPr lang="en-US" sz="1600" dirty="0"/>
          </a:p>
        </p:txBody>
      </p:sp>
      <p:sp>
        <p:nvSpPr>
          <p:cNvPr id="16" name="Shape 13"/>
          <p:cNvSpPr/>
          <p:nvPr/>
        </p:nvSpPr>
        <p:spPr>
          <a:xfrm>
            <a:off x="566928" y="4325112"/>
            <a:ext cx="5303520" cy="804672"/>
          </a:xfrm>
          <a:prstGeom prst="roundRect">
            <a:avLst>
              <a:gd name="adj" fmla="val 10227"/>
            </a:avLst>
          </a:prstGeom>
          <a:solidFill>
            <a:srgbClr val="111116"/>
          </a:solidFill>
          <a:ln w="12700">
            <a:solidFill>
              <a:srgbClr val="302A36">
                <a:alpha val="0"/>
              </a:srgbClr>
            </a:solidFill>
            <a:prstDash val="solid"/>
          </a:ln>
        </p:spPr>
      </p:sp>
      <p:sp>
        <p:nvSpPr>
          <p:cNvPr id="17" name="Text 14"/>
          <p:cNvSpPr/>
          <p:nvPr/>
        </p:nvSpPr>
        <p:spPr>
          <a:xfrm>
            <a:off x="768096" y="4471416"/>
            <a:ext cx="1417320" cy="228600"/>
          </a:xfrm>
          <a:prstGeom prst="rect">
            <a:avLst/>
          </a:prstGeom>
          <a:noFill/>
          <a:ln/>
        </p:spPr>
        <p:txBody>
          <a:bodyPr wrap="square" lIns="0" tIns="0" rIns="0" bIns="0" rtlCol="0" anchor="ctr">
            <a:normAutofit/>
          </a:bodyPr>
          <a:lstStyle/>
          <a:p>
            <a:pPr algn="l" indent="0" marL="0">
              <a:buNone/>
            </a:pPr>
            <a:r>
              <a:rPr lang="en-US" sz="1000" b="1" dirty="0">
                <a:solidFill>
                  <a:srgbClr val="FB1D91"/>
                </a:solidFill>
                <a:latin typeface="Arial" pitchFamily="34" charset="0"/>
                <a:ea typeface="Arial" pitchFamily="34" charset="-122"/>
                <a:cs typeface="Arial" pitchFamily="34" charset="-120"/>
              </a:rPr>
              <a:t>RESPONSIVE</a:t>
            </a:r>
            <a:endParaRPr lang="en-US" sz="1000" dirty="0"/>
          </a:p>
        </p:txBody>
      </p:sp>
      <p:sp>
        <p:nvSpPr>
          <p:cNvPr id="18" name="Text 15"/>
          <p:cNvSpPr/>
          <p:nvPr/>
        </p:nvSpPr>
        <p:spPr>
          <a:xfrm>
            <a:off x="2258568" y="4443984"/>
            <a:ext cx="3337560" cy="310896"/>
          </a:xfrm>
          <a:prstGeom prst="rect">
            <a:avLst/>
          </a:prstGeom>
          <a:noFill/>
          <a:ln/>
        </p:spPr>
        <p:txBody>
          <a:bodyPr wrap="square" lIns="0" tIns="0" rIns="0" bIns="0" rtlCol="0" anchor="ctr">
            <a:normAutofit/>
          </a:bodyPr>
          <a:lstStyle/>
          <a:p>
            <a:pPr algn="l" indent="0" marL="0">
              <a:buNone/>
            </a:pPr>
            <a:r>
              <a:rPr lang="en-US" sz="1600" b="1" dirty="0">
                <a:solidFill>
                  <a:srgbClr val="F7F5FA"/>
                </a:solidFill>
                <a:latin typeface="Arial" pitchFamily="34" charset="0"/>
                <a:ea typeface="Arial" pitchFamily="34" charset="-122"/>
                <a:cs typeface="Arial" pitchFamily="34" charset="-120"/>
              </a:rPr>
              <a:t>Mobile au bureau</a:t>
            </a:r>
            <a:endParaRPr lang="en-US" sz="1600" dirty="0"/>
          </a:p>
        </p:txBody>
      </p:sp>
      <p:sp>
        <p:nvSpPr>
          <p:cNvPr id="19" name="Shape 16"/>
          <p:cNvSpPr/>
          <p:nvPr/>
        </p:nvSpPr>
        <p:spPr>
          <a:xfrm>
            <a:off x="6163056" y="4325112"/>
            <a:ext cx="5303520" cy="804672"/>
          </a:xfrm>
          <a:prstGeom prst="roundRect">
            <a:avLst>
              <a:gd name="adj" fmla="val 10227"/>
            </a:avLst>
          </a:prstGeom>
          <a:solidFill>
            <a:srgbClr val="111116"/>
          </a:solidFill>
          <a:ln w="12700">
            <a:solidFill>
              <a:srgbClr val="302A36">
                <a:alpha val="0"/>
              </a:srgbClr>
            </a:solidFill>
            <a:prstDash val="solid"/>
          </a:ln>
        </p:spPr>
      </p:sp>
      <p:sp>
        <p:nvSpPr>
          <p:cNvPr id="20" name="Text 17"/>
          <p:cNvSpPr/>
          <p:nvPr/>
        </p:nvSpPr>
        <p:spPr>
          <a:xfrm>
            <a:off x="6364224" y="4471416"/>
            <a:ext cx="1417320" cy="228600"/>
          </a:xfrm>
          <a:prstGeom prst="rect">
            <a:avLst/>
          </a:prstGeom>
          <a:noFill/>
          <a:ln/>
        </p:spPr>
        <p:txBody>
          <a:bodyPr wrap="square" lIns="0" tIns="0" rIns="0" bIns="0" rtlCol="0" anchor="ctr">
            <a:normAutofit/>
          </a:bodyPr>
          <a:lstStyle/>
          <a:p>
            <a:pPr algn="l" indent="0" marL="0">
              <a:buNone/>
            </a:pPr>
            <a:r>
              <a:rPr lang="en-US" sz="1000" b="1" dirty="0">
                <a:solidFill>
                  <a:srgbClr val="54E1E6"/>
                </a:solidFill>
                <a:latin typeface="Arial" pitchFamily="34" charset="0"/>
                <a:ea typeface="Arial" pitchFamily="34" charset="-122"/>
                <a:cs typeface="Arial" pitchFamily="34" charset="-120"/>
              </a:rPr>
              <a:t>SOIGNÉ</a:t>
            </a:r>
            <a:endParaRPr lang="en-US" sz="1000" dirty="0"/>
          </a:p>
        </p:txBody>
      </p:sp>
      <p:sp>
        <p:nvSpPr>
          <p:cNvPr id="21" name="Text 18"/>
          <p:cNvSpPr/>
          <p:nvPr/>
        </p:nvSpPr>
        <p:spPr>
          <a:xfrm>
            <a:off x="7854696" y="4443984"/>
            <a:ext cx="3337560" cy="310896"/>
          </a:xfrm>
          <a:prstGeom prst="rect">
            <a:avLst/>
          </a:prstGeom>
          <a:noFill/>
          <a:ln/>
        </p:spPr>
        <p:txBody>
          <a:bodyPr wrap="square" lIns="0" tIns="0" rIns="0" bIns="0" rtlCol="0" anchor="ctr">
            <a:normAutofit/>
          </a:bodyPr>
          <a:lstStyle/>
          <a:p>
            <a:pPr algn="l" indent="0" marL="0">
              <a:buNone/>
            </a:pPr>
            <a:r>
              <a:rPr lang="en-US" sz="1600" b="1" dirty="0">
                <a:solidFill>
                  <a:srgbClr val="F7F5FA"/>
                </a:solidFill>
                <a:latin typeface="Arial" pitchFamily="34" charset="0"/>
                <a:ea typeface="Arial" pitchFamily="34" charset="-122"/>
                <a:cs typeface="Arial" pitchFamily="34" charset="-120"/>
              </a:rPr>
              <a:t>Finitions premium</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80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080B"/>
          </a:solidFill>
          <a:ln w="12700">
            <a:solidFill>
              <a:srgbClr val="08080B">
                <a:alpha val="0"/>
              </a:srgbClr>
            </a:solidFill>
            <a:prstDash val="solid"/>
          </a:ln>
        </p:spPr>
      </p:sp>
      <p:sp>
        <p:nvSpPr>
          <p:cNvPr id="3" name="Text 1"/>
          <p:cNvSpPr/>
          <p:nvPr/>
        </p:nvSpPr>
        <p:spPr>
          <a:xfrm>
            <a:off x="566928" y="347472"/>
            <a:ext cx="10058400" cy="219456"/>
          </a:xfrm>
          <a:prstGeom prst="rect">
            <a:avLst/>
          </a:prstGeom>
          <a:noFill/>
          <a:ln/>
        </p:spPr>
        <p:txBody>
          <a:bodyPr wrap="square" lIns="0" tIns="0" rIns="0" bIns="0" rtlCol="0" anchor="ctr">
            <a:normAutofit/>
          </a:bodyPr>
          <a:lstStyle/>
          <a:p>
            <a:pPr algn="l" indent="0" marL="0">
              <a:buNone/>
            </a:pPr>
            <a:r>
              <a:rPr lang="en-US" sz="1000" b="1" dirty="0">
                <a:solidFill>
                  <a:srgbClr val="54E1E6"/>
                </a:solidFill>
                <a:latin typeface="Arial" pitchFamily="34" charset="0"/>
                <a:ea typeface="Arial" pitchFamily="34" charset="-122"/>
                <a:cs typeface="Arial" pitchFamily="34" charset="-120"/>
              </a:rPr>
              <a:t>DE L’IDÉE À LA MISE EN LIGNE</a:t>
            </a:r>
            <a:endParaRPr lang="en-US" sz="1000" dirty="0"/>
          </a:p>
        </p:txBody>
      </p:sp>
      <p:sp>
        <p:nvSpPr>
          <p:cNvPr id="4" name="Text 2"/>
          <p:cNvSpPr/>
          <p:nvPr/>
        </p:nvSpPr>
        <p:spPr>
          <a:xfrm>
            <a:off x="566928" y="786384"/>
            <a:ext cx="11018520" cy="1097280"/>
          </a:xfrm>
          <a:prstGeom prst="rect">
            <a:avLst/>
          </a:prstGeom>
          <a:noFill/>
          <a:ln/>
        </p:spPr>
        <p:txBody>
          <a:bodyPr wrap="square" lIns="0" tIns="0" rIns="0" bIns="0" rtlCol="0" anchor="ctr">
            <a:normAutofit/>
          </a:bodyPr>
          <a:lstStyle/>
          <a:p>
            <a:pPr algn="l" indent="0" marL="0">
              <a:buNone/>
            </a:pPr>
            <a:r>
              <a:rPr lang="en-US" sz="3500" b="1" dirty="0">
                <a:solidFill>
                  <a:srgbClr val="F7F5FA"/>
                </a:solidFill>
                <a:latin typeface="Arial" pitchFamily="34" charset="0"/>
                <a:ea typeface="Arial" pitchFamily="34" charset="-122"/>
                <a:cs typeface="Arial" pitchFamily="34" charset="-120"/>
              </a:rPr>
              <a:t>Vous savez toujours où le projet s’en va.</a:t>
            </a:r>
            <a:endParaRPr lang="en-US" sz="3500" dirty="0"/>
          </a:p>
        </p:txBody>
      </p:sp>
      <p:sp>
        <p:nvSpPr>
          <p:cNvPr id="5" name="Shape 3"/>
          <p:cNvSpPr/>
          <p:nvPr/>
        </p:nvSpPr>
        <p:spPr>
          <a:xfrm>
            <a:off x="566928" y="6492240"/>
            <a:ext cx="11018520" cy="10973"/>
          </a:xfrm>
          <a:prstGeom prst="rect">
            <a:avLst/>
          </a:prstGeom>
          <a:solidFill>
            <a:srgbClr val="302A36"/>
          </a:solidFill>
          <a:ln w="12700">
            <a:solidFill>
              <a:srgbClr val="302A36">
                <a:alpha val="0"/>
              </a:srgbClr>
            </a:solidFill>
            <a:prstDash val="solid"/>
          </a:ln>
        </p:spPr>
      </p:sp>
      <p:sp>
        <p:nvSpPr>
          <p:cNvPr id="6" name="Text 4"/>
          <p:cNvSpPr/>
          <p:nvPr/>
        </p:nvSpPr>
        <p:spPr>
          <a:xfrm>
            <a:off x="566928" y="6583680"/>
            <a:ext cx="7315200" cy="164592"/>
          </a:xfrm>
          <a:prstGeom prst="rect">
            <a:avLst/>
          </a:prstGeom>
          <a:noFill/>
          <a:ln/>
        </p:spPr>
        <p:txBody>
          <a:bodyPr wrap="square" lIns="0" tIns="0" rIns="0" bIns="0" rtlCol="0" anchor="ctr">
            <a:normAutofit/>
          </a:bodyPr>
          <a:lstStyle/>
          <a:p>
            <a:pPr algn="l" indent="0" marL="0">
              <a:buNone/>
            </a:pPr>
            <a:r>
              <a:rPr lang="en-US" sz="800" dirty="0">
                <a:solidFill>
                  <a:srgbClr val="898392"/>
                </a:solidFill>
                <a:latin typeface="Arial" pitchFamily="34" charset="0"/>
                <a:ea typeface="Arial" pitchFamily="34" charset="-122"/>
                <a:cs typeface="Arial" pitchFamily="34" charset="-120"/>
              </a:rPr>
              <a:t>KMD WEB  /  SITES · DESIGN · IA</a:t>
            </a:r>
            <a:endParaRPr lang="en-US" sz="800" dirty="0"/>
          </a:p>
        </p:txBody>
      </p:sp>
      <p:sp>
        <p:nvSpPr>
          <p:cNvPr id="7" name="Text 5"/>
          <p:cNvSpPr/>
          <p:nvPr/>
        </p:nvSpPr>
        <p:spPr>
          <a:xfrm>
            <a:off x="10954512" y="6565392"/>
            <a:ext cx="640080" cy="164592"/>
          </a:xfrm>
          <a:prstGeom prst="rect">
            <a:avLst/>
          </a:prstGeom>
          <a:noFill/>
          <a:ln/>
        </p:spPr>
        <p:txBody>
          <a:bodyPr wrap="square" lIns="0" tIns="0" rIns="0" bIns="0" rtlCol="0" anchor="ctr">
            <a:normAutofit/>
          </a:bodyPr>
          <a:lstStyle/>
          <a:p>
            <a:pPr algn="r" indent="0" marL="0">
              <a:buNone/>
            </a:pPr>
            <a:r>
              <a:rPr lang="en-US" sz="900" dirty="0">
                <a:solidFill>
                  <a:srgbClr val="898392"/>
                </a:solidFill>
                <a:latin typeface="Arial" pitchFamily="34" charset="0"/>
                <a:ea typeface="Arial" pitchFamily="34" charset="-122"/>
                <a:cs typeface="Arial" pitchFamily="34" charset="-120"/>
              </a:rPr>
              <a:t>08</a:t>
            </a:r>
            <a:endParaRPr lang="en-US" sz="900" dirty="0"/>
          </a:p>
        </p:txBody>
      </p:sp>
      <p:sp>
        <p:nvSpPr>
          <p:cNvPr id="9" name="Shape 6"/>
          <p:cNvSpPr/>
          <p:nvPr/>
        </p:nvSpPr>
        <p:spPr>
          <a:xfrm>
            <a:off x="566928" y="2221992"/>
            <a:ext cx="502920" cy="502920"/>
          </a:xfrm>
          <a:prstGeom prst="ellipse">
            <a:avLst/>
          </a:prstGeom>
          <a:solidFill>
            <a:srgbClr val="FB1D91"/>
          </a:solidFill>
          <a:ln w="12700">
            <a:solidFill>
              <a:srgbClr val="FB1D91">
                <a:alpha val="0"/>
              </a:srgbClr>
            </a:solidFill>
            <a:prstDash val="solid"/>
          </a:ln>
        </p:spPr>
      </p:sp>
      <p:sp>
        <p:nvSpPr>
          <p:cNvPr id="10" name="Text 7"/>
          <p:cNvSpPr/>
          <p:nvPr/>
        </p:nvSpPr>
        <p:spPr>
          <a:xfrm>
            <a:off x="566928" y="2350008"/>
            <a:ext cx="502920" cy="182880"/>
          </a:xfrm>
          <a:prstGeom prst="rect">
            <a:avLst/>
          </a:prstGeom>
          <a:noFill/>
          <a:ln/>
        </p:spPr>
        <p:txBody>
          <a:bodyPr wrap="square" lIns="0" tIns="0" rIns="0" bIns="0" rtlCol="0" anchor="ctr">
            <a:normAutofit/>
          </a:bodyPr>
          <a:lstStyle/>
          <a:p>
            <a:pPr algn="ctr" indent="0" marL="0">
              <a:buNone/>
            </a:pPr>
            <a:r>
              <a:rPr lang="en-US" sz="1100" b="1" dirty="0">
                <a:solidFill>
                  <a:srgbClr val="F7F5FA"/>
                </a:solidFill>
                <a:latin typeface="Arial" pitchFamily="34" charset="0"/>
                <a:ea typeface="Arial" pitchFamily="34" charset="-122"/>
                <a:cs typeface="Arial" pitchFamily="34" charset="-120"/>
              </a:rPr>
              <a:t>01</a:t>
            </a:r>
            <a:endParaRPr lang="en-US" sz="1100" dirty="0"/>
          </a:p>
        </p:txBody>
      </p:sp>
      <p:sp>
        <p:nvSpPr>
          <p:cNvPr id="11" name="Text 8"/>
          <p:cNvSpPr/>
          <p:nvPr/>
        </p:nvSpPr>
        <p:spPr>
          <a:xfrm>
            <a:off x="566928" y="2999232"/>
            <a:ext cx="2468880" cy="320040"/>
          </a:xfrm>
          <a:prstGeom prst="rect">
            <a:avLst/>
          </a:prstGeom>
          <a:noFill/>
          <a:ln/>
        </p:spPr>
        <p:txBody>
          <a:bodyPr wrap="square" lIns="0" tIns="0" rIns="0" bIns="0" rtlCol="0" anchor="ctr">
            <a:normAutofit/>
          </a:bodyPr>
          <a:lstStyle/>
          <a:p>
            <a:pPr algn="l" indent="0" marL="0">
              <a:buNone/>
            </a:pPr>
            <a:r>
              <a:rPr lang="en-US" sz="1900" b="1" dirty="0">
                <a:solidFill>
                  <a:srgbClr val="F7F5FA"/>
                </a:solidFill>
                <a:latin typeface="Arial" pitchFamily="34" charset="0"/>
                <a:ea typeface="Arial" pitchFamily="34" charset="-122"/>
                <a:cs typeface="Arial" pitchFamily="34" charset="-120"/>
              </a:rPr>
              <a:t>Diagnostic</a:t>
            </a:r>
            <a:endParaRPr lang="en-US" sz="1900" dirty="0"/>
          </a:p>
        </p:txBody>
      </p:sp>
      <p:sp>
        <p:nvSpPr>
          <p:cNvPr id="12" name="Text 9"/>
          <p:cNvSpPr/>
          <p:nvPr/>
        </p:nvSpPr>
        <p:spPr>
          <a:xfrm>
            <a:off x="566928" y="3566160"/>
            <a:ext cx="2423160" cy="1051560"/>
          </a:xfrm>
          <a:prstGeom prst="rect">
            <a:avLst/>
          </a:prstGeom>
          <a:noFill/>
          <a:ln/>
        </p:spPr>
        <p:txBody>
          <a:bodyPr wrap="square" lIns="0" tIns="0" rIns="0" bIns="0" rtlCol="0" anchor="ctr">
            <a:normAutofit/>
          </a:bodyPr>
          <a:lstStyle/>
          <a:p>
            <a:pPr algn="l" indent="0" marL="0">
              <a:buNone/>
            </a:pPr>
            <a:r>
              <a:rPr lang="en-US" sz="1400" dirty="0">
                <a:solidFill>
                  <a:srgbClr val="B6B1BF"/>
                </a:solidFill>
                <a:latin typeface="Arial" pitchFamily="34" charset="0"/>
                <a:ea typeface="Arial" pitchFamily="34" charset="-122"/>
                <a:cs typeface="Arial" pitchFamily="34" charset="-120"/>
              </a:rPr>
              <a:t>On clarifie vos objectifs, vos clients et vos priorités.</a:t>
            </a:r>
            <a:endParaRPr lang="en-US" sz="1400" dirty="0"/>
          </a:p>
        </p:txBody>
      </p:sp>
      <p:sp>
        <p:nvSpPr>
          <p:cNvPr id="13" name="Shape 10"/>
          <p:cNvSpPr/>
          <p:nvPr/>
        </p:nvSpPr>
        <p:spPr>
          <a:xfrm>
            <a:off x="2212848" y="2459736"/>
            <a:ext cx="914400" cy="16459"/>
          </a:xfrm>
          <a:prstGeom prst="rect">
            <a:avLst/>
          </a:prstGeom>
          <a:solidFill>
            <a:srgbClr val="302A36"/>
          </a:solidFill>
          <a:ln w="12700">
            <a:solidFill>
              <a:srgbClr val="302A36">
                <a:alpha val="0"/>
              </a:srgbClr>
            </a:solidFill>
            <a:prstDash val="solid"/>
          </a:ln>
        </p:spPr>
      </p:sp>
      <p:sp>
        <p:nvSpPr>
          <p:cNvPr id="14" name="Shape 11"/>
          <p:cNvSpPr/>
          <p:nvPr/>
        </p:nvSpPr>
        <p:spPr>
          <a:xfrm>
            <a:off x="3364992" y="2221992"/>
            <a:ext cx="502920" cy="502920"/>
          </a:xfrm>
          <a:prstGeom prst="ellipse">
            <a:avLst/>
          </a:prstGeom>
          <a:solidFill>
            <a:srgbClr val="FB1D91"/>
          </a:solidFill>
          <a:ln w="12700">
            <a:solidFill>
              <a:srgbClr val="FB1D91">
                <a:alpha val="0"/>
              </a:srgbClr>
            </a:solidFill>
            <a:prstDash val="solid"/>
          </a:ln>
        </p:spPr>
      </p:sp>
      <p:sp>
        <p:nvSpPr>
          <p:cNvPr id="15" name="Text 12"/>
          <p:cNvSpPr/>
          <p:nvPr/>
        </p:nvSpPr>
        <p:spPr>
          <a:xfrm>
            <a:off x="3364992" y="2350008"/>
            <a:ext cx="502920" cy="182880"/>
          </a:xfrm>
          <a:prstGeom prst="rect">
            <a:avLst/>
          </a:prstGeom>
          <a:noFill/>
          <a:ln/>
        </p:spPr>
        <p:txBody>
          <a:bodyPr wrap="square" lIns="0" tIns="0" rIns="0" bIns="0" rtlCol="0" anchor="ctr">
            <a:normAutofit/>
          </a:bodyPr>
          <a:lstStyle/>
          <a:p>
            <a:pPr algn="ctr" indent="0" marL="0">
              <a:buNone/>
            </a:pPr>
            <a:r>
              <a:rPr lang="en-US" sz="1100" b="1" dirty="0">
                <a:solidFill>
                  <a:srgbClr val="F7F5FA"/>
                </a:solidFill>
                <a:latin typeface="Arial" pitchFamily="34" charset="0"/>
                <a:ea typeface="Arial" pitchFamily="34" charset="-122"/>
                <a:cs typeface="Arial" pitchFamily="34" charset="-120"/>
              </a:rPr>
              <a:t>02</a:t>
            </a:r>
            <a:endParaRPr lang="en-US" sz="1100" dirty="0"/>
          </a:p>
        </p:txBody>
      </p:sp>
      <p:sp>
        <p:nvSpPr>
          <p:cNvPr id="16" name="Text 13"/>
          <p:cNvSpPr/>
          <p:nvPr/>
        </p:nvSpPr>
        <p:spPr>
          <a:xfrm>
            <a:off x="3364992" y="2999232"/>
            <a:ext cx="2468880" cy="320040"/>
          </a:xfrm>
          <a:prstGeom prst="rect">
            <a:avLst/>
          </a:prstGeom>
          <a:noFill/>
          <a:ln/>
        </p:spPr>
        <p:txBody>
          <a:bodyPr wrap="square" lIns="0" tIns="0" rIns="0" bIns="0" rtlCol="0" anchor="ctr">
            <a:normAutofit/>
          </a:bodyPr>
          <a:lstStyle/>
          <a:p>
            <a:pPr algn="l" indent="0" marL="0">
              <a:buNone/>
            </a:pPr>
            <a:r>
              <a:rPr lang="en-US" sz="1900" b="1" dirty="0">
                <a:solidFill>
                  <a:srgbClr val="F7F5FA"/>
                </a:solidFill>
                <a:latin typeface="Arial" pitchFamily="34" charset="0"/>
                <a:ea typeface="Arial" pitchFamily="34" charset="-122"/>
                <a:cs typeface="Arial" pitchFamily="34" charset="-120"/>
              </a:rPr>
              <a:t>Prototype</a:t>
            </a:r>
            <a:endParaRPr lang="en-US" sz="1900" dirty="0"/>
          </a:p>
        </p:txBody>
      </p:sp>
      <p:sp>
        <p:nvSpPr>
          <p:cNvPr id="17" name="Text 14"/>
          <p:cNvSpPr/>
          <p:nvPr/>
        </p:nvSpPr>
        <p:spPr>
          <a:xfrm>
            <a:off x="3364992" y="3566160"/>
            <a:ext cx="2423160" cy="1051560"/>
          </a:xfrm>
          <a:prstGeom prst="rect">
            <a:avLst/>
          </a:prstGeom>
          <a:noFill/>
          <a:ln/>
        </p:spPr>
        <p:txBody>
          <a:bodyPr wrap="square" lIns="0" tIns="0" rIns="0" bIns="0" rtlCol="0" anchor="ctr">
            <a:normAutofit/>
          </a:bodyPr>
          <a:lstStyle/>
          <a:p>
            <a:pPr algn="l" indent="0" marL="0">
              <a:buNone/>
            </a:pPr>
            <a:r>
              <a:rPr lang="en-US" sz="1400" dirty="0">
                <a:solidFill>
                  <a:srgbClr val="B6B1BF"/>
                </a:solidFill>
                <a:latin typeface="Arial" pitchFamily="34" charset="0"/>
                <a:ea typeface="Arial" pitchFamily="34" charset="-122"/>
                <a:cs typeface="Arial" pitchFamily="34" charset="-120"/>
              </a:rPr>
              <a:t>Vous validez une direction visuelle avant la construction.</a:t>
            </a:r>
            <a:endParaRPr lang="en-US" sz="1400" dirty="0"/>
          </a:p>
        </p:txBody>
      </p:sp>
      <p:sp>
        <p:nvSpPr>
          <p:cNvPr id="18" name="Shape 15"/>
          <p:cNvSpPr/>
          <p:nvPr/>
        </p:nvSpPr>
        <p:spPr>
          <a:xfrm>
            <a:off x="5010912" y="2459736"/>
            <a:ext cx="914400" cy="16459"/>
          </a:xfrm>
          <a:prstGeom prst="rect">
            <a:avLst/>
          </a:prstGeom>
          <a:solidFill>
            <a:srgbClr val="302A36"/>
          </a:solidFill>
          <a:ln w="12700">
            <a:solidFill>
              <a:srgbClr val="302A36">
                <a:alpha val="0"/>
              </a:srgbClr>
            </a:solidFill>
            <a:prstDash val="solid"/>
          </a:ln>
        </p:spPr>
      </p:sp>
      <p:sp>
        <p:nvSpPr>
          <p:cNvPr id="19" name="Shape 16"/>
          <p:cNvSpPr/>
          <p:nvPr/>
        </p:nvSpPr>
        <p:spPr>
          <a:xfrm>
            <a:off x="6163056" y="2221992"/>
            <a:ext cx="502920" cy="502920"/>
          </a:xfrm>
          <a:prstGeom prst="ellipse">
            <a:avLst/>
          </a:prstGeom>
          <a:solidFill>
            <a:srgbClr val="FB1D91"/>
          </a:solidFill>
          <a:ln w="12700">
            <a:solidFill>
              <a:srgbClr val="FB1D91">
                <a:alpha val="0"/>
              </a:srgbClr>
            </a:solidFill>
            <a:prstDash val="solid"/>
          </a:ln>
        </p:spPr>
      </p:sp>
      <p:sp>
        <p:nvSpPr>
          <p:cNvPr id="20" name="Text 17"/>
          <p:cNvSpPr/>
          <p:nvPr/>
        </p:nvSpPr>
        <p:spPr>
          <a:xfrm>
            <a:off x="6163056" y="2350008"/>
            <a:ext cx="502920" cy="182880"/>
          </a:xfrm>
          <a:prstGeom prst="rect">
            <a:avLst/>
          </a:prstGeom>
          <a:noFill/>
          <a:ln/>
        </p:spPr>
        <p:txBody>
          <a:bodyPr wrap="square" lIns="0" tIns="0" rIns="0" bIns="0" rtlCol="0" anchor="ctr">
            <a:normAutofit/>
          </a:bodyPr>
          <a:lstStyle/>
          <a:p>
            <a:pPr algn="ctr" indent="0" marL="0">
              <a:buNone/>
            </a:pPr>
            <a:r>
              <a:rPr lang="en-US" sz="1100" b="1" dirty="0">
                <a:solidFill>
                  <a:srgbClr val="F7F5FA"/>
                </a:solidFill>
                <a:latin typeface="Arial" pitchFamily="34" charset="0"/>
                <a:ea typeface="Arial" pitchFamily="34" charset="-122"/>
                <a:cs typeface="Arial" pitchFamily="34" charset="-120"/>
              </a:rPr>
              <a:t>03</a:t>
            </a:r>
            <a:endParaRPr lang="en-US" sz="1100" dirty="0"/>
          </a:p>
        </p:txBody>
      </p:sp>
      <p:sp>
        <p:nvSpPr>
          <p:cNvPr id="21" name="Text 18"/>
          <p:cNvSpPr/>
          <p:nvPr/>
        </p:nvSpPr>
        <p:spPr>
          <a:xfrm>
            <a:off x="6163056" y="2999232"/>
            <a:ext cx="2468880" cy="320040"/>
          </a:xfrm>
          <a:prstGeom prst="rect">
            <a:avLst/>
          </a:prstGeom>
          <a:noFill/>
          <a:ln/>
        </p:spPr>
        <p:txBody>
          <a:bodyPr wrap="square" lIns="0" tIns="0" rIns="0" bIns="0" rtlCol="0" anchor="ctr">
            <a:normAutofit/>
          </a:bodyPr>
          <a:lstStyle/>
          <a:p>
            <a:pPr algn="l" indent="0" marL="0">
              <a:buNone/>
            </a:pPr>
            <a:r>
              <a:rPr lang="en-US" sz="1900" b="1" dirty="0">
                <a:solidFill>
                  <a:srgbClr val="F7F5FA"/>
                </a:solidFill>
                <a:latin typeface="Arial" pitchFamily="34" charset="0"/>
                <a:ea typeface="Arial" pitchFamily="34" charset="-122"/>
                <a:cs typeface="Arial" pitchFamily="34" charset="-120"/>
              </a:rPr>
              <a:t>Construction</a:t>
            </a:r>
            <a:endParaRPr lang="en-US" sz="1900" dirty="0"/>
          </a:p>
        </p:txBody>
      </p:sp>
      <p:sp>
        <p:nvSpPr>
          <p:cNvPr id="22" name="Text 19"/>
          <p:cNvSpPr/>
          <p:nvPr/>
        </p:nvSpPr>
        <p:spPr>
          <a:xfrm>
            <a:off x="6163056" y="3566160"/>
            <a:ext cx="2423160" cy="1051560"/>
          </a:xfrm>
          <a:prstGeom prst="rect">
            <a:avLst/>
          </a:prstGeom>
          <a:noFill/>
          <a:ln/>
        </p:spPr>
        <p:txBody>
          <a:bodyPr wrap="square" lIns="0" tIns="0" rIns="0" bIns="0" rtlCol="0" anchor="ctr">
            <a:normAutofit/>
          </a:bodyPr>
          <a:lstStyle/>
          <a:p>
            <a:pPr algn="l" indent="0" marL="0">
              <a:buNone/>
            </a:pPr>
            <a:r>
              <a:rPr lang="en-US" sz="1400" dirty="0">
                <a:solidFill>
                  <a:srgbClr val="B6B1BF"/>
                </a:solidFill>
                <a:latin typeface="Arial" pitchFamily="34" charset="0"/>
                <a:ea typeface="Arial" pitchFamily="34" charset="-122"/>
                <a:cs typeface="Arial" pitchFamily="34" charset="-120"/>
              </a:rPr>
              <a:t>On développe et ajuste la solution avec vous.</a:t>
            </a:r>
            <a:endParaRPr lang="en-US" sz="1400" dirty="0"/>
          </a:p>
        </p:txBody>
      </p:sp>
      <p:sp>
        <p:nvSpPr>
          <p:cNvPr id="23" name="Shape 20"/>
          <p:cNvSpPr/>
          <p:nvPr/>
        </p:nvSpPr>
        <p:spPr>
          <a:xfrm>
            <a:off x="7808976" y="2459736"/>
            <a:ext cx="914400" cy="16459"/>
          </a:xfrm>
          <a:prstGeom prst="rect">
            <a:avLst/>
          </a:prstGeom>
          <a:solidFill>
            <a:srgbClr val="302A36"/>
          </a:solidFill>
          <a:ln w="12700">
            <a:solidFill>
              <a:srgbClr val="302A36">
                <a:alpha val="0"/>
              </a:srgbClr>
            </a:solidFill>
            <a:prstDash val="solid"/>
          </a:ln>
        </p:spPr>
      </p:sp>
      <p:sp>
        <p:nvSpPr>
          <p:cNvPr id="24" name="Shape 21"/>
          <p:cNvSpPr/>
          <p:nvPr/>
        </p:nvSpPr>
        <p:spPr>
          <a:xfrm>
            <a:off x="8961120" y="2221992"/>
            <a:ext cx="502920" cy="502920"/>
          </a:xfrm>
          <a:prstGeom prst="ellipse">
            <a:avLst/>
          </a:prstGeom>
          <a:solidFill>
            <a:srgbClr val="FB1D91"/>
          </a:solidFill>
          <a:ln w="12700">
            <a:solidFill>
              <a:srgbClr val="FB1D91">
                <a:alpha val="0"/>
              </a:srgbClr>
            </a:solidFill>
            <a:prstDash val="solid"/>
          </a:ln>
        </p:spPr>
      </p:sp>
      <p:sp>
        <p:nvSpPr>
          <p:cNvPr id="25" name="Text 22"/>
          <p:cNvSpPr/>
          <p:nvPr/>
        </p:nvSpPr>
        <p:spPr>
          <a:xfrm>
            <a:off x="8961120" y="2350008"/>
            <a:ext cx="502920" cy="182880"/>
          </a:xfrm>
          <a:prstGeom prst="rect">
            <a:avLst/>
          </a:prstGeom>
          <a:noFill/>
          <a:ln/>
        </p:spPr>
        <p:txBody>
          <a:bodyPr wrap="square" lIns="0" tIns="0" rIns="0" bIns="0" rtlCol="0" anchor="ctr">
            <a:normAutofit/>
          </a:bodyPr>
          <a:lstStyle/>
          <a:p>
            <a:pPr algn="ctr" indent="0" marL="0">
              <a:buNone/>
            </a:pPr>
            <a:r>
              <a:rPr lang="en-US" sz="1100" b="1" dirty="0">
                <a:solidFill>
                  <a:srgbClr val="F7F5FA"/>
                </a:solidFill>
                <a:latin typeface="Arial" pitchFamily="34" charset="0"/>
                <a:ea typeface="Arial" pitchFamily="34" charset="-122"/>
                <a:cs typeface="Arial" pitchFamily="34" charset="-120"/>
              </a:rPr>
              <a:t>04</a:t>
            </a:r>
            <a:endParaRPr lang="en-US" sz="1100" dirty="0"/>
          </a:p>
        </p:txBody>
      </p:sp>
      <p:sp>
        <p:nvSpPr>
          <p:cNvPr id="26" name="Text 23"/>
          <p:cNvSpPr/>
          <p:nvPr/>
        </p:nvSpPr>
        <p:spPr>
          <a:xfrm>
            <a:off x="8961120" y="2999232"/>
            <a:ext cx="2468880" cy="320040"/>
          </a:xfrm>
          <a:prstGeom prst="rect">
            <a:avLst/>
          </a:prstGeom>
          <a:noFill/>
          <a:ln/>
        </p:spPr>
        <p:txBody>
          <a:bodyPr wrap="square" lIns="0" tIns="0" rIns="0" bIns="0" rtlCol="0" anchor="ctr">
            <a:normAutofit/>
          </a:bodyPr>
          <a:lstStyle/>
          <a:p>
            <a:pPr algn="l" indent="0" marL="0">
              <a:buNone/>
            </a:pPr>
            <a:r>
              <a:rPr lang="en-US" sz="1900" b="1" dirty="0">
                <a:solidFill>
                  <a:srgbClr val="F7F5FA"/>
                </a:solidFill>
                <a:latin typeface="Arial" pitchFamily="34" charset="0"/>
                <a:ea typeface="Arial" pitchFamily="34" charset="-122"/>
                <a:cs typeface="Arial" pitchFamily="34" charset="-120"/>
              </a:rPr>
              <a:t>Lancement</a:t>
            </a:r>
            <a:endParaRPr lang="en-US" sz="1900" dirty="0"/>
          </a:p>
        </p:txBody>
      </p:sp>
      <p:sp>
        <p:nvSpPr>
          <p:cNvPr id="27" name="Text 24"/>
          <p:cNvSpPr/>
          <p:nvPr/>
        </p:nvSpPr>
        <p:spPr>
          <a:xfrm>
            <a:off x="8961120" y="3566160"/>
            <a:ext cx="2423160" cy="1051560"/>
          </a:xfrm>
          <a:prstGeom prst="rect">
            <a:avLst/>
          </a:prstGeom>
          <a:noFill/>
          <a:ln/>
        </p:spPr>
        <p:txBody>
          <a:bodyPr wrap="square" lIns="0" tIns="0" rIns="0" bIns="0" rtlCol="0" anchor="ctr">
            <a:normAutofit/>
          </a:bodyPr>
          <a:lstStyle/>
          <a:p>
            <a:pPr algn="l" indent="0" marL="0">
              <a:buNone/>
            </a:pPr>
            <a:r>
              <a:rPr lang="en-US" sz="1400" dirty="0">
                <a:solidFill>
                  <a:srgbClr val="B6B1BF"/>
                </a:solidFill>
                <a:latin typeface="Arial" pitchFamily="34" charset="0"/>
                <a:ea typeface="Arial" pitchFamily="34" charset="-122"/>
                <a:cs typeface="Arial" pitchFamily="34" charset="-120"/>
              </a:rPr>
              <a:t>On prépare la mise en ligne et le transfert.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80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080B"/>
          </a:solidFill>
          <a:ln w="12700">
            <a:solidFill>
              <a:srgbClr val="08080B">
                <a:alpha val="0"/>
              </a:srgbClr>
            </a:solidFill>
            <a:prstDash val="solid"/>
          </a:ln>
        </p:spPr>
      </p:sp>
      <p:sp>
        <p:nvSpPr>
          <p:cNvPr id="3" name="Text 1"/>
          <p:cNvSpPr/>
          <p:nvPr/>
        </p:nvSpPr>
        <p:spPr>
          <a:xfrm>
            <a:off x="566928" y="347472"/>
            <a:ext cx="10058400" cy="219456"/>
          </a:xfrm>
          <a:prstGeom prst="rect">
            <a:avLst/>
          </a:prstGeom>
          <a:noFill/>
          <a:ln/>
        </p:spPr>
        <p:txBody>
          <a:bodyPr wrap="square" lIns="0" tIns="0" rIns="0" bIns="0" rtlCol="0" anchor="ctr">
            <a:normAutofit/>
          </a:bodyPr>
          <a:lstStyle/>
          <a:p>
            <a:pPr algn="l" indent="0" marL="0">
              <a:buNone/>
            </a:pPr>
            <a:r>
              <a:rPr lang="en-US" sz="1000" b="1" dirty="0">
                <a:solidFill>
                  <a:srgbClr val="54E1E6"/>
                </a:solidFill>
                <a:latin typeface="Arial" pitchFamily="34" charset="0"/>
                <a:ea typeface="Arial" pitchFamily="34" charset="-122"/>
                <a:cs typeface="Arial" pitchFamily="34" charset="-120"/>
              </a:rPr>
              <a:t>QUELQUES RÉALISATIONS</a:t>
            </a:r>
            <a:endParaRPr lang="en-US" sz="1000" dirty="0"/>
          </a:p>
        </p:txBody>
      </p:sp>
      <p:sp>
        <p:nvSpPr>
          <p:cNvPr id="4" name="Text 2"/>
          <p:cNvSpPr/>
          <p:nvPr/>
        </p:nvSpPr>
        <p:spPr>
          <a:xfrm>
            <a:off x="566928" y="786384"/>
            <a:ext cx="11018520" cy="1097280"/>
          </a:xfrm>
          <a:prstGeom prst="rect">
            <a:avLst/>
          </a:prstGeom>
          <a:noFill/>
          <a:ln/>
        </p:spPr>
        <p:txBody>
          <a:bodyPr wrap="square" lIns="0" tIns="0" rIns="0" bIns="0" rtlCol="0" anchor="ctr">
            <a:normAutofit/>
          </a:bodyPr>
          <a:lstStyle/>
          <a:p>
            <a:pPr algn="l" indent="0" marL="0">
              <a:buNone/>
            </a:pPr>
            <a:r>
              <a:rPr lang="en-US" sz="3500" b="1" dirty="0">
                <a:solidFill>
                  <a:srgbClr val="F7F5FA"/>
                </a:solidFill>
                <a:latin typeface="Arial" pitchFamily="34" charset="0"/>
                <a:ea typeface="Arial" pitchFamily="34" charset="-122"/>
                <a:cs typeface="Arial" pitchFamily="34" charset="-120"/>
              </a:rPr>
              <a:t>Des secteurs différents. Une même attention.</a:t>
            </a:r>
            <a:endParaRPr lang="en-US" sz="3500" dirty="0"/>
          </a:p>
        </p:txBody>
      </p:sp>
      <p:sp>
        <p:nvSpPr>
          <p:cNvPr id="5" name="Shape 3"/>
          <p:cNvSpPr/>
          <p:nvPr/>
        </p:nvSpPr>
        <p:spPr>
          <a:xfrm>
            <a:off x="566928" y="6492240"/>
            <a:ext cx="11018520" cy="10973"/>
          </a:xfrm>
          <a:prstGeom prst="rect">
            <a:avLst/>
          </a:prstGeom>
          <a:solidFill>
            <a:srgbClr val="302A36"/>
          </a:solidFill>
          <a:ln w="12700">
            <a:solidFill>
              <a:srgbClr val="302A36">
                <a:alpha val="0"/>
              </a:srgbClr>
            </a:solidFill>
            <a:prstDash val="solid"/>
          </a:ln>
        </p:spPr>
      </p:sp>
      <p:sp>
        <p:nvSpPr>
          <p:cNvPr id="6" name="Text 4"/>
          <p:cNvSpPr/>
          <p:nvPr/>
        </p:nvSpPr>
        <p:spPr>
          <a:xfrm>
            <a:off x="566928" y="6583680"/>
            <a:ext cx="7315200" cy="164592"/>
          </a:xfrm>
          <a:prstGeom prst="rect">
            <a:avLst/>
          </a:prstGeom>
          <a:noFill/>
          <a:ln/>
        </p:spPr>
        <p:txBody>
          <a:bodyPr wrap="square" lIns="0" tIns="0" rIns="0" bIns="0" rtlCol="0" anchor="ctr">
            <a:normAutofit/>
          </a:bodyPr>
          <a:lstStyle/>
          <a:p>
            <a:pPr algn="l" indent="0" marL="0">
              <a:buNone/>
            </a:pPr>
            <a:r>
              <a:rPr lang="en-US" sz="800" dirty="0">
                <a:solidFill>
                  <a:srgbClr val="898392"/>
                </a:solidFill>
                <a:latin typeface="Arial" pitchFamily="34" charset="0"/>
                <a:ea typeface="Arial" pitchFamily="34" charset="-122"/>
                <a:cs typeface="Arial" pitchFamily="34" charset="-120"/>
              </a:rPr>
              <a:t>KMD WEB  /  SITES · DESIGN · IA</a:t>
            </a:r>
            <a:endParaRPr lang="en-US" sz="800" dirty="0"/>
          </a:p>
        </p:txBody>
      </p:sp>
      <p:sp>
        <p:nvSpPr>
          <p:cNvPr id="7" name="Text 5"/>
          <p:cNvSpPr/>
          <p:nvPr/>
        </p:nvSpPr>
        <p:spPr>
          <a:xfrm>
            <a:off x="10954512" y="6565392"/>
            <a:ext cx="640080" cy="164592"/>
          </a:xfrm>
          <a:prstGeom prst="rect">
            <a:avLst/>
          </a:prstGeom>
          <a:noFill/>
          <a:ln/>
        </p:spPr>
        <p:txBody>
          <a:bodyPr wrap="square" lIns="0" tIns="0" rIns="0" bIns="0" rtlCol="0" anchor="ctr">
            <a:normAutofit/>
          </a:bodyPr>
          <a:lstStyle/>
          <a:p>
            <a:pPr algn="r" indent="0" marL="0">
              <a:buNone/>
            </a:pPr>
            <a:r>
              <a:rPr lang="en-US" sz="900" dirty="0">
                <a:solidFill>
                  <a:srgbClr val="898392"/>
                </a:solidFill>
                <a:latin typeface="Arial" pitchFamily="34" charset="0"/>
                <a:ea typeface="Arial" pitchFamily="34" charset="-122"/>
                <a:cs typeface="Arial" pitchFamily="34" charset="-120"/>
              </a:rPr>
              <a:t>09</a:t>
            </a:r>
            <a:endParaRPr lang="en-US" sz="900" dirty="0"/>
          </a:p>
        </p:txBody>
      </p:sp>
      <p:sp>
        <p:nvSpPr>
          <p:cNvPr id="9" name="Shape 6"/>
          <p:cNvSpPr/>
          <p:nvPr/>
        </p:nvSpPr>
        <p:spPr>
          <a:xfrm>
            <a:off x="566928" y="1965960"/>
            <a:ext cx="2578608" cy="1417320"/>
          </a:xfrm>
          <a:prstGeom prst="roundRect">
            <a:avLst>
              <a:gd name="adj" fmla="val 6452"/>
            </a:avLst>
          </a:prstGeom>
          <a:solidFill>
            <a:srgbClr val="111116"/>
          </a:solidFill>
          <a:ln w="12700">
            <a:solidFill>
              <a:srgbClr val="302A36">
                <a:alpha val="0"/>
              </a:srgbClr>
            </a:solidFill>
            <a:prstDash val="solid"/>
          </a:ln>
        </p:spPr>
      </p:sp>
      <p:sp>
        <p:nvSpPr>
          <p:cNvPr id="10" name="Text 7"/>
          <p:cNvSpPr/>
          <p:nvPr/>
        </p:nvSpPr>
        <p:spPr>
          <a:xfrm>
            <a:off x="749808" y="2148840"/>
            <a:ext cx="2194560" cy="219456"/>
          </a:xfrm>
          <a:prstGeom prst="rect">
            <a:avLst/>
          </a:prstGeom>
          <a:noFill/>
          <a:ln/>
        </p:spPr>
        <p:txBody>
          <a:bodyPr wrap="square" lIns="0" tIns="0" rIns="0" bIns="0" rtlCol="0" anchor="ctr">
            <a:normAutofit/>
          </a:bodyPr>
          <a:lstStyle/>
          <a:p>
            <a:pPr algn="l" indent="0" marL="0">
              <a:buNone/>
            </a:pPr>
            <a:r>
              <a:rPr lang="en-US" sz="900" b="1" dirty="0">
                <a:solidFill>
                  <a:srgbClr val="54E1E6"/>
                </a:solidFill>
                <a:latin typeface="Arial" pitchFamily="34" charset="0"/>
                <a:ea typeface="Arial" pitchFamily="34" charset="-122"/>
                <a:cs typeface="Arial" pitchFamily="34" charset="-120"/>
              </a:rPr>
              <a:t>MAISON · QUALITÉ DE L’AIR</a:t>
            </a:r>
            <a:endParaRPr lang="en-US" sz="900" dirty="0"/>
          </a:p>
        </p:txBody>
      </p:sp>
      <p:sp>
        <p:nvSpPr>
          <p:cNvPr id="11" name="Text 8">
            <a:hlinkClick r:id="rId1" tooltip=""/>
          </p:cNvPr>
          <p:cNvSpPr/>
          <p:nvPr/>
        </p:nvSpPr>
        <p:spPr>
          <a:xfrm>
            <a:off x="749808" y="2523744"/>
            <a:ext cx="2194560" cy="493776"/>
          </a:xfrm>
          <a:prstGeom prst="rect">
            <a:avLst/>
          </a:prstGeom>
          <a:noFill/>
          <a:ln/>
        </p:spPr>
        <p:txBody>
          <a:bodyPr wrap="square" lIns="0" tIns="0" rIns="0" bIns="0" rtlCol="0" anchor="ctr">
            <a:normAutofit/>
          </a:bodyPr>
          <a:lstStyle/>
          <a:p>
            <a:pPr algn="l" indent="0" marL="0">
              <a:buNone/>
            </a:pPr>
            <a:r>
              <a:rPr lang="en-US" sz="1500" b="1" u="sng" dirty="0">
                <a:solidFill>
                  <a:srgbClr val="F7F5FA"/>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Air Pur Belzile</a:t>
            </a:r>
            <a:endParaRPr lang="en-US" sz="1500" dirty="0"/>
          </a:p>
        </p:txBody>
      </p:sp>
      <p:sp>
        <p:nvSpPr>
          <p:cNvPr id="12" name="Text 9">
            <a:hlinkClick r:id="rId2" tooltip=""/>
          </p:cNvPr>
          <p:cNvSpPr/>
          <p:nvPr/>
        </p:nvSpPr>
        <p:spPr>
          <a:xfrm>
            <a:off x="749808" y="3099816"/>
            <a:ext cx="2103120" cy="164592"/>
          </a:xfrm>
          <a:prstGeom prst="rect">
            <a:avLst/>
          </a:prstGeom>
          <a:noFill/>
          <a:ln/>
        </p:spPr>
        <p:txBody>
          <a:bodyPr wrap="square" lIns="0" tIns="0" rIns="0" bIns="0" rtlCol="0" anchor="ctr">
            <a:normAutofit/>
          </a:bodyPr>
          <a:lstStyle/>
          <a:p>
            <a:pPr algn="l" indent="0" marL="0">
              <a:buNone/>
            </a:pPr>
            <a:r>
              <a:rPr lang="en-US" sz="900" b="1" u="sng" dirty="0">
                <a:solidFill>
                  <a:srgbClr val="FB1D91"/>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DÉCOUVRIR ↗</a:t>
            </a:r>
            <a:endParaRPr lang="en-US" sz="900" dirty="0"/>
          </a:p>
        </p:txBody>
      </p:sp>
      <p:sp>
        <p:nvSpPr>
          <p:cNvPr id="13" name="Shape 10"/>
          <p:cNvSpPr/>
          <p:nvPr/>
        </p:nvSpPr>
        <p:spPr>
          <a:xfrm>
            <a:off x="3364992" y="1965960"/>
            <a:ext cx="2578608" cy="1417320"/>
          </a:xfrm>
          <a:prstGeom prst="roundRect">
            <a:avLst>
              <a:gd name="adj" fmla="val 6452"/>
            </a:avLst>
          </a:prstGeom>
          <a:solidFill>
            <a:srgbClr val="111116"/>
          </a:solidFill>
          <a:ln w="12700">
            <a:solidFill>
              <a:srgbClr val="302A36">
                <a:alpha val="0"/>
              </a:srgbClr>
            </a:solidFill>
            <a:prstDash val="solid"/>
          </a:ln>
        </p:spPr>
      </p:sp>
      <p:sp>
        <p:nvSpPr>
          <p:cNvPr id="14" name="Text 11"/>
          <p:cNvSpPr/>
          <p:nvPr/>
        </p:nvSpPr>
        <p:spPr>
          <a:xfrm>
            <a:off x="3547872" y="2148840"/>
            <a:ext cx="2194560" cy="219456"/>
          </a:xfrm>
          <a:prstGeom prst="rect">
            <a:avLst/>
          </a:prstGeom>
          <a:noFill/>
          <a:ln/>
        </p:spPr>
        <p:txBody>
          <a:bodyPr wrap="square" lIns="0" tIns="0" rIns="0" bIns="0" rtlCol="0" anchor="ctr">
            <a:normAutofit/>
          </a:bodyPr>
          <a:lstStyle/>
          <a:p>
            <a:pPr algn="l" indent="0" marL="0">
              <a:buNone/>
            </a:pPr>
            <a:r>
              <a:rPr lang="en-US" sz="900" b="1" dirty="0">
                <a:solidFill>
                  <a:srgbClr val="54E1E6"/>
                </a:solidFill>
                <a:latin typeface="Arial" pitchFamily="34" charset="0"/>
                <a:ea typeface="Arial" pitchFamily="34" charset="-122"/>
                <a:cs typeface="Arial" pitchFamily="34" charset="-120"/>
              </a:rPr>
              <a:t>CONSTRUCTION</a:t>
            </a:r>
            <a:endParaRPr lang="en-US" sz="900" dirty="0"/>
          </a:p>
        </p:txBody>
      </p:sp>
      <p:sp>
        <p:nvSpPr>
          <p:cNvPr id="15" name="Text 12">
            <a:hlinkClick r:id="rId3" tooltip=""/>
          </p:cNvPr>
          <p:cNvSpPr/>
          <p:nvPr/>
        </p:nvSpPr>
        <p:spPr>
          <a:xfrm>
            <a:off x="3547872" y="2523744"/>
            <a:ext cx="2194560" cy="493776"/>
          </a:xfrm>
          <a:prstGeom prst="rect">
            <a:avLst/>
          </a:prstGeom>
          <a:noFill/>
          <a:ln/>
        </p:spPr>
        <p:txBody>
          <a:bodyPr wrap="square" lIns="0" tIns="0" rIns="0" bIns="0" rtlCol="0" anchor="ctr">
            <a:normAutofit/>
          </a:bodyPr>
          <a:lstStyle/>
          <a:p>
            <a:pPr algn="l" indent="0" marL="0">
              <a:buNone/>
            </a:pPr>
            <a:r>
              <a:rPr lang="en-US" sz="1500" b="1" u="sng" dirty="0">
                <a:solidFill>
                  <a:srgbClr val="F7F5FA"/>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Nexior Construction</a:t>
            </a:r>
            <a:endParaRPr lang="en-US" sz="1500" dirty="0"/>
          </a:p>
        </p:txBody>
      </p:sp>
      <p:sp>
        <p:nvSpPr>
          <p:cNvPr id="16" name="Text 13">
            <a:hlinkClick r:id="rId4" tooltip=""/>
          </p:cNvPr>
          <p:cNvSpPr/>
          <p:nvPr/>
        </p:nvSpPr>
        <p:spPr>
          <a:xfrm>
            <a:off x="3547872" y="3099816"/>
            <a:ext cx="2103120" cy="164592"/>
          </a:xfrm>
          <a:prstGeom prst="rect">
            <a:avLst/>
          </a:prstGeom>
          <a:noFill/>
          <a:ln/>
        </p:spPr>
        <p:txBody>
          <a:bodyPr wrap="square" lIns="0" tIns="0" rIns="0" bIns="0" rtlCol="0" anchor="ctr">
            <a:normAutofit/>
          </a:bodyPr>
          <a:lstStyle/>
          <a:p>
            <a:pPr algn="l" indent="0" marL="0">
              <a:buNone/>
            </a:pPr>
            <a:r>
              <a:rPr lang="en-US" sz="900" b="1" u="sng" dirty="0">
                <a:solidFill>
                  <a:srgbClr val="FB1D91"/>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DÉCOUVRIR ↗</a:t>
            </a:r>
            <a:endParaRPr lang="en-US" sz="900" dirty="0"/>
          </a:p>
        </p:txBody>
      </p:sp>
      <p:sp>
        <p:nvSpPr>
          <p:cNvPr id="17" name="Shape 14"/>
          <p:cNvSpPr/>
          <p:nvPr/>
        </p:nvSpPr>
        <p:spPr>
          <a:xfrm>
            <a:off x="6163056" y="1965960"/>
            <a:ext cx="2578608" cy="1417320"/>
          </a:xfrm>
          <a:prstGeom prst="roundRect">
            <a:avLst>
              <a:gd name="adj" fmla="val 6452"/>
            </a:avLst>
          </a:prstGeom>
          <a:solidFill>
            <a:srgbClr val="111116"/>
          </a:solidFill>
          <a:ln w="12700">
            <a:solidFill>
              <a:srgbClr val="302A36">
                <a:alpha val="0"/>
              </a:srgbClr>
            </a:solidFill>
            <a:prstDash val="solid"/>
          </a:ln>
        </p:spPr>
      </p:sp>
      <p:sp>
        <p:nvSpPr>
          <p:cNvPr id="18" name="Text 15"/>
          <p:cNvSpPr/>
          <p:nvPr/>
        </p:nvSpPr>
        <p:spPr>
          <a:xfrm>
            <a:off x="6345936" y="2148840"/>
            <a:ext cx="2194560" cy="219456"/>
          </a:xfrm>
          <a:prstGeom prst="rect">
            <a:avLst/>
          </a:prstGeom>
          <a:noFill/>
          <a:ln/>
        </p:spPr>
        <p:txBody>
          <a:bodyPr wrap="square" lIns="0" tIns="0" rIns="0" bIns="0" rtlCol="0" anchor="ctr">
            <a:normAutofit/>
          </a:bodyPr>
          <a:lstStyle/>
          <a:p>
            <a:pPr algn="l" indent="0" marL="0">
              <a:buNone/>
            </a:pPr>
            <a:r>
              <a:rPr lang="en-US" sz="900" b="1" dirty="0">
                <a:solidFill>
                  <a:srgbClr val="54E1E6"/>
                </a:solidFill>
                <a:latin typeface="Arial" pitchFamily="34" charset="0"/>
                <a:ea typeface="Arial" pitchFamily="34" charset="-122"/>
                <a:cs typeface="Arial" pitchFamily="34" charset="-120"/>
              </a:rPr>
              <a:t>CONSTRUCTION · RÉNOVATION</a:t>
            </a:r>
            <a:endParaRPr lang="en-US" sz="900" dirty="0"/>
          </a:p>
        </p:txBody>
      </p:sp>
      <p:sp>
        <p:nvSpPr>
          <p:cNvPr id="19" name="Text 16">
            <a:hlinkClick r:id="rId5" tooltip=""/>
          </p:cNvPr>
          <p:cNvSpPr/>
          <p:nvPr/>
        </p:nvSpPr>
        <p:spPr>
          <a:xfrm>
            <a:off x="6345936" y="2523744"/>
            <a:ext cx="2194560" cy="493776"/>
          </a:xfrm>
          <a:prstGeom prst="rect">
            <a:avLst/>
          </a:prstGeom>
          <a:noFill/>
          <a:ln/>
        </p:spPr>
        <p:txBody>
          <a:bodyPr wrap="square" lIns="0" tIns="0" rIns="0" bIns="0" rtlCol="0" anchor="ctr">
            <a:normAutofit/>
          </a:bodyPr>
          <a:lstStyle/>
          <a:p>
            <a:pPr algn="l" indent="0" marL="0">
              <a:buNone/>
            </a:pPr>
            <a:r>
              <a:rPr lang="en-US" sz="1500" b="1" u="sng" dirty="0">
                <a:solidFill>
                  <a:srgbClr val="F7F5FA"/>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Habitations Tremblay &amp; Tremblay</a:t>
            </a:r>
            <a:endParaRPr lang="en-US" sz="1500" dirty="0"/>
          </a:p>
        </p:txBody>
      </p:sp>
      <p:sp>
        <p:nvSpPr>
          <p:cNvPr id="20" name="Text 17">
            <a:hlinkClick r:id="rId6" tooltip=""/>
          </p:cNvPr>
          <p:cNvSpPr/>
          <p:nvPr/>
        </p:nvSpPr>
        <p:spPr>
          <a:xfrm>
            <a:off x="6345936" y="3099816"/>
            <a:ext cx="2103120" cy="164592"/>
          </a:xfrm>
          <a:prstGeom prst="rect">
            <a:avLst/>
          </a:prstGeom>
          <a:noFill/>
          <a:ln/>
        </p:spPr>
        <p:txBody>
          <a:bodyPr wrap="square" lIns="0" tIns="0" rIns="0" bIns="0" rtlCol="0" anchor="ctr">
            <a:normAutofit/>
          </a:bodyPr>
          <a:lstStyle/>
          <a:p>
            <a:pPr algn="l" indent="0" marL="0">
              <a:buNone/>
            </a:pPr>
            <a:r>
              <a:rPr lang="en-US" sz="900" b="1" u="sng" dirty="0">
                <a:solidFill>
                  <a:srgbClr val="FB1D91"/>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DÉCOUVRIR ↗</a:t>
            </a:r>
            <a:endParaRPr lang="en-US" sz="900" dirty="0"/>
          </a:p>
        </p:txBody>
      </p:sp>
      <p:sp>
        <p:nvSpPr>
          <p:cNvPr id="21" name="Shape 18"/>
          <p:cNvSpPr/>
          <p:nvPr/>
        </p:nvSpPr>
        <p:spPr>
          <a:xfrm>
            <a:off x="8961120" y="1965960"/>
            <a:ext cx="2578608" cy="1417320"/>
          </a:xfrm>
          <a:prstGeom prst="roundRect">
            <a:avLst>
              <a:gd name="adj" fmla="val 6452"/>
            </a:avLst>
          </a:prstGeom>
          <a:solidFill>
            <a:srgbClr val="111116"/>
          </a:solidFill>
          <a:ln w="12700">
            <a:solidFill>
              <a:srgbClr val="302A36">
                <a:alpha val="0"/>
              </a:srgbClr>
            </a:solidFill>
            <a:prstDash val="solid"/>
          </a:ln>
        </p:spPr>
      </p:sp>
      <p:sp>
        <p:nvSpPr>
          <p:cNvPr id="22" name="Text 19"/>
          <p:cNvSpPr/>
          <p:nvPr/>
        </p:nvSpPr>
        <p:spPr>
          <a:xfrm>
            <a:off x="9144000" y="2148840"/>
            <a:ext cx="2194560" cy="219456"/>
          </a:xfrm>
          <a:prstGeom prst="rect">
            <a:avLst/>
          </a:prstGeom>
          <a:noFill/>
          <a:ln/>
        </p:spPr>
        <p:txBody>
          <a:bodyPr wrap="square" lIns="0" tIns="0" rIns="0" bIns="0" rtlCol="0" anchor="ctr">
            <a:normAutofit/>
          </a:bodyPr>
          <a:lstStyle/>
          <a:p>
            <a:pPr algn="l" indent="0" marL="0">
              <a:buNone/>
            </a:pPr>
            <a:r>
              <a:rPr lang="en-US" sz="900" b="1" dirty="0">
                <a:solidFill>
                  <a:srgbClr val="54E1E6"/>
                </a:solidFill>
                <a:latin typeface="Arial" pitchFamily="34" charset="0"/>
                <a:ea typeface="Arial" pitchFamily="34" charset="-122"/>
                <a:cs typeface="Arial" pitchFamily="34" charset="-120"/>
              </a:rPr>
              <a:t>ARTS · APPRENTISSAGE</a:t>
            </a:r>
            <a:endParaRPr lang="en-US" sz="900" dirty="0"/>
          </a:p>
        </p:txBody>
      </p:sp>
      <p:sp>
        <p:nvSpPr>
          <p:cNvPr id="23" name="Text 20">
            <a:hlinkClick r:id="rId7" tooltip=""/>
          </p:cNvPr>
          <p:cNvSpPr/>
          <p:nvPr/>
        </p:nvSpPr>
        <p:spPr>
          <a:xfrm>
            <a:off x="9144000" y="2523744"/>
            <a:ext cx="2194560" cy="493776"/>
          </a:xfrm>
          <a:prstGeom prst="rect">
            <a:avLst/>
          </a:prstGeom>
          <a:noFill/>
          <a:ln/>
        </p:spPr>
        <p:txBody>
          <a:bodyPr wrap="square" lIns="0" tIns="0" rIns="0" bIns="0" rtlCol="0" anchor="ctr">
            <a:normAutofit/>
          </a:bodyPr>
          <a:lstStyle/>
          <a:p>
            <a:pPr algn="l" indent="0" marL="0">
              <a:buNone/>
            </a:pPr>
            <a:r>
              <a:rPr lang="en-US" sz="1500" b="1" u="sng" dirty="0">
                <a:solidFill>
                  <a:srgbClr val="F7F5FA"/>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École de danse Chantal Charette</a:t>
            </a:r>
            <a:endParaRPr lang="en-US" sz="1500" dirty="0"/>
          </a:p>
        </p:txBody>
      </p:sp>
      <p:sp>
        <p:nvSpPr>
          <p:cNvPr id="24" name="Text 21">
            <a:hlinkClick r:id="rId8" tooltip=""/>
          </p:cNvPr>
          <p:cNvSpPr/>
          <p:nvPr/>
        </p:nvSpPr>
        <p:spPr>
          <a:xfrm>
            <a:off x="9144000" y="3099816"/>
            <a:ext cx="2103120" cy="164592"/>
          </a:xfrm>
          <a:prstGeom prst="rect">
            <a:avLst/>
          </a:prstGeom>
          <a:noFill/>
          <a:ln/>
        </p:spPr>
        <p:txBody>
          <a:bodyPr wrap="square" lIns="0" tIns="0" rIns="0" bIns="0" rtlCol="0" anchor="ctr">
            <a:normAutofit/>
          </a:bodyPr>
          <a:lstStyle/>
          <a:p>
            <a:pPr algn="l" indent="0" marL="0">
              <a:buNone/>
            </a:pPr>
            <a:r>
              <a:rPr lang="en-US" sz="900" b="1" u="sng" dirty="0">
                <a:solidFill>
                  <a:srgbClr val="FB1D91"/>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DÉCOUVRIR ↗</a:t>
            </a:r>
            <a:endParaRPr lang="en-US" sz="900" dirty="0"/>
          </a:p>
        </p:txBody>
      </p:sp>
      <p:sp>
        <p:nvSpPr>
          <p:cNvPr id="25" name="Shape 22"/>
          <p:cNvSpPr/>
          <p:nvPr/>
        </p:nvSpPr>
        <p:spPr>
          <a:xfrm>
            <a:off x="566928" y="3657600"/>
            <a:ext cx="2578608" cy="1417320"/>
          </a:xfrm>
          <a:prstGeom prst="roundRect">
            <a:avLst>
              <a:gd name="adj" fmla="val 6452"/>
            </a:avLst>
          </a:prstGeom>
          <a:solidFill>
            <a:srgbClr val="111116"/>
          </a:solidFill>
          <a:ln w="12700">
            <a:solidFill>
              <a:srgbClr val="302A36">
                <a:alpha val="0"/>
              </a:srgbClr>
            </a:solidFill>
            <a:prstDash val="solid"/>
          </a:ln>
        </p:spPr>
      </p:sp>
      <p:sp>
        <p:nvSpPr>
          <p:cNvPr id="26" name="Text 23"/>
          <p:cNvSpPr/>
          <p:nvPr/>
        </p:nvSpPr>
        <p:spPr>
          <a:xfrm>
            <a:off x="749808" y="3840480"/>
            <a:ext cx="2194560" cy="219456"/>
          </a:xfrm>
          <a:prstGeom prst="rect">
            <a:avLst/>
          </a:prstGeom>
          <a:noFill/>
          <a:ln/>
        </p:spPr>
        <p:txBody>
          <a:bodyPr wrap="square" lIns="0" tIns="0" rIns="0" bIns="0" rtlCol="0" anchor="ctr">
            <a:normAutofit/>
          </a:bodyPr>
          <a:lstStyle/>
          <a:p>
            <a:pPr algn="l" indent="0" marL="0">
              <a:buNone/>
            </a:pPr>
            <a:r>
              <a:rPr lang="en-US" sz="900" b="1" dirty="0">
                <a:solidFill>
                  <a:srgbClr val="54E1E6"/>
                </a:solidFill>
                <a:latin typeface="Arial" pitchFamily="34" charset="0"/>
                <a:ea typeface="Arial" pitchFamily="34" charset="-122"/>
                <a:cs typeface="Arial" pitchFamily="34" charset="-120"/>
              </a:rPr>
              <a:t>PAYSAGEMENT</a:t>
            </a:r>
            <a:endParaRPr lang="en-US" sz="900" dirty="0"/>
          </a:p>
        </p:txBody>
      </p:sp>
      <p:sp>
        <p:nvSpPr>
          <p:cNvPr id="27" name="Text 24">
            <a:hlinkClick r:id="rId9" tooltip=""/>
          </p:cNvPr>
          <p:cNvSpPr/>
          <p:nvPr/>
        </p:nvSpPr>
        <p:spPr>
          <a:xfrm>
            <a:off x="749808" y="4215384"/>
            <a:ext cx="2194560" cy="493776"/>
          </a:xfrm>
          <a:prstGeom prst="rect">
            <a:avLst/>
          </a:prstGeom>
          <a:noFill/>
          <a:ln/>
        </p:spPr>
        <p:txBody>
          <a:bodyPr wrap="square" lIns="0" tIns="0" rIns="0" bIns="0" rtlCol="0" anchor="ctr">
            <a:normAutofit/>
          </a:bodyPr>
          <a:lstStyle/>
          <a:p>
            <a:pPr algn="l" indent="0" marL="0">
              <a:buNone/>
            </a:pPr>
            <a:r>
              <a:rPr lang="en-US" sz="1500" b="1" u="sng" dirty="0">
                <a:solidFill>
                  <a:srgbClr val="F7F5FA"/>
                </a:solidFill>
                <a:latin typeface="Arial" pitchFamily="34" charset="0"/>
                <a:ea typeface="Arial" pitchFamily="34" charset="-122"/>
                <a:cs typeface="Arial" pitchFamily="34" charset="-120"/>
                <a:hlinkClick r:id="rId9" invalidUrl="" action="" tgtFrame="" tooltip="" history="1" highlightClick="0" endSnd="0">
                  <a:extLst>
                    <a:ext uri="{A12FA001-AC4F-418D-AE19-62706E023703}">
                      <ahyp:hlinkClr xmlns:ahyp="http://schemas.microsoft.com/office/drawing/2018/hyperlinkcolor" val="tx"/>
                    </a:ext>
                  </a:extLst>
                </a:hlinkClick>
              </a:rPr>
              <a:t>Fleurmidable</a:t>
            </a:r>
            <a:endParaRPr lang="en-US" sz="1500" dirty="0"/>
          </a:p>
        </p:txBody>
      </p:sp>
      <p:sp>
        <p:nvSpPr>
          <p:cNvPr id="28" name="Text 25">
            <a:hlinkClick r:id="rId10" tooltip=""/>
          </p:cNvPr>
          <p:cNvSpPr/>
          <p:nvPr/>
        </p:nvSpPr>
        <p:spPr>
          <a:xfrm>
            <a:off x="749808" y="4791456"/>
            <a:ext cx="2103120" cy="164592"/>
          </a:xfrm>
          <a:prstGeom prst="rect">
            <a:avLst/>
          </a:prstGeom>
          <a:noFill/>
          <a:ln/>
        </p:spPr>
        <p:txBody>
          <a:bodyPr wrap="square" lIns="0" tIns="0" rIns="0" bIns="0" rtlCol="0" anchor="ctr">
            <a:normAutofit/>
          </a:bodyPr>
          <a:lstStyle/>
          <a:p>
            <a:pPr algn="l" indent="0" marL="0">
              <a:buNone/>
            </a:pPr>
            <a:r>
              <a:rPr lang="en-US" sz="900" b="1" u="sng" dirty="0">
                <a:solidFill>
                  <a:srgbClr val="FB1D91"/>
                </a:solidFill>
                <a:latin typeface="Arial" pitchFamily="34" charset="0"/>
                <a:ea typeface="Arial" pitchFamily="34" charset="-122"/>
                <a:cs typeface="Arial"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DÉCOUVRIR ↗</a:t>
            </a:r>
            <a:endParaRPr lang="en-US" sz="900" dirty="0"/>
          </a:p>
        </p:txBody>
      </p:sp>
      <p:sp>
        <p:nvSpPr>
          <p:cNvPr id="29" name="Shape 26"/>
          <p:cNvSpPr/>
          <p:nvPr/>
        </p:nvSpPr>
        <p:spPr>
          <a:xfrm>
            <a:off x="3364992" y="3657600"/>
            <a:ext cx="2578608" cy="1417320"/>
          </a:xfrm>
          <a:prstGeom prst="roundRect">
            <a:avLst>
              <a:gd name="adj" fmla="val 6452"/>
            </a:avLst>
          </a:prstGeom>
          <a:solidFill>
            <a:srgbClr val="111116"/>
          </a:solidFill>
          <a:ln w="12700">
            <a:solidFill>
              <a:srgbClr val="302A36">
                <a:alpha val="0"/>
              </a:srgbClr>
            </a:solidFill>
            <a:prstDash val="solid"/>
          </a:ln>
        </p:spPr>
      </p:sp>
      <p:sp>
        <p:nvSpPr>
          <p:cNvPr id="30" name="Text 27"/>
          <p:cNvSpPr/>
          <p:nvPr/>
        </p:nvSpPr>
        <p:spPr>
          <a:xfrm>
            <a:off x="3547872" y="3840480"/>
            <a:ext cx="2194560" cy="219456"/>
          </a:xfrm>
          <a:prstGeom prst="rect">
            <a:avLst/>
          </a:prstGeom>
          <a:noFill/>
          <a:ln/>
        </p:spPr>
        <p:txBody>
          <a:bodyPr wrap="square" lIns="0" tIns="0" rIns="0" bIns="0" rtlCol="0" anchor="ctr">
            <a:normAutofit/>
          </a:bodyPr>
          <a:lstStyle/>
          <a:p>
            <a:pPr algn="l" indent="0" marL="0">
              <a:buNone/>
            </a:pPr>
            <a:r>
              <a:rPr lang="en-US" sz="900" b="1" dirty="0">
                <a:solidFill>
                  <a:srgbClr val="54E1E6"/>
                </a:solidFill>
                <a:latin typeface="Arial" pitchFamily="34" charset="0"/>
                <a:ea typeface="Arial" pitchFamily="34" charset="-122"/>
                <a:cs typeface="Arial" pitchFamily="34" charset="-120"/>
              </a:rPr>
              <a:t>BIEN-ÊTRE</a:t>
            </a:r>
            <a:endParaRPr lang="en-US" sz="900" dirty="0"/>
          </a:p>
        </p:txBody>
      </p:sp>
      <p:sp>
        <p:nvSpPr>
          <p:cNvPr id="31" name="Text 28">
            <a:hlinkClick r:id="rId11" tooltip=""/>
          </p:cNvPr>
          <p:cNvSpPr/>
          <p:nvPr/>
        </p:nvSpPr>
        <p:spPr>
          <a:xfrm>
            <a:off x="3547872" y="4215384"/>
            <a:ext cx="2194560" cy="493776"/>
          </a:xfrm>
          <a:prstGeom prst="rect">
            <a:avLst/>
          </a:prstGeom>
          <a:noFill/>
          <a:ln/>
        </p:spPr>
        <p:txBody>
          <a:bodyPr wrap="square" lIns="0" tIns="0" rIns="0" bIns="0" rtlCol="0" anchor="ctr">
            <a:normAutofit/>
          </a:bodyPr>
          <a:lstStyle/>
          <a:p>
            <a:pPr algn="l" indent="0" marL="0">
              <a:buNone/>
            </a:pPr>
            <a:r>
              <a:rPr lang="en-US" sz="1500" b="1" u="sng" dirty="0">
                <a:solidFill>
                  <a:srgbClr val="F7F5FA"/>
                </a:solidFill>
                <a:latin typeface="Arial" pitchFamily="34" charset="0"/>
                <a:ea typeface="Arial" pitchFamily="34" charset="-122"/>
                <a:cs typeface="Arial" pitchFamily="34" charset="-120"/>
                <a:hlinkClick r:id="rId11" invalidUrl="" action="" tgtFrame="" tooltip="" history="1" highlightClick="0" endSnd="0">
                  <a:extLst>
                    <a:ext uri="{A12FA001-AC4F-418D-AE19-62706E023703}">
                      <ahyp:hlinkClr xmlns:ahyp="http://schemas.microsoft.com/office/drawing/2018/hyperlinkcolor" val="tx"/>
                    </a:ext>
                  </a:extLst>
                </a:hlinkClick>
              </a:rPr>
              <a:t>Shinebreath</a:t>
            </a:r>
            <a:endParaRPr lang="en-US" sz="1500" dirty="0"/>
          </a:p>
        </p:txBody>
      </p:sp>
      <p:sp>
        <p:nvSpPr>
          <p:cNvPr id="32" name="Text 29">
            <a:hlinkClick r:id="rId12" tooltip=""/>
          </p:cNvPr>
          <p:cNvSpPr/>
          <p:nvPr/>
        </p:nvSpPr>
        <p:spPr>
          <a:xfrm>
            <a:off x="3547872" y="4791456"/>
            <a:ext cx="2103120" cy="164592"/>
          </a:xfrm>
          <a:prstGeom prst="rect">
            <a:avLst/>
          </a:prstGeom>
          <a:noFill/>
          <a:ln/>
        </p:spPr>
        <p:txBody>
          <a:bodyPr wrap="square" lIns="0" tIns="0" rIns="0" bIns="0" rtlCol="0" anchor="ctr">
            <a:normAutofit/>
          </a:bodyPr>
          <a:lstStyle/>
          <a:p>
            <a:pPr algn="l" indent="0" marL="0">
              <a:buNone/>
            </a:pPr>
            <a:r>
              <a:rPr lang="en-US" sz="900" b="1" u="sng" dirty="0">
                <a:solidFill>
                  <a:srgbClr val="FB1D91"/>
                </a:solidFill>
                <a:latin typeface="Arial" pitchFamily="34" charset="0"/>
                <a:ea typeface="Arial" pitchFamily="34" charset="-122"/>
                <a:cs typeface="Arial" pitchFamily="34" charset="-120"/>
                <a:hlinkClick r:id="rId12" invalidUrl="" action="" tgtFrame="" tooltip="" history="1" highlightClick="0" endSnd="0">
                  <a:extLst>
                    <a:ext uri="{A12FA001-AC4F-418D-AE19-62706E023703}">
                      <ahyp:hlinkClr xmlns:ahyp="http://schemas.microsoft.com/office/drawing/2018/hyperlinkcolor" val="tx"/>
                    </a:ext>
                  </a:extLst>
                </a:hlinkClick>
              </a:rPr>
              <a:t>DÉCOUVRIR ↗</a:t>
            </a:r>
            <a:endParaRPr lang="en-US" sz="900" dirty="0"/>
          </a:p>
        </p:txBody>
      </p:sp>
      <p:sp>
        <p:nvSpPr>
          <p:cNvPr id="33" name="Shape 30"/>
          <p:cNvSpPr/>
          <p:nvPr/>
        </p:nvSpPr>
        <p:spPr>
          <a:xfrm>
            <a:off x="6163056" y="3657600"/>
            <a:ext cx="2578608" cy="1417320"/>
          </a:xfrm>
          <a:prstGeom prst="roundRect">
            <a:avLst>
              <a:gd name="adj" fmla="val 6452"/>
            </a:avLst>
          </a:prstGeom>
          <a:solidFill>
            <a:srgbClr val="111116"/>
          </a:solidFill>
          <a:ln w="12700">
            <a:solidFill>
              <a:srgbClr val="302A36">
                <a:alpha val="0"/>
              </a:srgbClr>
            </a:solidFill>
            <a:prstDash val="solid"/>
          </a:ln>
        </p:spPr>
      </p:sp>
      <p:sp>
        <p:nvSpPr>
          <p:cNvPr id="34" name="Text 31"/>
          <p:cNvSpPr/>
          <p:nvPr/>
        </p:nvSpPr>
        <p:spPr>
          <a:xfrm>
            <a:off x="6345936" y="3840480"/>
            <a:ext cx="2194560" cy="219456"/>
          </a:xfrm>
          <a:prstGeom prst="rect">
            <a:avLst/>
          </a:prstGeom>
          <a:noFill/>
          <a:ln/>
        </p:spPr>
        <p:txBody>
          <a:bodyPr wrap="square" lIns="0" tIns="0" rIns="0" bIns="0" rtlCol="0" anchor="ctr">
            <a:normAutofit/>
          </a:bodyPr>
          <a:lstStyle/>
          <a:p>
            <a:pPr algn="l" indent="0" marL="0">
              <a:buNone/>
            </a:pPr>
            <a:r>
              <a:rPr lang="en-US" sz="900" b="1" dirty="0">
                <a:solidFill>
                  <a:srgbClr val="54E1E6"/>
                </a:solidFill>
                <a:latin typeface="Arial" pitchFamily="34" charset="0"/>
                <a:ea typeface="Arial" pitchFamily="34" charset="-122"/>
                <a:cs typeface="Arial" pitchFamily="34" charset="-120"/>
              </a:rPr>
              <a:t>STUDIO NUMÉRIQUE</a:t>
            </a:r>
            <a:endParaRPr lang="en-US" sz="900" dirty="0"/>
          </a:p>
        </p:txBody>
      </p:sp>
      <p:sp>
        <p:nvSpPr>
          <p:cNvPr id="35" name="Text 32">
            <a:hlinkClick r:id="rId13" tooltip=""/>
          </p:cNvPr>
          <p:cNvSpPr/>
          <p:nvPr/>
        </p:nvSpPr>
        <p:spPr>
          <a:xfrm>
            <a:off x="6345936" y="4215384"/>
            <a:ext cx="2194560" cy="493776"/>
          </a:xfrm>
          <a:prstGeom prst="rect">
            <a:avLst/>
          </a:prstGeom>
          <a:noFill/>
          <a:ln/>
        </p:spPr>
        <p:txBody>
          <a:bodyPr wrap="square" lIns="0" tIns="0" rIns="0" bIns="0" rtlCol="0" anchor="ctr">
            <a:normAutofit/>
          </a:bodyPr>
          <a:lstStyle/>
          <a:p>
            <a:pPr algn="l" indent="0" marL="0">
              <a:buNone/>
            </a:pPr>
            <a:r>
              <a:rPr lang="en-US" sz="1500" b="1" u="sng" dirty="0">
                <a:solidFill>
                  <a:srgbClr val="F7F5FA"/>
                </a:solidFill>
                <a:latin typeface="Arial" pitchFamily="34" charset="0"/>
                <a:ea typeface="Arial" pitchFamily="34" charset="-122"/>
                <a:cs typeface="Arial" pitchFamily="34" charset="-120"/>
                <a:hlinkClick r:id="rId13" invalidUrl="" action="" tgtFrame="" tooltip="" history="1" highlightClick="0" endSnd="0">
                  <a:extLst>
                    <a:ext uri="{A12FA001-AC4F-418D-AE19-62706E023703}">
                      <ahyp:hlinkClr xmlns:ahyp="http://schemas.microsoft.com/office/drawing/2018/hyperlinkcolor" val="tx"/>
                    </a:ext>
                  </a:extLst>
                </a:hlinkClick>
              </a:rPr>
              <a:t>KMD Web</a:t>
            </a:r>
            <a:endParaRPr lang="en-US" sz="1500" dirty="0"/>
          </a:p>
        </p:txBody>
      </p:sp>
      <p:sp>
        <p:nvSpPr>
          <p:cNvPr id="36" name="Text 33">
            <a:hlinkClick r:id="rId14" tooltip=""/>
          </p:cNvPr>
          <p:cNvSpPr/>
          <p:nvPr/>
        </p:nvSpPr>
        <p:spPr>
          <a:xfrm>
            <a:off x="6345936" y="4791456"/>
            <a:ext cx="2103120" cy="164592"/>
          </a:xfrm>
          <a:prstGeom prst="rect">
            <a:avLst/>
          </a:prstGeom>
          <a:noFill/>
          <a:ln/>
        </p:spPr>
        <p:txBody>
          <a:bodyPr wrap="square" lIns="0" tIns="0" rIns="0" bIns="0" rtlCol="0" anchor="ctr">
            <a:normAutofit/>
          </a:bodyPr>
          <a:lstStyle/>
          <a:p>
            <a:pPr algn="l" indent="0" marL="0">
              <a:buNone/>
            </a:pPr>
            <a:r>
              <a:rPr lang="en-US" sz="900" b="1" u="sng" dirty="0">
                <a:solidFill>
                  <a:srgbClr val="FB1D91"/>
                </a:solidFill>
                <a:latin typeface="Arial" pitchFamily="34" charset="0"/>
                <a:ea typeface="Arial" pitchFamily="34" charset="-122"/>
                <a:cs typeface="Arial" pitchFamily="34" charset="-120"/>
                <a:hlinkClick r:id="rId14" invalidUrl="" action="" tgtFrame="" tooltip="" history="1" highlightClick="0" endSnd="0">
                  <a:extLst>
                    <a:ext uri="{A12FA001-AC4F-418D-AE19-62706E023703}">
                      <ahyp:hlinkClr xmlns:ahyp="http://schemas.microsoft.com/office/drawing/2018/hyperlinkcolor" val="tx"/>
                    </a:ext>
                  </a:extLst>
                </a:hlinkClick>
              </a:rPr>
              <a:t>DÉCOUVRIR ↗</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80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080B"/>
          </a:solidFill>
          <a:ln w="12700">
            <a:solidFill>
              <a:srgbClr val="08080B">
                <a:alpha val="0"/>
              </a:srgbClr>
            </a:solidFill>
            <a:prstDash val="solid"/>
          </a:ln>
        </p:spPr>
      </p:sp>
      <p:sp>
        <p:nvSpPr>
          <p:cNvPr id="3" name="Text 1"/>
          <p:cNvSpPr/>
          <p:nvPr/>
        </p:nvSpPr>
        <p:spPr>
          <a:xfrm>
            <a:off x="566928" y="347472"/>
            <a:ext cx="10058400" cy="219456"/>
          </a:xfrm>
          <a:prstGeom prst="rect">
            <a:avLst/>
          </a:prstGeom>
          <a:noFill/>
          <a:ln/>
        </p:spPr>
        <p:txBody>
          <a:bodyPr wrap="square" lIns="0" tIns="0" rIns="0" bIns="0" rtlCol="0" anchor="ctr">
            <a:normAutofit/>
          </a:bodyPr>
          <a:lstStyle/>
          <a:p>
            <a:pPr algn="l" indent="0" marL="0">
              <a:buNone/>
            </a:pPr>
            <a:r>
              <a:rPr lang="en-US" sz="1000" b="1" dirty="0">
                <a:solidFill>
                  <a:srgbClr val="54E1E6"/>
                </a:solidFill>
                <a:latin typeface="Arial" pitchFamily="34" charset="0"/>
                <a:ea typeface="Arial" pitchFamily="34" charset="-122"/>
                <a:cs typeface="Arial" pitchFamily="34" charset="-120"/>
              </a:rPr>
              <a:t>DERRIÈRE KMD WEB</a:t>
            </a:r>
            <a:endParaRPr lang="en-US" sz="1000" dirty="0"/>
          </a:p>
        </p:txBody>
      </p:sp>
      <p:sp>
        <p:nvSpPr>
          <p:cNvPr id="4" name="Text 2"/>
          <p:cNvSpPr/>
          <p:nvPr/>
        </p:nvSpPr>
        <p:spPr>
          <a:xfrm>
            <a:off x="566928" y="786384"/>
            <a:ext cx="11018520" cy="1097280"/>
          </a:xfrm>
          <a:prstGeom prst="rect">
            <a:avLst/>
          </a:prstGeom>
          <a:noFill/>
          <a:ln/>
        </p:spPr>
        <p:txBody>
          <a:bodyPr wrap="square" lIns="0" tIns="0" rIns="0" bIns="0" rtlCol="0" anchor="ctr">
            <a:normAutofit/>
          </a:bodyPr>
          <a:lstStyle/>
          <a:p>
            <a:pPr algn="l" indent="0" marL="0">
              <a:buNone/>
            </a:pPr>
            <a:r>
              <a:rPr lang="en-US" sz="3500" b="1" dirty="0">
                <a:solidFill>
                  <a:srgbClr val="F7F5FA"/>
                </a:solidFill>
                <a:latin typeface="Arial" pitchFamily="34" charset="0"/>
                <a:ea typeface="Arial" pitchFamily="34" charset="-122"/>
                <a:cs typeface="Arial" pitchFamily="34" charset="-120"/>
              </a:rPr>
              <a:t>Un seul contact. De la stratégie au code.</a:t>
            </a:r>
            <a:endParaRPr lang="en-US" sz="3500" dirty="0"/>
          </a:p>
        </p:txBody>
      </p:sp>
      <p:sp>
        <p:nvSpPr>
          <p:cNvPr id="5" name="Shape 3"/>
          <p:cNvSpPr/>
          <p:nvPr/>
        </p:nvSpPr>
        <p:spPr>
          <a:xfrm>
            <a:off x="566928" y="6492240"/>
            <a:ext cx="11018520" cy="10973"/>
          </a:xfrm>
          <a:prstGeom prst="rect">
            <a:avLst/>
          </a:prstGeom>
          <a:solidFill>
            <a:srgbClr val="302A36"/>
          </a:solidFill>
          <a:ln w="12700">
            <a:solidFill>
              <a:srgbClr val="302A36">
                <a:alpha val="0"/>
              </a:srgbClr>
            </a:solidFill>
            <a:prstDash val="solid"/>
          </a:ln>
        </p:spPr>
      </p:sp>
      <p:sp>
        <p:nvSpPr>
          <p:cNvPr id="6" name="Text 4"/>
          <p:cNvSpPr/>
          <p:nvPr/>
        </p:nvSpPr>
        <p:spPr>
          <a:xfrm>
            <a:off x="566928" y="6583680"/>
            <a:ext cx="7315200" cy="164592"/>
          </a:xfrm>
          <a:prstGeom prst="rect">
            <a:avLst/>
          </a:prstGeom>
          <a:noFill/>
          <a:ln/>
        </p:spPr>
        <p:txBody>
          <a:bodyPr wrap="square" lIns="0" tIns="0" rIns="0" bIns="0" rtlCol="0" anchor="ctr">
            <a:normAutofit/>
          </a:bodyPr>
          <a:lstStyle/>
          <a:p>
            <a:pPr algn="l" indent="0" marL="0">
              <a:buNone/>
            </a:pPr>
            <a:r>
              <a:rPr lang="en-US" sz="800" dirty="0">
                <a:solidFill>
                  <a:srgbClr val="898392"/>
                </a:solidFill>
                <a:latin typeface="Arial" pitchFamily="34" charset="0"/>
                <a:ea typeface="Arial" pitchFamily="34" charset="-122"/>
                <a:cs typeface="Arial" pitchFamily="34" charset="-120"/>
              </a:rPr>
              <a:t>KMD WEB  /  SITES · DESIGN · IA</a:t>
            </a:r>
            <a:endParaRPr lang="en-US" sz="800" dirty="0"/>
          </a:p>
        </p:txBody>
      </p:sp>
      <p:sp>
        <p:nvSpPr>
          <p:cNvPr id="7" name="Text 5"/>
          <p:cNvSpPr/>
          <p:nvPr/>
        </p:nvSpPr>
        <p:spPr>
          <a:xfrm>
            <a:off x="10954512" y="6565392"/>
            <a:ext cx="640080" cy="164592"/>
          </a:xfrm>
          <a:prstGeom prst="rect">
            <a:avLst/>
          </a:prstGeom>
          <a:noFill/>
          <a:ln/>
        </p:spPr>
        <p:txBody>
          <a:bodyPr wrap="square" lIns="0" tIns="0" rIns="0" bIns="0" rtlCol="0" anchor="ctr">
            <a:normAutofit/>
          </a:bodyPr>
          <a:lstStyle/>
          <a:p>
            <a:pPr algn="r" indent="0" marL="0">
              <a:buNone/>
            </a:pPr>
            <a:r>
              <a:rPr lang="en-US" sz="900" dirty="0">
                <a:solidFill>
                  <a:srgbClr val="898392"/>
                </a:solidFill>
                <a:latin typeface="Arial" pitchFamily="34" charset="0"/>
                <a:ea typeface="Arial" pitchFamily="34" charset="-122"/>
                <a:cs typeface="Arial" pitchFamily="34" charset="-120"/>
              </a:rPr>
              <a:t>10</a:t>
            </a:r>
            <a:endParaRPr lang="en-US" sz="900" dirty="0"/>
          </a:p>
        </p:txBody>
      </p:sp>
      <p:sp>
        <p:nvSpPr>
          <p:cNvPr id="9" name="Shape 6"/>
          <p:cNvSpPr/>
          <p:nvPr/>
        </p:nvSpPr>
        <p:spPr>
          <a:xfrm>
            <a:off x="7818120" y="1874520"/>
            <a:ext cx="2377440" cy="2377440"/>
          </a:xfrm>
          <a:prstGeom prst="ellipse">
            <a:avLst/>
          </a:prstGeom>
          <a:solidFill>
            <a:srgbClr val="111116"/>
          </a:solidFill>
          <a:ln w="12700">
            <a:solidFill>
              <a:srgbClr val="302A36">
                <a:alpha val="0"/>
              </a:srgbClr>
            </a:solidFill>
            <a:prstDash val="solid"/>
          </a:ln>
        </p:spPr>
      </p:sp>
      <p:sp>
        <p:nvSpPr>
          <p:cNvPr id="10" name="Shape 7"/>
          <p:cNvSpPr/>
          <p:nvPr/>
        </p:nvSpPr>
        <p:spPr>
          <a:xfrm>
            <a:off x="8247888" y="2304288"/>
            <a:ext cx="1508760" cy="1508760"/>
          </a:xfrm>
          <a:prstGeom prst="ellipse">
            <a:avLst/>
          </a:prstGeom>
          <a:solidFill>
            <a:srgbClr val="17171E"/>
          </a:solidFill>
          <a:ln w="12700">
            <a:solidFill>
              <a:srgbClr val="302A36">
                <a:alpha val="0"/>
              </a:srgbClr>
            </a:solidFill>
            <a:prstDash val="solid"/>
          </a:ln>
        </p:spPr>
      </p:sp>
      <p:sp>
        <p:nvSpPr>
          <p:cNvPr id="11" name="Text 8"/>
          <p:cNvSpPr/>
          <p:nvPr/>
        </p:nvSpPr>
        <p:spPr>
          <a:xfrm>
            <a:off x="8375904" y="2862072"/>
            <a:ext cx="1280160" cy="320040"/>
          </a:xfrm>
          <a:prstGeom prst="rect">
            <a:avLst/>
          </a:prstGeom>
          <a:noFill/>
          <a:ln/>
        </p:spPr>
        <p:txBody>
          <a:bodyPr wrap="square" lIns="0" tIns="0" rIns="0" bIns="0" rtlCol="0" anchor="ctr">
            <a:normAutofit/>
          </a:bodyPr>
          <a:lstStyle/>
          <a:p>
            <a:pPr algn="ctr" indent="0" marL="0">
              <a:buNone/>
            </a:pPr>
            <a:r>
              <a:rPr lang="en-US" sz="1800" b="1" dirty="0">
                <a:solidFill>
                  <a:srgbClr val="FB1D91"/>
                </a:solidFill>
                <a:latin typeface="Arial" pitchFamily="34" charset="0"/>
                <a:ea typeface="Arial" pitchFamily="34" charset="-122"/>
                <a:cs typeface="Arial" pitchFamily="34" charset="-120"/>
              </a:rPr>
              <a:t>KMD</a:t>
            </a:r>
            <a:endParaRPr lang="en-US" sz="1800" dirty="0"/>
          </a:p>
        </p:txBody>
      </p:sp>
      <p:sp>
        <p:nvSpPr>
          <p:cNvPr id="12" name="Text 9"/>
          <p:cNvSpPr/>
          <p:nvPr/>
        </p:nvSpPr>
        <p:spPr>
          <a:xfrm>
            <a:off x="566928" y="2057400"/>
            <a:ext cx="6583680" cy="1097280"/>
          </a:xfrm>
          <a:prstGeom prst="rect">
            <a:avLst/>
          </a:prstGeom>
          <a:noFill/>
          <a:ln/>
        </p:spPr>
        <p:txBody>
          <a:bodyPr wrap="square" lIns="0" tIns="0" rIns="0" bIns="0" rtlCol="0" anchor="ctr">
            <a:normAutofit/>
          </a:bodyPr>
          <a:lstStyle/>
          <a:p>
            <a:pPr algn="l" indent="0" marL="0">
              <a:buNone/>
            </a:pPr>
            <a:r>
              <a:rPr lang="en-US" sz="1900" dirty="0">
                <a:solidFill>
                  <a:srgbClr val="B6B1BF"/>
                </a:solidFill>
                <a:latin typeface="Arial" pitchFamily="34" charset="0"/>
                <a:ea typeface="Arial" pitchFamily="34" charset="-122"/>
                <a:cs typeface="Arial" pitchFamily="34" charset="-120"/>
              </a:rPr>
              <a:t>Mélanie Desrochers, fondatrice de KMD Web. Plus de huit ans à transformer des idées en sites, applications et systèmes numériques concrets.</a:t>
            </a:r>
            <a:endParaRPr lang="en-US" sz="1900" dirty="0"/>
          </a:p>
        </p:txBody>
      </p:sp>
      <p:sp>
        <p:nvSpPr>
          <p:cNvPr id="13" name="Shape 10"/>
          <p:cNvSpPr/>
          <p:nvPr/>
        </p:nvSpPr>
        <p:spPr>
          <a:xfrm>
            <a:off x="566928" y="3822192"/>
            <a:ext cx="109728" cy="109728"/>
          </a:xfrm>
          <a:prstGeom prst="ellipse">
            <a:avLst/>
          </a:prstGeom>
          <a:solidFill>
            <a:srgbClr val="FB1D91"/>
          </a:solidFill>
          <a:ln w="12700">
            <a:solidFill>
              <a:srgbClr val="FB1D91">
                <a:alpha val="0"/>
              </a:srgbClr>
            </a:solidFill>
            <a:prstDash val="solid"/>
          </a:ln>
        </p:spPr>
      </p:sp>
      <p:sp>
        <p:nvSpPr>
          <p:cNvPr id="14" name="Text 11"/>
          <p:cNvSpPr/>
          <p:nvPr/>
        </p:nvSpPr>
        <p:spPr>
          <a:xfrm>
            <a:off x="822960" y="3749040"/>
            <a:ext cx="6309360" cy="256032"/>
          </a:xfrm>
          <a:prstGeom prst="rect">
            <a:avLst/>
          </a:prstGeom>
          <a:noFill/>
          <a:ln/>
        </p:spPr>
        <p:txBody>
          <a:bodyPr wrap="square" lIns="0" tIns="0" rIns="0" bIns="0" rtlCol="0" anchor="ctr">
            <a:normAutofit/>
          </a:bodyPr>
          <a:lstStyle/>
          <a:p>
            <a:pPr algn="l" indent="0" marL="0">
              <a:buNone/>
            </a:pPr>
            <a:r>
              <a:rPr lang="en-US" sz="1400" dirty="0">
                <a:solidFill>
                  <a:srgbClr val="F7F5FA"/>
                </a:solidFill>
                <a:latin typeface="Arial" pitchFamily="34" charset="0"/>
                <a:ea typeface="Arial" pitchFamily="34" charset="-122"/>
                <a:cs typeface="Arial" pitchFamily="34" charset="-120"/>
              </a:rPr>
              <a:t>Une approche directe et sans jargon inutile</a:t>
            </a:r>
            <a:endParaRPr lang="en-US" sz="1400" dirty="0"/>
          </a:p>
        </p:txBody>
      </p:sp>
      <p:sp>
        <p:nvSpPr>
          <p:cNvPr id="15" name="Shape 12"/>
          <p:cNvSpPr/>
          <p:nvPr/>
        </p:nvSpPr>
        <p:spPr>
          <a:xfrm>
            <a:off x="566928" y="4325112"/>
            <a:ext cx="109728" cy="109728"/>
          </a:xfrm>
          <a:prstGeom prst="ellipse">
            <a:avLst/>
          </a:prstGeom>
          <a:solidFill>
            <a:srgbClr val="54E1E6"/>
          </a:solidFill>
          <a:ln w="12700">
            <a:solidFill>
              <a:srgbClr val="54E1E6">
                <a:alpha val="0"/>
              </a:srgbClr>
            </a:solidFill>
            <a:prstDash val="solid"/>
          </a:ln>
        </p:spPr>
      </p:sp>
      <p:sp>
        <p:nvSpPr>
          <p:cNvPr id="16" name="Text 13"/>
          <p:cNvSpPr/>
          <p:nvPr/>
        </p:nvSpPr>
        <p:spPr>
          <a:xfrm>
            <a:off x="822960" y="4251960"/>
            <a:ext cx="6309360" cy="256032"/>
          </a:xfrm>
          <a:prstGeom prst="rect">
            <a:avLst/>
          </a:prstGeom>
          <a:noFill/>
          <a:ln/>
        </p:spPr>
        <p:txBody>
          <a:bodyPr wrap="square" lIns="0" tIns="0" rIns="0" bIns="0" rtlCol="0" anchor="ctr">
            <a:normAutofit/>
          </a:bodyPr>
          <a:lstStyle/>
          <a:p>
            <a:pPr algn="l" indent="0" marL="0">
              <a:buNone/>
            </a:pPr>
            <a:r>
              <a:rPr lang="en-US" sz="1400" dirty="0">
                <a:solidFill>
                  <a:srgbClr val="F7F5FA"/>
                </a:solidFill>
                <a:latin typeface="Arial" pitchFamily="34" charset="0"/>
                <a:ea typeface="Arial" pitchFamily="34" charset="-122"/>
                <a:cs typeface="Arial" pitchFamily="34" charset="-120"/>
              </a:rPr>
              <a:t>Des solutions bâties autour de vos vrais besoins</a:t>
            </a:r>
            <a:endParaRPr lang="en-US" sz="1400" dirty="0"/>
          </a:p>
        </p:txBody>
      </p:sp>
      <p:sp>
        <p:nvSpPr>
          <p:cNvPr id="17" name="Shape 14"/>
          <p:cNvSpPr/>
          <p:nvPr/>
        </p:nvSpPr>
        <p:spPr>
          <a:xfrm>
            <a:off x="566928" y="4828032"/>
            <a:ext cx="109728" cy="109728"/>
          </a:xfrm>
          <a:prstGeom prst="ellipse">
            <a:avLst/>
          </a:prstGeom>
          <a:solidFill>
            <a:srgbClr val="FB1D91"/>
          </a:solidFill>
          <a:ln w="12700">
            <a:solidFill>
              <a:srgbClr val="FB1D91">
                <a:alpha val="0"/>
              </a:srgbClr>
            </a:solidFill>
            <a:prstDash val="solid"/>
          </a:ln>
        </p:spPr>
      </p:sp>
      <p:sp>
        <p:nvSpPr>
          <p:cNvPr id="18" name="Text 15"/>
          <p:cNvSpPr/>
          <p:nvPr/>
        </p:nvSpPr>
        <p:spPr>
          <a:xfrm>
            <a:off x="822960" y="4754880"/>
            <a:ext cx="6309360" cy="256032"/>
          </a:xfrm>
          <a:prstGeom prst="rect">
            <a:avLst/>
          </a:prstGeom>
          <a:noFill/>
          <a:ln/>
        </p:spPr>
        <p:txBody>
          <a:bodyPr wrap="square" lIns="0" tIns="0" rIns="0" bIns="0" rtlCol="0" anchor="ctr">
            <a:normAutofit/>
          </a:bodyPr>
          <a:lstStyle/>
          <a:p>
            <a:pPr algn="l" indent="0" marL="0">
              <a:buNone/>
            </a:pPr>
            <a:r>
              <a:rPr lang="en-US" sz="1400" dirty="0">
                <a:solidFill>
                  <a:srgbClr val="F7F5FA"/>
                </a:solidFill>
                <a:latin typeface="Arial" pitchFamily="34" charset="0"/>
                <a:ea typeface="Arial" pitchFamily="34" charset="-122"/>
                <a:cs typeface="Arial" pitchFamily="34" charset="-120"/>
              </a:rPr>
              <a:t>Une interlocutrice du diagnostic au lancement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80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080B"/>
          </a:solidFill>
          <a:ln w="12700">
            <a:solidFill>
              <a:srgbClr val="08080B">
                <a:alpha val="0"/>
              </a:srgbClr>
            </a:solidFill>
            <a:prstDash val="solid"/>
          </a:ln>
        </p:spPr>
      </p:sp>
      <p:sp>
        <p:nvSpPr>
          <p:cNvPr id="3" name="Text 1"/>
          <p:cNvSpPr/>
          <p:nvPr/>
        </p:nvSpPr>
        <p:spPr>
          <a:xfrm>
            <a:off x="566928" y="347472"/>
            <a:ext cx="10058400" cy="219456"/>
          </a:xfrm>
          <a:prstGeom prst="rect">
            <a:avLst/>
          </a:prstGeom>
          <a:noFill/>
          <a:ln/>
        </p:spPr>
        <p:txBody>
          <a:bodyPr wrap="square" lIns="0" tIns="0" rIns="0" bIns="0" rtlCol="0" anchor="ctr">
            <a:normAutofit/>
          </a:bodyPr>
          <a:lstStyle/>
          <a:p>
            <a:pPr algn="l" indent="0" marL="0">
              <a:buNone/>
            </a:pPr>
            <a:r>
              <a:rPr lang="en-US" sz="1000" b="1" dirty="0">
                <a:solidFill>
                  <a:srgbClr val="54E1E6"/>
                </a:solidFill>
                <a:latin typeface="Arial" pitchFamily="34" charset="0"/>
                <a:ea typeface="Arial" pitchFamily="34" charset="-122"/>
                <a:cs typeface="Arial" pitchFamily="34" charset="-120"/>
              </a:rPr>
              <a:t>VOTRE PROCHAIN PROJET</a:t>
            </a:r>
            <a:endParaRPr lang="en-US" sz="1000" dirty="0"/>
          </a:p>
        </p:txBody>
      </p:sp>
      <p:sp>
        <p:nvSpPr>
          <p:cNvPr id="4" name="Text 2"/>
          <p:cNvSpPr/>
          <p:nvPr/>
        </p:nvSpPr>
        <p:spPr>
          <a:xfrm>
            <a:off x="566928" y="786384"/>
            <a:ext cx="11018520" cy="1097280"/>
          </a:xfrm>
          <a:prstGeom prst="rect">
            <a:avLst/>
          </a:prstGeom>
          <a:noFill/>
          <a:ln/>
        </p:spPr>
        <p:txBody>
          <a:bodyPr wrap="square" lIns="0" tIns="0" rIns="0" bIns="0" rtlCol="0" anchor="ctr">
            <a:normAutofit/>
          </a:bodyPr>
          <a:lstStyle/>
          <a:p>
            <a:pPr algn="l" indent="0" marL="0">
              <a:buNone/>
            </a:pPr>
            <a:r>
              <a:rPr lang="en-US" sz="3500" b="1" dirty="0">
                <a:solidFill>
                  <a:srgbClr val="F7F5FA"/>
                </a:solidFill>
                <a:latin typeface="Arial" pitchFamily="34" charset="0"/>
                <a:ea typeface="Arial" pitchFamily="34" charset="-122"/>
                <a:cs typeface="Arial" pitchFamily="34" charset="-120"/>
              </a:rPr>
              <a:t>Faisons de votre idée une expérience en ligne.</a:t>
            </a:r>
            <a:endParaRPr lang="en-US" sz="3500" dirty="0"/>
          </a:p>
        </p:txBody>
      </p:sp>
      <p:sp>
        <p:nvSpPr>
          <p:cNvPr id="5" name="Shape 3"/>
          <p:cNvSpPr/>
          <p:nvPr/>
        </p:nvSpPr>
        <p:spPr>
          <a:xfrm>
            <a:off x="566928" y="6492240"/>
            <a:ext cx="11018520" cy="10973"/>
          </a:xfrm>
          <a:prstGeom prst="rect">
            <a:avLst/>
          </a:prstGeom>
          <a:solidFill>
            <a:srgbClr val="302A36"/>
          </a:solidFill>
          <a:ln w="12700">
            <a:solidFill>
              <a:srgbClr val="302A36">
                <a:alpha val="0"/>
              </a:srgbClr>
            </a:solidFill>
            <a:prstDash val="solid"/>
          </a:ln>
        </p:spPr>
      </p:sp>
      <p:sp>
        <p:nvSpPr>
          <p:cNvPr id="6" name="Text 4"/>
          <p:cNvSpPr/>
          <p:nvPr/>
        </p:nvSpPr>
        <p:spPr>
          <a:xfrm>
            <a:off x="566928" y="6583680"/>
            <a:ext cx="7315200" cy="164592"/>
          </a:xfrm>
          <a:prstGeom prst="rect">
            <a:avLst/>
          </a:prstGeom>
          <a:noFill/>
          <a:ln/>
        </p:spPr>
        <p:txBody>
          <a:bodyPr wrap="square" lIns="0" tIns="0" rIns="0" bIns="0" rtlCol="0" anchor="ctr">
            <a:normAutofit/>
          </a:bodyPr>
          <a:lstStyle/>
          <a:p>
            <a:pPr algn="l" indent="0" marL="0">
              <a:buNone/>
            </a:pPr>
            <a:r>
              <a:rPr lang="en-US" sz="800" dirty="0">
                <a:solidFill>
                  <a:srgbClr val="898392"/>
                </a:solidFill>
                <a:latin typeface="Arial" pitchFamily="34" charset="0"/>
                <a:ea typeface="Arial" pitchFamily="34" charset="-122"/>
                <a:cs typeface="Arial" pitchFamily="34" charset="-120"/>
              </a:rPr>
              <a:t>KMD WEB  /  SITES · DESIGN · IA</a:t>
            </a:r>
            <a:endParaRPr lang="en-US" sz="800" dirty="0"/>
          </a:p>
        </p:txBody>
      </p:sp>
      <p:sp>
        <p:nvSpPr>
          <p:cNvPr id="7" name="Text 5"/>
          <p:cNvSpPr/>
          <p:nvPr/>
        </p:nvSpPr>
        <p:spPr>
          <a:xfrm>
            <a:off x="10954512" y="6565392"/>
            <a:ext cx="640080" cy="164592"/>
          </a:xfrm>
          <a:prstGeom prst="rect">
            <a:avLst/>
          </a:prstGeom>
          <a:noFill/>
          <a:ln/>
        </p:spPr>
        <p:txBody>
          <a:bodyPr wrap="square" lIns="0" tIns="0" rIns="0" bIns="0" rtlCol="0" anchor="ctr">
            <a:normAutofit/>
          </a:bodyPr>
          <a:lstStyle/>
          <a:p>
            <a:pPr algn="r" indent="0" marL="0">
              <a:buNone/>
            </a:pPr>
            <a:r>
              <a:rPr lang="en-US" sz="900" dirty="0">
                <a:solidFill>
                  <a:srgbClr val="898392"/>
                </a:solidFill>
                <a:latin typeface="Arial" pitchFamily="34" charset="0"/>
                <a:ea typeface="Arial" pitchFamily="34" charset="-122"/>
                <a:cs typeface="Arial" pitchFamily="34" charset="-120"/>
              </a:rPr>
              <a:t>11</a:t>
            </a:r>
            <a:endParaRPr lang="en-US" sz="900" dirty="0"/>
          </a:p>
        </p:txBody>
      </p:sp>
      <p:sp>
        <p:nvSpPr>
          <p:cNvPr id="9" name="Text 6"/>
          <p:cNvSpPr/>
          <p:nvPr/>
        </p:nvSpPr>
        <p:spPr>
          <a:xfrm>
            <a:off x="566928" y="2103120"/>
            <a:ext cx="8046720" cy="822960"/>
          </a:xfrm>
          <a:prstGeom prst="rect">
            <a:avLst/>
          </a:prstGeom>
          <a:noFill/>
          <a:ln/>
        </p:spPr>
        <p:txBody>
          <a:bodyPr wrap="square" lIns="0" tIns="0" rIns="0" bIns="0" rtlCol="0" anchor="ctr">
            <a:normAutofit/>
          </a:bodyPr>
          <a:lstStyle/>
          <a:p>
            <a:pPr algn="l" indent="0" marL="0">
              <a:buNone/>
            </a:pPr>
            <a:r>
              <a:rPr lang="en-US" sz="2000" dirty="0">
                <a:solidFill>
                  <a:srgbClr val="B6B1BF"/>
                </a:solidFill>
                <a:latin typeface="Arial" pitchFamily="34" charset="0"/>
                <a:ea typeface="Arial" pitchFamily="34" charset="-122"/>
                <a:cs typeface="Arial" pitchFamily="34" charset="-120"/>
              </a:rPr>
              <a:t>Choisissons ensemble le bon point de départ : une landing page, un site complet ou une automatisation utile.</a:t>
            </a:r>
            <a:endParaRPr lang="en-US" sz="2000" dirty="0"/>
          </a:p>
        </p:txBody>
      </p:sp>
      <p:sp>
        <p:nvSpPr>
          <p:cNvPr id="10" name="Shape 7"/>
          <p:cNvSpPr/>
          <p:nvPr/>
        </p:nvSpPr>
        <p:spPr>
          <a:xfrm>
            <a:off x="566928" y="3703320"/>
            <a:ext cx="3291840" cy="685800"/>
          </a:xfrm>
          <a:prstGeom prst="roundRect">
            <a:avLst>
              <a:gd name="adj" fmla="val 16000"/>
            </a:avLst>
          </a:prstGeom>
          <a:solidFill>
            <a:srgbClr val="FB1D91"/>
          </a:solidFill>
          <a:ln w="12700">
            <a:solidFill>
              <a:srgbClr val="FB1D91">
                <a:alpha val="0"/>
              </a:srgbClr>
            </a:solidFill>
            <a:prstDash val="solid"/>
          </a:ln>
        </p:spPr>
      </p:sp>
      <p:sp>
        <p:nvSpPr>
          <p:cNvPr id="11" name="Text 8">
            <a:hlinkClick r:id="rId1" tooltip=""/>
          </p:cNvPr>
          <p:cNvSpPr/>
          <p:nvPr/>
        </p:nvSpPr>
        <p:spPr>
          <a:xfrm>
            <a:off x="758952" y="3913632"/>
            <a:ext cx="2880360" cy="228600"/>
          </a:xfrm>
          <a:prstGeom prst="rect">
            <a:avLst/>
          </a:prstGeom>
          <a:noFill/>
          <a:ln/>
        </p:spPr>
        <p:txBody>
          <a:bodyPr wrap="square" lIns="0" tIns="0" rIns="0" bIns="0" rtlCol="0" anchor="ctr">
            <a:normAutofit/>
          </a:bodyPr>
          <a:lstStyle/>
          <a:p>
            <a:pPr algn="ctr" indent="0" marL="0">
              <a:buNone/>
            </a:pPr>
            <a:r>
              <a:rPr lang="en-US" sz="1200" b="1" u="sng" dirty="0">
                <a:solidFill>
                  <a:srgbClr val="F7F5FA"/>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RÉSERVER UN DIAGNOSTIC</a:t>
            </a:r>
            <a:endParaRPr lang="en-US" sz="1200" dirty="0"/>
          </a:p>
        </p:txBody>
      </p:sp>
      <p:sp>
        <p:nvSpPr>
          <p:cNvPr id="12" name="Shape 9"/>
          <p:cNvSpPr/>
          <p:nvPr/>
        </p:nvSpPr>
        <p:spPr>
          <a:xfrm>
            <a:off x="8458200" y="2148840"/>
            <a:ext cx="2011680" cy="2011680"/>
          </a:xfrm>
          <a:prstGeom prst="ellipse">
            <a:avLst/>
          </a:prstGeom>
          <a:solidFill>
            <a:srgbClr val="111116"/>
          </a:solidFill>
          <a:ln w="12700">
            <a:solidFill>
              <a:srgbClr val="302A36">
                <a:alpha val="0"/>
              </a:srgbClr>
            </a:solidFill>
            <a:prstDash val="solid"/>
          </a:ln>
        </p:spPr>
      </p:sp>
      <p:sp>
        <p:nvSpPr>
          <p:cNvPr id="13" name="Shape 10"/>
          <p:cNvSpPr/>
          <p:nvPr/>
        </p:nvSpPr>
        <p:spPr>
          <a:xfrm>
            <a:off x="8924544" y="2615184"/>
            <a:ext cx="1078992" cy="1078992"/>
          </a:xfrm>
          <a:prstGeom prst="ellipse">
            <a:avLst/>
          </a:prstGeom>
          <a:solidFill>
            <a:srgbClr val="FB1D91"/>
          </a:solidFill>
          <a:ln w="12700">
            <a:solidFill>
              <a:srgbClr val="FB1D91">
                <a:alpha val="0"/>
              </a:srgbClr>
            </a:solidFill>
            <a:prstDash val="solid"/>
          </a:ln>
        </p:spPr>
      </p:sp>
      <p:sp>
        <p:nvSpPr>
          <p:cNvPr id="14" name="Text 11"/>
          <p:cNvSpPr/>
          <p:nvPr/>
        </p:nvSpPr>
        <p:spPr>
          <a:xfrm>
            <a:off x="9189720" y="2907792"/>
            <a:ext cx="548640" cy="320040"/>
          </a:xfrm>
          <a:prstGeom prst="rect">
            <a:avLst/>
          </a:prstGeom>
          <a:noFill/>
          <a:ln/>
        </p:spPr>
        <p:txBody>
          <a:bodyPr wrap="square" lIns="0" tIns="0" rIns="0" bIns="0" rtlCol="0" anchor="ctr">
            <a:normAutofit/>
          </a:bodyPr>
          <a:lstStyle/>
          <a:p>
            <a:pPr algn="ctr" indent="0" marL="0">
              <a:buNone/>
            </a:pPr>
            <a:r>
              <a:rPr lang="en-US" sz="2000" b="1" dirty="0">
                <a:solidFill>
                  <a:srgbClr val="F7F5FA"/>
                </a:solidFill>
                <a:latin typeface="Arial" pitchFamily="34" charset="0"/>
                <a:ea typeface="Arial" pitchFamily="34" charset="-122"/>
                <a:cs typeface="Arial" pitchFamily="34" charset="-120"/>
              </a:rPr>
              <a:t>K</a:t>
            </a:r>
            <a:endParaRPr lang="en-US" sz="2000" dirty="0"/>
          </a:p>
        </p:txBody>
      </p:sp>
      <p:sp>
        <p:nvSpPr>
          <p:cNvPr id="15" name="Text 12"/>
          <p:cNvSpPr/>
          <p:nvPr/>
        </p:nvSpPr>
        <p:spPr>
          <a:xfrm>
            <a:off x="566928" y="5047488"/>
            <a:ext cx="8686800" cy="292608"/>
          </a:xfrm>
          <a:prstGeom prst="rect">
            <a:avLst/>
          </a:prstGeom>
          <a:noFill/>
          <a:ln/>
        </p:spPr>
        <p:txBody>
          <a:bodyPr wrap="square" lIns="0" tIns="0" rIns="0" bIns="0" rtlCol="0" anchor="ctr">
            <a:normAutofit/>
          </a:bodyPr>
          <a:lstStyle/>
          <a:p>
            <a:pPr algn="l" indent="0" marL="0">
              <a:buNone/>
            </a:pPr>
            <a:r>
              <a:rPr lang="en-US" sz="1000" dirty="0">
                <a:solidFill>
                  <a:srgbClr val="8F8A98"/>
                </a:solidFill>
                <a:latin typeface="Arial" pitchFamily="34" charset="0"/>
                <a:ea typeface="Arial" pitchFamily="34" charset="-122"/>
                <a:cs typeface="Arial" pitchFamily="34" charset="-120"/>
              </a:rPr>
              <a:t>Prix de départ en dollars canadiens. Le devis confirme portée, frais applicables et taxes.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KMD Web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Sites Web, design sur mesure et automatisation IA | KMD Web</dc:title>
  <dc:subject>Présentation des services KMD Web</dc:subject>
  <dc:creator>KMD Web</dc:creator>
  <cp:lastModifiedBy>KMD Web</cp:lastModifiedBy>
  <cp:revision>1</cp:revision>
  <dcterms:created xsi:type="dcterms:W3CDTF">2026-09-24T21:36:18Z</dcterms:created>
  <dcterms:modified xsi:type="dcterms:W3CDTF">2026-09-24T21:36:18Z</dcterms:modified>
</cp:coreProperties>
</file>